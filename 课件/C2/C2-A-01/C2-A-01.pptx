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第1节 伪代码约定与复杂度分析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本课段的定位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 代码题的知识地基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6858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分值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与本阶段的关系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3题 30分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写得出结构定义、基本操作与算法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约20分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看得懂代码，会挖空补全与片段排序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填空题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约30分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部分空要跟着代码过程手算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综合应用题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约70分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理解算法过程依赖代码思维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3970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本阶段目标（9节 · 约6小时）：学完能在白纸上默写九个结构单元的全部类型定义与基本操作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5252466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基础阶段只讲定义与基本操作；每个结构的经典算法放到强化阶段展开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本课段目录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数据结构基础阶段目录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675120"/>
                <a:gridCol w="20116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第1节（本节）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六条伪代码约定 ＋ 复杂度分析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第2—4节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线性表：顺序表、单链表、双链表、循环链表、静态链表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各40min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第5节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栈与队列：顺序栈、循环队列、判满三策略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第6节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串、数组与广义表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第7—8节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树与二叉树：存储与遍历、线索树、树与森林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45＋40min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第9节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图：存储与遍历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45min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568696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每节立一个默写单元；学完本阶段进入数据结构强化阶段，讲经典算法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选课建议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按自己的情况选择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0292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你的情况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没学过数据结构，或跨考过来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从第1节开始完整学习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学过数据结构，定义与基本操作已生疏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按目录选听生疏的节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能默写各结构的定义与基本操作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跳过本阶段，直接进入强化阶段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本阶段默认你已经会用指针、结构体、动态内存和引用传参；这些在C语言强化阶段讲过，没学的先补那段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学习要求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四条学习要求与默写标准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：视频里写一行定义，你就跟着写一行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手撕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：课后合上资料，凭记忆把类型定义与基本操作写出来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默写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：每节一个默写单元，考场上直接默出模板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课后题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：每节1道跟练题＋1道模仿题，参考答案在PPT末尾两页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每节课后任务页会写清默写要求，措辞是“合上资料能写出……”；写不出来就回看该节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正课开始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全局约定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六条伪代码约定：各自解决什么问题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6751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约定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它解决什么问题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两套下标基准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线性表与查找从0起、排序从1起，避免自相矛盾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链表默认带头结点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让第一个结点的插删与其他位置统一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top=-1、循环队列牺牲一单元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定死栈与队列的判空判满式子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栈队元素类型按需替换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工具栈里可以放结点指针或顶点编号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={0}是简写、{INF}必须写循环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避免只初始化第一个元素的错误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参数用引用 &amp;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让函数改得动调用处的数据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5568696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这六条出自代码总结开篇，后面每一节的代码都依赖它们，尤其依赖第1条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约定1 · 两套下标基准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同一份数据，两种存放（拿纸跟着画）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① 左边画 data[0] 到 data[4]，依次存 10、20、30、40、50，这是线性表与查找章节的存法，下标从 0 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3095244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② 右边画 data[0] 空着当哨兵，data[1] 到 data[5] 存同样这五个数，这是排序章节的存法，下标从 1 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794760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③ 线性表这套：第 i 个元素是 data[i-1]；排序那套：第 i 个元素就是 data[i]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4208526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④ 排序为什么从 1 起：堆排序要求 2i 是左孩子，从 0 起这个关系就变成 2i+1，教材统一从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99948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答题开头写一句“本题下标从 0 起”或“从 1 起”，阅卷不挑刺；同一道题里前后矛盾才扣分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约定2—4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带头结点、top=-1与牺牲一单元、元素类型按需替换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约定2 链表默认带头结点：L 指向头结点，L-&gt;next 才是第一个数据结点；头结点让空表与非空表、第一个位置与其他位置用同一套式子（它的价值在第3节展开）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约定3 顺序栈 top 初值 -1，入栈写 S.data[++S.top]；循环队列牺牲一个单元判满，条件是 (rear+1)%MaxSize == front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约定4 栈与队列当工具用时元素类型按需替换：材料里写成 int，树和图的算法里放的是结点指针或顶点编号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考场上直接写 SqStack S; Push(S, p); 不必重新定义，但答题要说明一句“栈中存放结点指针”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约定5—6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数组初始化的简写与陷阱、引用 &amp; 的含义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a[n] = {0};              // 伪代码简写：整个数组清零（802允许）
int dist[n] = {INF};         // 错！只有 dist[0]=INF，其余全是0
for(int i = 0; i &lt; n; i++)   // 赋非0初值必须写循环
    dist[i] = INF;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约定5：={0}是清零简写；但 {INF} 只初始化第一个元素，赋非0初值必须写循环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9194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约定6：参数写引用 &amp; 表示传入传出，等价于C的二级指针，让函数改得动外面的数据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48182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 &amp; 在C语言强化阶段讲过，这里只说清它的作用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复杂度分析 · 时间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时间复杂度怎么数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0; i &lt; n; i++)
    for(int j = i; j &lt; n; j++)
        x++;                 // 基本操作，数它的执行次数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数基本操作的执行次数，只保留最高阶，去掉系数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内层依赖外层时先求和：i 固定内层跑 n-i 次，总和 n+(n-1)+…+1 = n(n+1)/2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152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n(n+1)/2 去掉系数与低阶项，就是 O(n²)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7150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三层循环不一定是 O(n³)：若最内层只执行常数次，总体可能仍是 O(n)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复杂度分析 · 递归式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递归式怎么展开：逐层累加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以 T(n) = 2T(n/2) + O(n) 为例，一层一层把代价加起来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112" y="29397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第0层：1个问题，规模 n，代价 O(n)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4107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第1层：2个问题，规模各 n/2，代价合计还是 O(n)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816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每往下一层，问题数翻倍、规模减半，每层代价都是 O(n)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52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规模减半到1，共 logn 层；每层 O(n)，合计 O(nlogn)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9149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这个展开方式，强化阶段讲归并排序与快速排序时各用一次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复杂度分析 · 空间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空间复杂度：算额外开的辅助空间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空间复杂度数的是额外开的辅助空间：辅助数组的大小，加递归栈的最大深度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原地算法的 O(1)：只用了固定几个变量，不随 n 增长，不是指一点都不占内存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递归的空间不是 O(1)：即使没开数组，栈深度也要算，树的递归遍历是 O(树高)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单支树退化成一条链，递归遍历的空间最坏是 O(n)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答题时时间与空间都要给，各配一句理由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答题格式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答题三件套：思想、代码、复杂度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352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352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① 思想：把头结点后每个结点摘下，用头插法接回，走一遍即逆置
void Reverse(LinkList &amp;L){              // ② 代码
    LNode *p = L-&gt;next, *r;
    L-&gt;next = NULL;
    while(p != NULL){
        r = p-&gt;next;                  // 先存后继
        p-&gt;next = L-&gt;next;  L-&gt;next = p;   // 头插到 L 之后
        p = r;
    }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复杂度：时间 O(n)，空间 O(1) 只用两个指针；单链表下一节正式讲，这里只看三件套格式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六条约定：两套下标基准、带头结点、top=-1与牺牲一单元、元素类型按需替换、={0}简写而{INF}要循环、引用 &amp;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这六条在后面每节课的代码里都会出现，尤其是第1条两套下标基准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复杂度答题：一句结论加一句理由，时间与空间都要给，只写结论不给理由会扣分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递归的空间要算栈深度，不是 O(1)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：把六条约定各写一句话解释它解决什么问题；再给约定5写一个错误示例与正确写法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：算下面三段程序的时间复杂度，每段写一句理由（题集绪论章）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429000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3538728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for(i=0;i&lt;n;i++) for(j=i;j&lt;n;j++) x++;    // (1)
int i=0,x=1; while(x&lt;n){ x*=2; i++; }      // (2)
void f(int n){ if(n&lt;=1) return;            // (3)
    for(i=1;i&lt;=3;i++) f(n/3); }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13892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默写要求：合上资料能说清六条约定的作用，能按三件套格式作答；参考答案在本PPT最后两页，课后自行对照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约定1 两套下标基准：固定线性表与排序各自的下标写法，同题不混用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约定2 带头结点：第一个结点的插删与其他位置统一，空表判定也统一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约定3 top=-1与牺牲一单元：把栈与循环队列的判空判满式子定死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约定4 元素类型按需替换：工具栈队里可放结点指针或顶点编号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约定5 错误 int a[n]={INF} 只初始化 a[0]；正确写法 for 循环逐个赋 INF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9320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约定6 引用 &amp;：让函数改得动调用处的变量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(1) 嵌套循环，内层 j 从 i 到 n-1 共 n-i 次；总和 n+(n-1)+…+1 = n(n+1)/2，即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O(n²)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(2) x 从1每次翻倍，到 x≥n 停，循环次数是 logn 级，即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O(logn)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(3) T(n)=3T(n/3)+O(1)；每层问题数乘3、规模除以3，共 logn 层，末层 n 个，即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O(n)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三段分别练嵌套循环求和、循环变量翻倍、递归式展开；理由都要写，只给结论会扣分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伪代码约定与复杂度分析</dc:title>
  <dc:subject>PptxGenJS Presentation</dc:subject>
  <dc:creator>牙膏学长</dc:creator>
  <cp:lastModifiedBy>牙膏学长</cp:lastModifiedBy>
  <cp:revision>1</cp:revision>
  <dcterms:created xsi:type="dcterms:W3CDTF">2026-09-07T10:25:46Z</dcterms:created>
  <dcterms:modified xsi:type="dcterms:W3CDTF">2026-09-07T10:25:46Z</dcterms:modified>
</cp:coreProperties>
</file>