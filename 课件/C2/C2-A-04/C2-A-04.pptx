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重邮802 数据结构代码课程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数据结构基础阶段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第4节 双链表、循环链表与静态链表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阶段：基础 ｜ 主讲：牙膏学长 ｜ 预计40分钟 ｜ 资料答疑：伴梦研途QQ群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引题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单链表有两个不方便，这一节来补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不方便一：单链表只能顺着 next 往前走，不能回头，想找某个结点的前驱，只能从头走一遍，O(i)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不方便二：要在结点 p 前面插入，必须先从头走到 p 的前驱，很费事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680460"/>
            <a:ext cx="10454335" cy="7406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补的办法有</a:t>
            </a:r>
            <a:r>
              <a:rPr lang="zh-CN" altLang="en-US" sz="1800" dirty="0">
                <a:solidFill>
                  <a:srgbClr val="000000"/>
                </a:solidFill>
              </a:rPr>
              <a:t>两</a:t>
            </a:r>
            <a:r>
              <a:rPr lang="en-US" sz="1800" dirty="0">
                <a:solidFill>
                  <a:srgbClr val="000000"/>
                </a:solidFill>
              </a:rPr>
              <a:t>种：多一根指向前驱的指针（双链表）</a:t>
            </a:r>
            <a:r>
              <a:rPr lang="zh-CN" altLang="en-US" sz="1800" dirty="0">
                <a:solidFill>
                  <a:srgbClr val="000000"/>
                </a:solidFill>
              </a:rPr>
              <a:t>以及</a:t>
            </a:r>
            <a:r>
              <a:rPr lang="en-US" sz="1800" dirty="0">
                <a:solidFill>
                  <a:srgbClr val="000000"/>
                </a:solidFill>
              </a:rPr>
              <a:t>让尾巴接回头（循环链表）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585716"/>
            <a:ext cx="10545775" cy="35890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这一节讲三种单链表的变体，重点在双链表的指针次序，它是 2020 年真题考过的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双链表 · 定义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双链表：每个结点多一根 prior 指针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508760"/>
          </a:xfrm>
          <a:prstGeom prst="rect">
            <a:avLst/>
          </a:prstGeom>
          <a:solidFill>
            <a:srgbClr val="F7F9FC"/>
          </a:solidFill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508760"/>
          </a:xfrm>
          <a:prstGeom prst="rect">
            <a:avLst/>
          </a:prstGeom>
          <a:solidFill>
            <a:srgbClr val="1F4E9C"/>
          </a:solidFill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28930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typedef struct DNode{
    int data;
    struct DNode *prior, *next;   // prior 指前驱，next 指后继
}DNode, *DLinkList;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410565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比单链表多了一个 prior，指向前一个结点；这样从任一结点既能往后走也能往前走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576572"/>
            <a:ext cx="10454335" cy="7406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有了 prior，在 p 前面插入、找 p 的前驱，都不用再从头走，直接 p-&gt;prior 就拿到了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539038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代价是每个结点多存一根指针，空间换时间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双链表 · 插入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双链表插入：四条赋值，次序有讲究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3088350"/>
          </a:xfrm>
          <a:prstGeom prst="rect">
            <a:avLst/>
          </a:prstGeom>
          <a:solidFill>
            <a:srgbClr val="F7F9FC"/>
          </a:solidFill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3088350"/>
          </a:xfrm>
          <a:prstGeom prst="rect">
            <a:avLst/>
          </a:prstGeom>
          <a:solidFill>
            <a:srgbClr val="1F4E9C"/>
          </a:solidFill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86889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bool ListInsert(DLinkList &amp;L, int i, int elem){
    DNode *p = GetElem(L, i - 1);          // 找前驱
    if(p == NULL) return false;
    DNode *s = (DNode *)malloc(sizeof(DNode));
    if(s == NULL) return false;
    s-&gt;data = elem;
    s-&gt;next = p-&gt;next;                      // ① s 接住原后继
    s-&gt;prior = p;                           // ② s 认 p 做前驱
    if(p-&gt;next != NULL) p-&gt;next-&gt;prior = s; // ③ 原后继改认 s
    p-&gt;next = s;                            // ④ p 指向 s
    return true;
}
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5685246"/>
            <a:ext cx="10545775" cy="32080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①②是安置新结点自己，先后无所谓；关键是1必须在4之前，下一页画图看为什么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双链表插入 · 过程页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四条赋值一步步画，换次序会怎样（拿纸跟着画）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895448" y="2395728"/>
            <a:ext cx="21336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B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28848" y="2395728"/>
            <a:ext cx="0" cy="713232"/>
          </a:xfrm>
          <a:prstGeom prst="line">
            <a:avLst/>
          </a:prstGeom>
          <a:noFill/>
          <a:ln w="12700">
            <a:solidFill>
              <a:srgbClr val="D8DB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495648" y="2395728"/>
            <a:ext cx="0" cy="713232"/>
          </a:xfrm>
          <a:prstGeom prst="line">
            <a:avLst/>
          </a:prstGeom>
          <a:noFill/>
          <a:ln w="12700">
            <a:solidFill>
              <a:srgbClr val="D8DB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95448" y="2395728"/>
            <a:ext cx="533400" cy="7132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∧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428848" y="2395728"/>
            <a:ext cx="1066800" cy="7132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95648" y="2395728"/>
            <a:ext cx="533400" cy="7132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→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162648" y="2395728"/>
            <a:ext cx="21336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B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96048" y="2395728"/>
            <a:ext cx="0" cy="713232"/>
          </a:xfrm>
          <a:prstGeom prst="line">
            <a:avLst/>
          </a:prstGeom>
          <a:noFill/>
          <a:ln w="12700">
            <a:solidFill>
              <a:srgbClr val="D8DB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62848" y="2395728"/>
            <a:ext cx="0" cy="713232"/>
          </a:xfrm>
          <a:prstGeom prst="line">
            <a:avLst/>
          </a:prstGeom>
          <a:noFill/>
          <a:ln w="12700">
            <a:solidFill>
              <a:srgbClr val="D8DB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62648" y="2395728"/>
            <a:ext cx="533400" cy="7132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←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696048" y="2395728"/>
            <a:ext cx="1066800" cy="7132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762848" y="2395728"/>
            <a:ext cx="533400" cy="7132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∧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96112" y="3767328"/>
            <a:ext cx="10454335" cy="3215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400" dirty="0">
                <a:solidFill>
                  <a:srgbClr val="000000"/>
                </a:solidFill>
              </a:rPr>
              <a:t>① s-&gt;next = p-&gt;next：新结点 s 的 next 指向 p 原来的后继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96112" y="4162044"/>
            <a:ext cx="10454335" cy="3215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400" dirty="0">
                <a:solidFill>
                  <a:srgbClr val="000000"/>
                </a:solidFill>
              </a:rPr>
              <a:t>② s-&gt;prior = p：s 的 prior 指回 p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6112" y="4556760"/>
            <a:ext cx="10454335" cy="3215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400" dirty="0">
                <a:solidFill>
                  <a:srgbClr val="000000"/>
                </a:solidFill>
              </a:rPr>
              <a:t>③ p-&gt;next-&gt;prior = s：p 的原后继，把它的 prior 改成指向 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96112" y="4951476"/>
            <a:ext cx="10454335" cy="3215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400" dirty="0">
                <a:solidFill>
                  <a:srgbClr val="000000"/>
                </a:solidFill>
              </a:rPr>
              <a:t>④ p-&gt;next = s：p 的 next 改指 s，插入完成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双链表 · 删除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双链表删除：跨过 s，两边都要接好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844167"/>
          </a:xfrm>
          <a:prstGeom prst="rect">
            <a:avLst/>
          </a:prstGeom>
          <a:solidFill>
            <a:srgbClr val="F7F9FC"/>
          </a:solidFill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844167"/>
          </a:xfrm>
          <a:prstGeom prst="rect">
            <a:avLst/>
          </a:prstGeom>
          <a:solidFill>
            <a:srgbClr val="1F4E9C"/>
          </a:solidFill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2624711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bool ListDelete(DLinkList &amp;L, int i, int &amp;elem){
    DNode *p = GetElem(L, i - 1);          // 找前驱
    if(p == NULL) return false;
    if(p-&gt;next == NULL) return false;      // 第 i 个不存在
    DNode *s = p-&gt;next;
    elem = s-&gt;data;                         // 先取值带出
    p-&gt;next = s-&gt;next;                      // p 跨过 s 接后继
    if(s-&gt;next != NULL) s-&gt;next-&gt;prior = p; // 后继的 prior 改指 p
    free(s);
    return true;
}
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5441063"/>
            <a:ext cx="10545775" cy="32080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比单链表删除多一句：后继的 prior 要改指 p；删的是尾结点时没有后继，所以要判 s-&gt;next != NULL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循环单链表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循环单链表：尾巴接回头，三处变了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822960" y="2395728"/>
          <a:ext cx="10545775" cy="1682496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206240"/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动作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单链表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循环单链表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建表结束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r-&gt;next = NULL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r-&gt;next = L（指回头结点）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判空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L-&gt;next == NULL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L-&gt;next == L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遍历终止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p != NULL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p != L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4306824"/>
            <a:ext cx="10454335" cy="7406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循环链表没有 NULL 结尾，走到尾巴会自动绕回头结点，所以终止条件从'遇到 NULL'改成'绕回 L'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96112" y="512064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要是还用 p != NULL 做终止，就永远停不下来，死循环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循环双链表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循环双链表：判空要两个条件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033272"/>
          </a:xfrm>
          <a:prstGeom prst="rect">
            <a:avLst/>
          </a:prstGeom>
          <a:solidFill>
            <a:srgbClr val="F7F9FC"/>
          </a:solidFill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033272"/>
          </a:xfrm>
          <a:prstGeom prst="rect">
            <a:avLst/>
          </a:prstGeom>
          <a:solidFill>
            <a:srgbClr val="1F4E9C"/>
          </a:solidFill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813816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// 循环双链表判空：头结点的 prior 和 next 都指向自己
if(L-&gt;next == L &amp;&amp; L-&gt;prior == L)  // 空表
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363016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循环双链表首尾相接成一个环，头结点的 next 指第一个、prior 指最后一个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101084"/>
            <a:ext cx="10454335" cy="7406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判空必须两个条件都满足：只判 next==L 不够，因为插入过程中可能 next 已成环、prior 还没接好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静态链表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静态链表：用数组和游标模拟链表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2152085"/>
          </a:xfrm>
          <a:prstGeom prst="rect">
            <a:avLst/>
          </a:prstGeom>
          <a:solidFill>
            <a:srgbClr val="F7F9FC"/>
          </a:solidFill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2152085"/>
          </a:xfrm>
          <a:prstGeom prst="rect">
            <a:avLst/>
          </a:prstGeom>
          <a:solidFill>
            <a:srgbClr val="1F4E9C"/>
          </a:solidFill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932629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#define MaxSize 100
typedef struct{
    int data;
    int next;          // 游标：下一个元素的下标，-1 表示结束
}SLinkList[MaxSize];
// 在下标 p 的结点后插入下标 s 的结点，只改游标：
//   L[s].next = L[p].next;   L[p].next = s;
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96112" y="4748981"/>
            <a:ext cx="10454335" cy="37871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700" dirty="0">
                <a:solidFill>
                  <a:srgbClr val="000000"/>
                </a:solidFill>
              </a:rPr>
              <a:t>next 里存的是下标（游标），不是地址；所以没有指针也能有链表的效果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96112" y="5200847"/>
            <a:ext cx="10454335" cy="37871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700" dirty="0">
                <a:solidFill>
                  <a:srgbClr val="000000"/>
                </a:solidFill>
              </a:rPr>
              <a:t>插入删除只改游标、不搬数据，这一点和链表一样，和顺序表不一样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96112" y="5652713"/>
            <a:ext cx="10454335" cy="37871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700" dirty="0">
                <a:solidFill>
                  <a:srgbClr val="000000"/>
                </a:solidFill>
              </a:rPr>
              <a:t>用途：在没有指针的语言里模拟链表，或题目要求用数组实现链表操作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检查页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给你一个场景，该选哪种链表？（先自己判断）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/>
        </p:nvGraphicFramePr>
        <p:xfrm>
          <a:off x="822960" y="2395728"/>
          <a:ext cx="10545775" cy="2523744"/>
        </p:xfrm>
        <a:graphic>
          <a:graphicData uri="http://schemas.openxmlformats.org/drawingml/2006/table">
            <a:tbl>
              <a:tblPr/>
              <a:tblGrid>
                <a:gridCol w="3657600"/>
                <a:gridCol w="3017520"/>
                <a:gridCol w="3840480"/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需求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选哪种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理由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常</a:t>
                      </a: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在尾部操作、</a:t>
                      </a:r>
                      <a:r>
                        <a:rPr lang="zh-CN" alt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保持输入</a:t>
                      </a: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顺序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单链表加 rear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尾插 O(1)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要频繁找前驱或双向走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双链表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prior 直接给前驱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要循环报数、轮转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循环单链表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走到尾自动回头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要频繁在头尾两端操作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循环双链表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头尾都是 O(1)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题目要求用数组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静态链表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微软雅黑" panose="020B0503020204020204" pitchFamily="34" charset="-120"/>
                        </a:rPr>
                        <a:t>游标代替指针</a:t>
                      </a:r>
                      <a:endParaRPr lang="en-US" sz="1500" dirty="0"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148072"/>
            <a:ext cx="10545775" cy="35890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先盖住右边两列，只看需求自己选，再对答案；这类'给场景选存储'是常考的判断点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本节小结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小结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双链表：多一根 prior；插入四条赋值，</a:t>
            </a:r>
            <a:r>
              <a:rPr lang="zh-CN" altLang="en-US" sz="1800" dirty="0">
                <a:solidFill>
                  <a:srgbClr val="000000"/>
                </a:solidFill>
              </a:rPr>
              <a:t>建立先于更改</a:t>
            </a:r>
            <a:r>
              <a:rPr lang="en-US" sz="1800" dirty="0">
                <a:solidFill>
                  <a:srgbClr val="000000"/>
                </a:solidFill>
              </a:rPr>
              <a:t>；删除要改后继的 prior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7406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循环单链表：尾巴接回头，判空 L-&gt;next==L、遍历终止 p!=L；循环双链表判空要两个条件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680460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静态链表：数组加游标，next 存下标不存地址，插删只改游标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4151376"/>
            <a:ext cx="10454335" cy="3977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dirty="0">
                <a:solidFill>
                  <a:srgbClr val="000000"/>
                </a:solidFill>
              </a:rPr>
              <a:t>选哪种看需求：找前驱用双链表，循环报数用循环链表，题目要数组用静态链表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713732"/>
            <a:ext cx="10545775" cy="35890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2026 年约瑟夫环用循环单链表模拟，2020 年真题考双向循环链表的指针次序，都出自这一节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课后任务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1道跟练 ＋ 1道模仿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7406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b="1" dirty="0">
                <a:solidFill>
                  <a:srgbClr val="000000"/>
                </a:solidFill>
              </a:rPr>
              <a:t>跟练题</a:t>
            </a:r>
            <a:r>
              <a:rPr lang="en-US" sz="1800" dirty="0">
                <a:solidFill>
                  <a:srgbClr val="000000"/>
                </a:solidFill>
              </a:rPr>
              <a:t>：默写 DNode 定义、双链表的插入与删除，并在插入代码旁标出四条赋值的次序约束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3209544"/>
            <a:ext cx="10454335" cy="74066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•  </a:t>
            </a:r>
            <a:r>
              <a:rPr lang="en-US" sz="1800" b="1" dirty="0">
                <a:solidFill>
                  <a:srgbClr val="000000"/>
                </a:solidFill>
              </a:rPr>
              <a:t>模仿题</a:t>
            </a:r>
            <a:r>
              <a:rPr lang="en-US" sz="1800" dirty="0">
                <a:solidFill>
                  <a:srgbClr val="000000"/>
                </a:solidFill>
              </a:rPr>
              <a:t>：在双链表结点 p 之前插入新结点 s，写出四条赋值语句，并说明哪两条次序不能换、为什么（题集勾画 2答8 同类）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10545775" cy="35890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默写要求：合上资料能写出双链表的插入删除、说清四条赋值次序；参考答案在本PPT最后两页，课后自行对照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参考答案 · 跟练题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跟练题参考答案（自行对照）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984248"/>
          </a:xfrm>
          <a:prstGeom prst="rect">
            <a:avLst/>
          </a:prstGeom>
          <a:solidFill>
            <a:srgbClr val="F7F9FC"/>
          </a:solidFill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984248"/>
          </a:xfrm>
          <a:prstGeom prst="rect">
            <a:avLst/>
          </a:prstGeom>
          <a:solidFill>
            <a:srgbClr val="1F4E9C"/>
          </a:solidFill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76479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typedef struct DNode{ int data; struct DNode *prior, *next; }DNode, *DLinkList;
// 插入四条赋值的次序约束：
s-&gt;next = p-&gt;next;                       // ①
s-&gt;prior = p;                            // ② </a:t>
            </a: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  <a:sym typeface="+mn-ea"/>
              </a:rPr>
              <a:t>必须在④前</a:t>
            </a:r>
            <a:b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  <a:sym typeface="+mn-ea"/>
              </a:rPr>
            </a:b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if(p-&gt;next != NULL) p-&gt;next-&gt;prior = s;  // ③ 
p-&gt;next = s;                             // ④
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0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14 / 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参考答案 · 模仿题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模仿题参考答案（自行对照）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2395728"/>
            <a:ext cx="10545775" cy="1746504"/>
          </a:xfrm>
          <a:prstGeom prst="rect">
            <a:avLst/>
          </a:prstGeom>
          <a:solidFill>
            <a:srgbClr val="F7F9FC"/>
          </a:solidFill>
        </p:spPr>
      </p:sp>
      <p:sp>
        <p:nvSpPr>
          <p:cNvPr id="6" name="Shape 4"/>
          <p:cNvSpPr/>
          <p:nvPr/>
        </p:nvSpPr>
        <p:spPr>
          <a:xfrm>
            <a:off x="822960" y="2395728"/>
            <a:ext cx="50292" cy="1746504"/>
          </a:xfrm>
          <a:prstGeom prst="rect">
            <a:avLst/>
          </a:prstGeom>
          <a:solidFill>
            <a:srgbClr val="1F4E9C"/>
          </a:solidFill>
        </p:spPr>
      </p:sp>
      <p:sp>
        <p:nvSpPr>
          <p:cNvPr id="7" name="Text 5"/>
          <p:cNvSpPr/>
          <p:nvPr/>
        </p:nvSpPr>
        <p:spPr>
          <a:xfrm>
            <a:off x="1078992" y="2505456"/>
            <a:ext cx="10033711" cy="1527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400" dirty="0">
                <a:solidFill>
                  <a:srgbClr val="1F232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// 在双链表结点 p 之前插入 s（p 已知，不用找前驱）
s-&gt;next = p;                 // s 的后继是 p
s-&gt;prior = p-&gt;prior;         // s 的前驱是 p 的原前驱
if(p-&gt;prior != NULL) p-&gt;prior-&gt;next = s;  // 原前驱改指 s
p-&gt;prior = s;                // p 的前驱改成 s
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3681</Words>
  <Application>WPS 演示</Application>
  <PresentationFormat>On-screen Show (16:9)</PresentationFormat>
  <Paragraphs>232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6" baseType="lpstr">
      <vt:lpstr>Arial</vt:lpstr>
      <vt:lpstr>宋体</vt:lpstr>
      <vt:lpstr>Wingdings</vt:lpstr>
      <vt:lpstr>微软雅黑</vt:lpstr>
      <vt:lpstr>微软雅黑</vt:lpstr>
      <vt:lpstr>Consolas</vt:lpstr>
      <vt:lpstr>Consolas</vt:lpstr>
      <vt:lpstr>Consolas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双链表、循环链表与静态链表</dc:title>
  <dc:creator>牙膏学长</dc:creator>
  <dc:subject>PptxGenJS Presentation</dc:subject>
  <cp:lastModifiedBy>倾殇醉</cp:lastModifiedBy>
  <cp:revision>10</cp:revision>
  <dcterms:created xsi:type="dcterms:W3CDTF">2026-09-26T06:06:00Z</dcterms:created>
  <dcterms:modified xsi:type="dcterms:W3CDTF">2026-09-28T05:52:55Z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CD0D19F7E92E4247967EFF04F2011F69_12</vt:lpwstr>
  </property>
  <property fmtid="{D5CDD505-2E9C-101B-9397-08002B2CF9AE}" pid="3" name="KSOProductBuildVer">
    <vt:lpwstr>2052-12.1.0.28505</vt:lpwstr>
  </property>
</Properties>
</file>