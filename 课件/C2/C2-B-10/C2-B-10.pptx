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数据结构强化阶段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第10节 排序算法二：选择、归并与比较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阶段：强化 ｜ 主讲：牙膏学长 ｜ 预计45分钟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简单选择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简单选择：哨兵位存的是下标，不是值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174443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174443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954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SelectSort(SqList &amp;L){                   // 数据存 L.data[1..length]
    for(int i = 1; i &lt; L.length; i++){
        L.data[0] = i;                        // 哨兵位存当前最小值的下标
        for(int j = i+1; j &lt;= L.length; j++)
            if(L.data[j] &lt; L.data[L.data[0]]) L.data[0] = j;
        if(L.data[0] != i){ int tmp = L.data[i];
            L.data[i] = L.data[L.data[0]];  L.data[L.data[0]] = tmp; }
    }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4771339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哨兵位这里存的是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下标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不是值：L.data[0]=i，比较时要写 L.data[L.data[0]]（双重下标），这是最容易看错的一行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5432755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外层到 length-1、内层到 length，两个边界不同：最后一轮只剩一个元素不用比，但找最小值时必须把它算进去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6185611"/>
            <a:ext cx="10545775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 O(n²) 且与初始序列无关（每趟都要扫完找最小）；空间 O(1)；**不稳定**——交换会改变相同元素的相对次序，反例 {3a,3b,1}：第一趟 3a 与 1 交换后 3a 跑到 3b 后面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堆排序 · 定义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大根堆：完全二叉树顺序存储，下标从 1 起</a:t>
            </a:r>
            <a:endParaRPr lang="en-US" sz="2800" dirty="0"/>
          </a:p>
        </p:txBody>
      </p:sp>
      <p:pic>
        <p:nvPicPr>
          <p:cNvPr id="5" name="Image 0" descr="D:\Program Project\SpecialtyCourses\assets\diagrams\b10-heap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209648" y="2395728"/>
            <a:ext cx="7772400" cy="228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4864608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下标从 1 开始，则结点 i 的左孩子是 2i、右孩子是 2i+1、父结点是 i/2——这就是排序章节下标 1 起的真正原因（基础阶段第1节埋的约定在这里兑现）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96112" y="5526024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大根堆：每个结点不小于它的两个孩子（arr[i] &gt;= arr[2i] 且 arr[i] &gt;= arr[2i+1]），堆顶是最大值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6278880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堆排序分两步：先把无序数组调成大根堆（建堆），然后反复'换堆顶与末尾、缩小范围、重新调整'——每趟把当前最大值送到末尾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堆排序 · HeapAdjust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HeapAdjust 逐行：哨兵存待下沉结点，选较大的孩子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35988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35988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140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HeapAdjust(int arr[], int k, int len){   // 把 arr[k] 往下沉到合适位置
    arr[0] = arr[k];                          // 哨兵存待下沉的结点
    for(int i = 2*k; i &lt;= len; i *= 2){       // i 从 k 的左孩子起，每轮翻倍到下一层
        if(i &lt; len &amp;&amp; arr[i+1] &gt; arr[i]) i++; // 选较大的孩子（i&lt;len 防越界）
        if(arr[0] &gt;= arr[i]) break;           // 已不小于孩子，到位
        arr[k] = arr[i];                      // 大孩子上移
        k = i;                                // 继续往下比
    }
    arr[k] = arr[0];                          // 哨兵里的值落到最终位置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4956780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四个关键点：① i*=2 是往下一层不是逐个遍历；② i&lt;len 防止只有左孩子时读 arr[i+1] 越界；③ arr[0]&gt;=arr[i] 就 break（大根堆只要求父不小于子）；④ 循环结束哨兵值落位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5709636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 O(logn)（树高）；这一页是手算题的常考点（题集勾画 10选22、10选30），下标关系要能闭着眼写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HeapAdjust · 过程页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七元素数组调整 k=2：下沉过程（拿纸跟画）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752448" y="2395728"/>
            <a:ext cx="1085850" cy="6537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52448" y="2395728"/>
            <a:ext cx="108585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52448" y="3049524"/>
            <a:ext cx="1085850" cy="213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838298" y="2395728"/>
            <a:ext cx="1085850" cy="6537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8298" y="2395728"/>
            <a:ext cx="108585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38298" y="3049524"/>
            <a:ext cx="1085850" cy="213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924148" y="2395728"/>
            <a:ext cx="1085850" cy="653796"/>
          </a:xfrm>
          <a:prstGeom prst="rect">
            <a:avLst/>
          </a:prstGeom>
          <a:solidFill>
            <a:srgbClr val="FFF3CD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24148" y="2395728"/>
            <a:ext cx="108585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24148" y="3049524"/>
            <a:ext cx="1085850" cy="213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09998" y="2395728"/>
            <a:ext cx="1085850" cy="6537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09998" y="2395728"/>
            <a:ext cx="108585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09998" y="3049524"/>
            <a:ext cx="1085850" cy="213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095848" y="2395728"/>
            <a:ext cx="1085850" cy="6537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95848" y="2395728"/>
            <a:ext cx="108585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95848" y="3049524"/>
            <a:ext cx="1085850" cy="213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181698" y="2395728"/>
            <a:ext cx="1085850" cy="653796"/>
          </a:xfrm>
          <a:prstGeom prst="rect">
            <a:avLst/>
          </a:prstGeom>
          <a:solidFill>
            <a:srgbClr val="FFF3CD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81698" y="2395728"/>
            <a:ext cx="108585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81698" y="3049524"/>
            <a:ext cx="1085850" cy="213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267548" y="2395728"/>
            <a:ext cx="1085850" cy="6537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67548" y="2395728"/>
            <a:ext cx="108585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67548" y="3049524"/>
            <a:ext cx="1085850" cy="213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9353398" y="2395728"/>
            <a:ext cx="1085850" cy="6537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53398" y="2395728"/>
            <a:ext cx="108585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353398" y="3049524"/>
            <a:ext cx="1085850" cy="213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96112" y="3767328"/>
            <a:ext cx="10454335" cy="6263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数组 1、3、5、7、9、8、6（下标1到7），调整 k=2（值为3）：哨兵 arr[0]=3，i 从 2k=4 起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96112" y="4466844"/>
            <a:ext cx="10454335" cy="6263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i=4：arr[4]=7，i&lt;len 且 arr[5]=9&gt;7，i++ 到 5（选较大的孩子9）；arr[0]=3 &gt;= 9？否，arr[2]=9 上移，k=5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96112" y="5166360"/>
            <a:ext cx="10454335" cy="6263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i=10 &gt; len=7 退出，arr[5]=arr[0]=3 落位 → 数组变成 1、9、5、7、3、8、6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22960" y="5957316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你跟着标：3 从位置2沉到位置5，9 从位置5升到位置2；每轮 i 翻倍就是往下走一层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堆排序 · 建堆与主循环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建堆为什么从 len/2 开始，排序主循环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989003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989003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7695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HeapSort(int arr[], int len){
    if(arr == NULL || len &lt;= 1) return;
    for(int i = len/2; i &gt; 0; i--) HeapAdjust(arr, i, len);  // 建堆
    while(len &gt; 1){
        int tmp = arr[1]; arr[1] = arr[len]; arr[len] = tmp; // 堆顶与末尾交换
        HeapAdjust(arr, 1, --len);                           // 剩下 len-1 个重调
    }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4585899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建堆从 len/2 开始：下标大于 len/2 的结点都是叶子、没有孩子，不需要调整；从最后一个分支结点往前逐个下沉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5247315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建堆总代价是 O(n) 不是 O(nlogn)：大部分结点靠近底层、下沉距离短，求和收敛到 O(n)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5642031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主循环：换堆顶与末尾、--len 缩小范围、重调堆顶——每趟把当前最大值送到末尾就位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6128187"/>
            <a:ext cx="10545775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交换写法两种都对：本节用局部变量 tmp，另一版用 arr[0] 当暂存（与哨兵位复用），页脚注明——做题跟着题目给的写法走；时间 O(nlogn)、空间 O(1)、不稳定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二路归并 · Merge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Merge：三个指针、两个收尾循环、取等号保稳定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35988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35988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140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Merge(SqList &amp;L, SqList &amp;T, int low, int mid, int high){
    int p = low, q = mid+1, k = low;
    while(p &lt;= mid &amp;&amp; q &lt;= high){
        if(L.data[p] &lt;= L.data[q]) T.data[k++] = L.data[p++];  // 取等号保稳定
        else T.data[k++] = L.data[q++];
    }
    while(p &lt;= mid) T.data[k++] = L.data[p++];    // 收尾两个循环
    while(q &lt;= high) T.data[k++] = L.data[q++];
    for(int i = low; i &lt;= high; i++) L.data[i] = T.data[i];  // 拷回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4956780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三个指针：p 扫左半段 [low,mid]、q 扫右半段 [mid+1,high]、k 写辅助表 T；谁小取谁，取完一段另一段整体收尾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561819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&lt;= 保证稳定性：相等时先取左半段的，相同值的相对次序不变——写成 &lt; 就不稳定了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6104352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两个收尾循环不能只写一个：p 与 q 谁没走完就接谁；最后把 T 拷回 L 的 [low,high]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二路归并 · MergeSort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MergeSort 递归式与复杂度推导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989003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989003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7695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MergeSort(SqList &amp;L, SqList &amp;T, int low, int high){
    if(low &lt; high){
        int mid = (low + high) / 2;
        MergeSort(L, T, low, mid);        // 排左半
        MergeSort(L, T, mid+1, high);     // 排右半
        Merge(L, T, low, mid, high);      // 合并
    }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4585899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递归式 T(n)=2T(n/2)+O(n)：用基础阶段第1节教的逐层累加——每层合并总代价 O(n)，共 logn 层，所以 O(nlogn)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5247315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时间与初始序列无关（不管乱不乱都要合并 logn 层）；空间 O(n) 是辅助表 T；稳定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733471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这个递归式与快排的平均情况同形，但归并的最坏也是 O(nlogn)，快排最坏会退化到 O(n²)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逆序对 · 模板10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逆序对个数：在 Merge 里加一行计数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54532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54532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3258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merge(int A[], int temp[], int left, int mid, int right){
    for(int k=left;k&lt;=right;k++) temp[k]=A[k];
    int i=left, j=mid+1, k=left, count=0;
    while(i&lt;=mid &amp;&amp; j&lt;=right){
        if(temp[i]&lt;=temp[j]) A[k++]=temp[i++];
        else{ count += mid-i+1;  A[k++]=temp[j++]; }   // 关键一行
    }
    while(i&lt;=mid) A[k++]=temp[i++];
    while(j&lt;=right) A[k++]=temp[j++];
    return count;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5142220"/>
            <a:ext cx="10454335" cy="8549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关键就一行 count += mid-i+1：当右半的 temp[j] 被选中时，左半从 i 到 mid 的所有元素都大于它（左半有序且 temp[i]&gt;temp[j]），且下标都在前——每一个都构成逆序对，一次加 mid-i+1 个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6070336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题目限定 n≤30000 就暗示不能用 O(n²) 双重循环，必须用归并的 O(nlogn)——这是 2020 年考过的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6823192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写成 count++ 就只算了一对，漏了左半剩下的全部；这一行是模板10（归并加计数）的核心，也是本题唯一难点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逆序对 · 过程页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六元素归并加计数逐步（拿纸跟画）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895448" y="2395728"/>
            <a:ext cx="1066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95448" y="2395728"/>
            <a:ext cx="1066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95448" y="2999232"/>
            <a:ext cx="1066800" cy="1975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962248" y="2395728"/>
            <a:ext cx="1066800" cy="603504"/>
          </a:xfrm>
          <a:prstGeom prst="rect">
            <a:avLst/>
          </a:prstGeom>
          <a:solidFill>
            <a:srgbClr val="FFF3CD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62248" y="2395728"/>
            <a:ext cx="1066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62248" y="2999232"/>
            <a:ext cx="1066800" cy="1975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029048" y="2395728"/>
            <a:ext cx="1066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048" y="2395728"/>
            <a:ext cx="1066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048" y="2999232"/>
            <a:ext cx="1066800" cy="1975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095848" y="2395728"/>
            <a:ext cx="1066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95848" y="2395728"/>
            <a:ext cx="1066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95848" y="2999232"/>
            <a:ext cx="1066800" cy="1975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162648" y="2395728"/>
            <a:ext cx="1066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62648" y="2395728"/>
            <a:ext cx="1066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62648" y="2999232"/>
            <a:ext cx="1066800" cy="1975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229448" y="2395728"/>
            <a:ext cx="1066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448" y="2395728"/>
            <a:ext cx="1066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448" y="2999232"/>
            <a:ext cx="1066800" cy="1975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96112" y="3675888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归并 [3,1] 与 [4,2] 两段（各自已排好序是 [1,3] 与 [2,4]）：temp=[1,3,2,4]，i 指左半、j 指右半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96112" y="4337304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temp[i]=1 &lt;= temp[j]=2，取 1，i++；temp[i]=3 &gt; 2，取 2 并 count += mid-i+1 = 1-1+1 = 1（左半剩 3 比 2 大，1 个逆序对）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96112" y="4998720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temp[i]=3 &lt;= temp[j]=4，取 3；再取 4。结果 [1,2,3,4]，count=1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" y="5484876"/>
            <a:ext cx="10545775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你跟着把 i、j、k、count 每一步标出来，特别是 count += mid-i+1 那一帧算出加了几个——这一帧就是模板10 的全部秘密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基数与外部排序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基数排序与外部排序：各一段带过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02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基数排序：从低位到高位做 d 趟，每趟按当前位分配进 10 个队列再按序收集；不比较大小，时间 O(d(n+r))、空间 O(r)、稳定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96112" y="3171444"/>
            <a:ext cx="10454335" cy="702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多路平衡归并：一次合并 k 个有序段，归并趟数从 log2 降到 logk，磁盘读写大幅减少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96112" y="3947160"/>
            <a:ext cx="10454335" cy="378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败者树：k 路归并选最小元素只需 logk 次比较，而不是 k-1 次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4399026"/>
            <a:ext cx="10454335" cy="702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置换选择排序：生成比内存容量更长的初始有序段，减少段数；最佳归并树：按哈夫曼思路安排归并顺序使总读写最少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5266182"/>
            <a:ext cx="10545775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基数考一趟手算（题集勾画 10选33、10选39），外部排序考概念与手算，代码都不写；听到四个名字知道各自解决什么问题就够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排序比较 · 必背表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排序算法比较与选择（上）：O(n²) 组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  <a:gridCol w="1463040"/>
                <a:gridCol w="164592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算法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平均时间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最坏时间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空间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稳定性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直接插入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O(n²)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O(n²)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O(1)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稳定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折半插入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O(n²)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O(n²)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O(1)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稳定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希尔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约O(n^1.3)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O(n²)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O(1)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不稳定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冒泡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O(n²)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O(n²)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O(1)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稳定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简单选择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O(n²)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O(n²)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O(1)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不稳定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148072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选择依据：要稳定且 n 小用插入；冒泡加 swapped 优化后最好 O(n)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排序比较 · 必背表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排序算法比较与选择（下）：O(nlogn) 组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  <a:gridCol w="1463040"/>
                <a:gridCol w="164592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算法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平均时间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最坏时间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空间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稳定性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快速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O(nlogn)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O(n²)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O(logn)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不稳定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堆排序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O(nlogn)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O(nlogn)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O(1)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不稳定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二路归并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O(nlogn)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O(nlogn)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O(n)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稳定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基数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O(d(n+r))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O(d(n+r))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O(r)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稳定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4727448"/>
            <a:ext cx="10454335" cy="6263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选择依据：n 大要平均最快用快排；要最坏情况也有保证用堆排；要稳定且 n 大用归并；位数少范围小用基数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96112" y="5426964"/>
            <a:ext cx="10454335" cy="340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链表存储下快排与堆排不适用（需要随机访问），归并与插入仍可用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5932170"/>
            <a:ext cx="10545775" cy="3208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这张表是必背的：时间、空间、稳定性三列，加上'链表下谁能用'，是选择题与填空题的高频考点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模板卡与课段小结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模板卡与强化阶段十节课收官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474720"/>
                <a:gridCol w="3657600"/>
                <a:gridCol w="137160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模板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适用场景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骨架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复杂度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模板10 归并+计数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逆序对等统计类（2020 真题）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Merge 时右半元素先出，count += 左半剩余个数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O(nlogn)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3465576"/>
            <a:ext cx="10454335" cy="1083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强化阶段十节课收口：线性表两节（模板1/2/3/4/11/14）、栈队串一节（模板14）、树两节（模板5/6/12/15）、图两节（模板7/8/13）、查找一节（模板9）、排序两节（模板10），15 张模板卡全部到位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96112" y="462229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下一阶段按题型训练：拿到题先报模板编号，再改条件——模板卡就是那时候的骨架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5184648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张模板卡覆盖 2020—2026 全部 17 道算法大题；下一阶段的题型课会把这些卡汇总成决策表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课后任务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1道跟练 ＋ 1道变式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跟练题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：默写 HeapAdjust 与建堆主循环、Merge；给序列 87、45、78、32、17、65、53、9、122 写出建大根堆的结果与前两趟堆排序的结果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变式题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：题集勾画 10答12（判堆与调整）、10算12（逐个插入建堆）、10选31（建堆过程）、10选32（归并一趟手算）同类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10545775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默写要求：合上资料能写出 HeapAdjust、建堆主循环与 Merge；参考答案在本PPT最后两页，课后自行对照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跟练题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跟练题参考答案（自行对照）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1083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序列 87、45、78、32、17、65、53、9、122（n=9）建大根堆：从 i=4 开始逐个 HeapAdjust，结果堆顶 122，数组为 122、87、78、45、17、65、53、9、32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5524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第一趟：堆顶 122 与末尾 32 交换，122 就位，剩 8 个重调 → 堆顶 87；第二趟：87 与末尾交换就位 → 堆顶 78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3662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HeapAdjust、建堆主循环与 Merge 代码见本节代码合集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928616"/>
            <a:ext cx="10545775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建堆从 len/2=4 开始（下标5到9都是叶子）；每趟把当前最大值送到末尾，前两趟就位的是 122、87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变式题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变式题参考答案（自行对照）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10答12 判堆与调整：检查每个结点是否不小于孩子（大根堆）或不大于孩子（小根堆），不是就从该结点 HeapAdjust 下沉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10算12 逐个插入建堆：每插入一个就把它往上'浮'到合适位置（与 HeapAdjust 下沉方向相反），注意两种建堆方法结果可能不同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0233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10选31 建堆过程：从 len/2 往前逐个下沉，写出每趟后的数组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494276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10选32 归并一趟手算：按当前段长把数组分段，相邻两段两两 Merge，写出该趟结束序列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5399532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堆的手算与归并的趟次判别都是高频考点；建堆两种方法（逐个插入上浮 vs 从 len/2 下沉）都要会认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排序算法二：选择、归并与比较</dc:title>
  <dc:subject>PptxGenJS Presentation</dc:subject>
  <dc:creator>牙膏学长</dc:creator>
  <cp:lastModifiedBy>牙膏学长</cp:lastModifiedBy>
  <cp:revision>1</cp:revision>
  <dcterms:created xsi:type="dcterms:W3CDTF">2026-09-27T07:25:21Z</dcterms:created>
  <dcterms:modified xsi:type="dcterms:W3CDTF">2026-09-27T07:25:21Z</dcterms:modified>
</cp:coreProperties>
</file>