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2" r:id="rId9"/>
    <p:sldId id="261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1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数据结构强化阶段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第1节 导学＋线性表算法一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阶段：强化 ｜ 主讲：牙膏学长 ｜ 预计45分钟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2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课段导学</a:t>
            </a:r>
            <a:endParaRPr lang="en-US" sz="1300" dirty="0"/>
          </a:p>
        </p:txBody>
      </p:sp>
      <p:sp>
        <p:nvSpPr>
          <p:cNvPr id="5" name="p02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课段导学 · 位置</a:t>
            </a:r>
            <a:endParaRPr lang="en-US" sz="1400" dirty="0"/>
          </a:p>
        </p:txBody>
      </p:sp>
      <p:sp>
        <p:nvSpPr>
          <p:cNvPr id="6" name="p02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这个课段管算法分析题的30分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822960" y="2395728"/>
          <a:ext cx="10545775" cy="1261872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802题型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分值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这个课段怎么帮你拿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程序阅读题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约20分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读指针代码判断结果，改指针是基本功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算法分析题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3题30分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每节4到7个模板，认得出、写得出、算得对复杂度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96112" y="3886200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基础阶段给你零件：每个结构的定义、初始化、增删查；强化阶段把零件组装成能上考场的算法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96112" y="4357116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学完的标志：对着没见过的表、树、图、查找、排序问题，说出套哪个模板、按五步写出代码、给出复杂度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96112" y="5170932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上一阶段的内容默认你会：本节从头用到尾的带头结点单链表，定义见数据结构基础阶段第3节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3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课段导学</a:t>
            </a:r>
            <a:endParaRPr lang="en-US" sz="1300" dirty="0"/>
          </a:p>
        </p:txBody>
      </p:sp>
      <p:sp>
        <p:nvSpPr>
          <p:cNvPr id="5" name="p03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课段导学 · 目录</a:t>
            </a:r>
            <a:endParaRPr lang="en-US" sz="1400" dirty="0"/>
          </a:p>
        </p:txBody>
      </p:sp>
      <p:sp>
        <p:nvSpPr>
          <p:cNvPr id="6" name="p03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强化阶段十节课的目录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822960" y="2395728"/>
          <a:ext cx="10545775" cy="2944368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节次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拿走什么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第1节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导学＋线性表算法一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逆置、倒数第k、条件删除、交换相邻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第2节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线性表算法二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归并成递减、重排、约瑟夫环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第3节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栈队应用与串匹配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括号匹配、后缀表达式、KMP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第4—5节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树算法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递归三件套、判完全平衡、哈夫曼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第6—7节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图算法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遍历应用、拓扑、生成树与最短路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第8—10节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查找与排序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哨兵折半、BST、快排堆排、归并比较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4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课段导学</a:t>
            </a:r>
            <a:endParaRPr lang="en-US" sz="1300" dirty="0"/>
          </a:p>
        </p:txBody>
      </p:sp>
      <p:sp>
        <p:nvSpPr>
          <p:cNvPr id="5" name="p04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课段导学 · 怎么听</a:t>
            </a:r>
            <a:endParaRPr lang="en-US" sz="1400" dirty="0"/>
          </a:p>
        </p:txBody>
      </p:sp>
      <p:sp>
        <p:nvSpPr>
          <p:cNvPr id="6" name="p04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读指针代码，先认清入口、当前结点和边界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96112" y="2395728"/>
            <a:ext cx="10454335" cy="359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600" dirty="0">
                <a:solidFill>
                  <a:srgbClr val="000000"/>
                </a:solidFill>
              </a:rPr>
              <a:t>本节使用带头结点的单链表：L 保留表头，L-&gt;next 才是第一个数据结点。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828544"/>
            <a:ext cx="10454335" cy="359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600" dirty="0">
                <a:solidFill>
                  <a:srgbClr val="000000"/>
                </a:solidFill>
              </a:rPr>
              <a:t>p 常指向当前正在处理的结点；pre 留在它前面；q 可以暂存还要继续走的后继。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3261360"/>
            <a:ext cx="10454335" cy="359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600" dirty="0">
                <a:solidFill>
                  <a:srgbClr val="000000"/>
                </a:solidFill>
              </a:rPr>
              <a:t>普通单链表走到 NULL 结束，循环单链表走回 L 结束。代码里的终止条件要和结构对应。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3694176"/>
            <a:ext cx="10454335" cy="359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600" dirty="0">
                <a:solidFill>
                  <a:srgbClr val="000000"/>
                </a:solidFill>
              </a:rPr>
              <a:t>写完后，从头结点顺着 next 走一遍，检查结果链是否完整。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5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正课开始</a:t>
            </a:r>
            <a:endParaRPr lang="en-US" sz="1300" dirty="0"/>
          </a:p>
        </p:txBody>
      </p:sp>
      <p:sp>
        <p:nvSpPr>
          <p:cNvPr id="5" name="p05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方法论</a:t>
            </a:r>
            <a:endParaRPr lang="en-US" sz="1400" dirty="0"/>
          </a:p>
        </p:txBody>
      </p:sp>
      <p:sp>
        <p:nvSpPr>
          <p:cNvPr id="6" name="p05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改链前，先确认后面还要用哪个地址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96112" y="2395728"/>
            <a:ext cx="10454335" cy="359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600" dirty="0">
                <a:solidFill>
                  <a:srgbClr val="000000"/>
                </a:solidFill>
              </a:rPr>
              <a:t>逆置时，头插会覆盖当前结点的 next；所以先把原后继保存在 p，再改连接。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828544"/>
            <a:ext cx="10454335" cy="359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600" dirty="0">
                <a:solidFill>
                  <a:srgbClr val="000000"/>
                </a:solidFill>
              </a:rPr>
              <a:t>删除时，保留前驱 pre；当前结点摘掉后，从 pre-&gt;next 取下一个待检查结点。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3261360"/>
            <a:ext cx="10454335" cy="359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600" dirty="0">
                <a:solidFill>
                  <a:srgbClr val="000000"/>
                </a:solidFill>
              </a:rPr>
              <a:t>双链表交换时，先把两端接好，再改 p、q 之间的连接；否则会丢掉旧地址。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7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17</a:t>
            </a:r>
            <a:endParaRPr lang="en-US" sz="1000" dirty="0"/>
          </a:p>
        </p:txBody>
      </p:sp>
      <p:sp>
        <p:nvSpPr>
          <p:cNvPr id="3" name="p07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逆置推演</a:t>
            </a:r>
            <a:endParaRPr lang="en-US" sz="1400" dirty="0"/>
          </a:p>
        </p:txBody>
      </p:sp>
      <p:sp>
        <p:nvSpPr>
          <p:cNvPr id="4" name="p07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普通逆置：断链后逐个头插（点击看结点如何变化）</a:t>
            </a:r>
            <a:endParaRPr lang="en-US" sz="2800" dirty="0"/>
          </a:p>
        </p:txBody>
      </p:sp>
      <p:pic>
        <p:nvPicPr>
          <p:cNvPr id="5" name="p07:initial" descr="D:\Program Project\SpecialtyCourses\课件\C2\C2-B-优化版\C2-B-01\assets\C2-B-01-p07-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32304"/>
            <a:ext cx="10360152" cy="3337560"/>
          </a:xfrm>
          <a:prstGeom prst="rect">
            <a:avLst/>
          </a:prstGeom>
        </p:spPr>
      </p:pic>
      <p:pic>
        <p:nvPicPr>
          <p:cNvPr id="6" name="p07:s1" descr="D:\Program Project\SpecialtyCourses\课件\C2\C2-B-优化版\C2-B-01\assets\C2-B-01-p07-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32304"/>
            <a:ext cx="10360152" cy="3337560"/>
          </a:xfrm>
          <a:prstGeom prst="rect">
            <a:avLst/>
          </a:prstGeom>
        </p:spPr>
      </p:pic>
      <p:pic>
        <p:nvPicPr>
          <p:cNvPr id="7" name="p07:s2" descr="D:\Program Project\SpecialtyCourses\课件\C2\C2-B-优化版\C2-B-01\assets\C2-B-01-p07-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432304"/>
            <a:ext cx="10360152" cy="3337560"/>
          </a:xfrm>
          <a:prstGeom prst="rect">
            <a:avLst/>
          </a:prstGeom>
        </p:spPr>
      </p:pic>
      <p:pic>
        <p:nvPicPr>
          <p:cNvPr id="8" name="p07:s3" descr="D:\Program Project\SpecialtyCourses\课件\C2\C2-B-优化版\C2-B-01\assets\C2-B-01-p07-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432304"/>
            <a:ext cx="10360152" cy="3337560"/>
          </a:xfrm>
          <a:prstGeom prst="rect">
            <a:avLst/>
          </a:prstGeom>
        </p:spPr>
      </p:pic>
      <p:pic>
        <p:nvPicPr>
          <p:cNvPr id="9" name="p07:s4" descr="D:\Program Project\SpecialtyCourses\课件\C2\C2-B-优化版\C2-B-01\assets\C2-B-01-p07-s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432304"/>
            <a:ext cx="10360152" cy="3337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6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17</a:t>
            </a:r>
            <a:endParaRPr lang="en-US" sz="1000" dirty="0"/>
          </a:p>
        </p:txBody>
      </p:sp>
      <p:sp>
        <p:nvSpPr>
          <p:cNvPr id="3" name="p06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原地逆置 · 模板1</a:t>
            </a:r>
            <a:endParaRPr lang="en-US" sz="1400" dirty="0"/>
          </a:p>
        </p:txBody>
      </p:sp>
      <p:sp>
        <p:nvSpPr>
          <p:cNvPr id="4" name="p06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原地逆置：断成空表，逐个头插回去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95728"/>
            <a:ext cx="6629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2706624"/>
            <a:ext cx="6592824" cy="2606040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816352"/>
            <a:ext cx="6263640" cy="23865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InvertedList(LinkList &amp;L){
    if(L == NULL || L-&gt;next == NULL) return;
    LNode *p = L-&gt;next, *temp;
    L-&gt;next = NULL;                       // 先断成空表
    while(p != NULL){
        temp = p;                         // 摘下当前结点
        p = p-&gt;next;                      // 先存后继，否则下一步找不到
        temp-&gt;next = L-&gt;next; L-&gt;next = temp;   // 两句头插
    }
}
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08392" y="2395728"/>
            <a:ext cx="3660343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读代码时留意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81544" y="2706624"/>
            <a:ext cx="3568903" cy="8549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思想：把头结点后的链整个断开，成空表加一串待处理结点，逐个用头插法插回，头插天然反序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81544" y="3634740"/>
            <a:ext cx="3568903" cy="5882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循环里四行有次序：先摘下、再存后继、最后两句头插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81544" y="4296156"/>
            <a:ext cx="3568903" cy="5882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空间 O(1)：没有新开结点；时间 O(n)：每个结点摘下重接一次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8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17</a:t>
            </a:r>
            <a:endParaRPr lang="en-US" sz="1000" dirty="0"/>
          </a:p>
        </p:txBody>
      </p:sp>
      <p:sp>
        <p:nvSpPr>
          <p:cNvPr id="3" name="p08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原地逆置 · 循环版</a:t>
            </a:r>
            <a:endParaRPr lang="en-US" sz="1400" dirty="0"/>
          </a:p>
        </p:txBody>
      </p:sp>
      <p:sp>
        <p:nvSpPr>
          <p:cNvPr id="4" name="p08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循环单链表逆置：终止条件换 p 不等于 L，结尾接环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95728"/>
            <a:ext cx="6629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2706624"/>
            <a:ext cx="6592824" cy="2606040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816352"/>
            <a:ext cx="6263640" cy="23865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InvertedList(LinkList &amp;L){
    if(L == NULL || L-&gt;next == NULL) return;
    LNode *p = L-&gt;next, *temp, *rear = p;   // rear 记下原首元
    L-&gt;next = NULL;
    while(p != L){                          // 与普通版差①：终止条件
        temp = p; p = p-&gt;next;
        temp-&gt;next = L-&gt;next; L-&gt;next = temp;
    }
    rear-&gt;next = L;                         // 差②：把环接回去
}
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08392" y="2395728"/>
            <a:ext cx="3660343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读代码时留意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892644" y="2706624"/>
            <a:ext cx="822960" cy="504749"/>
          </a:xfrm>
          <a:prstGeom prst="rect">
            <a:avLst/>
          </a:prstGeom>
          <a:solidFill>
            <a:srgbClr val="F5F6F7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02879" y="2706624"/>
            <a:ext cx="0" cy="504749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92644" y="2706624"/>
            <a:ext cx="510235" cy="5047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02879" y="2706624"/>
            <a:ext cx="312725" cy="5047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715604" y="2706624"/>
            <a:ext cx="822960" cy="5047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25839" y="2706624"/>
            <a:ext cx="0" cy="504749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15604" y="2706624"/>
            <a:ext cx="510235" cy="5047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25839" y="2706624"/>
            <a:ext cx="312725" cy="5047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538564" y="2706624"/>
            <a:ext cx="822960" cy="5047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48799" y="2706624"/>
            <a:ext cx="0" cy="504749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38564" y="2706624"/>
            <a:ext cx="510235" cy="5047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48799" y="2706624"/>
            <a:ext cx="312725" cy="5047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361524" y="2706624"/>
            <a:ext cx="822960" cy="5047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B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71759" y="2706624"/>
            <a:ext cx="0" cy="504749"/>
          </a:xfrm>
          <a:prstGeom prst="line">
            <a:avLst/>
          </a:prstGeom>
          <a:noFill/>
          <a:ln w="12700">
            <a:solidFill>
              <a:srgbClr val="D8DB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61524" y="2706624"/>
            <a:ext cx="510235" cy="5047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871759" y="2706624"/>
            <a:ext cx="312725" cy="5047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↻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81544" y="3730752"/>
            <a:ext cx="3568903" cy="5882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两处差异：走到 L 停止；最后 rear-&gt;next = L 接回环。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81544" y="4392168"/>
            <a:ext cx="3568903" cy="5882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rear 是原首元结点，逆置后成为尾结点。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9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真题·2025</a:t>
            </a:r>
            <a:endParaRPr lang="en-US" sz="1300" dirty="0"/>
          </a:p>
        </p:txBody>
      </p:sp>
      <p:sp>
        <p:nvSpPr>
          <p:cNvPr id="5" name="p09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倒数第k · 方法一</a:t>
            </a:r>
            <a:endParaRPr lang="en-US" sz="1400" dirty="0"/>
          </a:p>
        </p:txBody>
      </p:sp>
      <p:sp>
        <p:nvSpPr>
          <p:cNvPr id="6" name="p09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快慢指针：q 先走 k 步，再两个人一起走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6629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41248" y="2706624"/>
            <a:ext cx="6592824" cy="2377440"/>
          </a:xfrm>
          <a:prstGeom prst="roundRect">
            <a:avLst>
              <a:gd name="adj" fmla="val 1923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816352"/>
            <a:ext cx="6263640" cy="21579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findK(LinkList &amp;L, int k){
    if(k &lt;= 0) return 0;
    LNode *p = L, *q = L;
    while(k != 0 &amp;&amp; q != NULL){ q = q-&gt;next; k--; }   // q 先走 k 步
    if(q == NULL) return 0;                            // k 超过表长
    while(q != NULL){ q = q-&gt;next; p = p-&gt;next; }      // 两个一起走
    printf("%d", p-&gt;data);
    return 1;
}
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08392" y="2395728"/>
            <a:ext cx="3660343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读代码时留意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81544" y="2706624"/>
            <a:ext cx="3568903" cy="5882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思想：q 先走 k 步，然后 p 与 q 同步走，q 到表尾时 p 恰好落后 k 个结点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81544" y="3368040"/>
            <a:ext cx="3568903" cy="8549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p 与 q 都从头结点 L 出发：头结点算一个位置正好抵消，p 指的才是倒数第 k 个数据结点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81544" y="4296156"/>
            <a:ext cx="3568903" cy="5882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一趟 O(n)、空间 O(1)；k 超过表长时 q 先变成 NULL，返回 0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0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17</a:t>
            </a:r>
            <a:endParaRPr lang="en-US" sz="1000" dirty="0"/>
          </a:p>
        </p:txBody>
      </p:sp>
      <p:sp>
        <p:nvSpPr>
          <p:cNvPr id="3" name="p10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倒数第k · 方法二</a:t>
            </a:r>
            <a:endParaRPr lang="en-US" sz="1400" dirty="0"/>
          </a:p>
        </p:txBody>
      </p:sp>
      <p:sp>
        <p:nvSpPr>
          <p:cNvPr id="4" name="p10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辅助栈：全部压栈再弹 k 次，两法对比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95728"/>
            <a:ext cx="6629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2706624"/>
            <a:ext cx="6592824" cy="2377440"/>
          </a:xfrm>
          <a:prstGeom prst="roundRect">
            <a:avLst>
              <a:gd name="adj" fmla="val 1923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816352"/>
            <a:ext cx="6263640" cy="21579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findK(LinkList &amp;L, int k){
    SqStack S; InitStack(S);
    LNode *p = L-&gt;next;
    while(p != NULL){ Push(S, p); p = p-&gt;next; }   // 全部进栈
    int i = 0;
    while(!IsEmpty(S) &amp;&amp; i &lt; k){ Pop(S, p); i++; } // 弹 k 次
    if(i == k){ printf("%d", p-&gt;data); return 1; }
    else return 0;
}
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08392" y="2395728"/>
            <a:ext cx="3660343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读代码时留意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7708392" y="2706624"/>
          <a:ext cx="3660344" cy="1261872"/>
        </p:xfrm>
        <a:graphic>
          <a:graphicData uri="http://schemas.openxmlformats.org/drawingml/2006/table">
            <a:tbl>
              <a:tblPr/>
              <a:tblGrid>
                <a:gridCol w="915086"/>
                <a:gridCol w="915086"/>
                <a:gridCol w="915086"/>
                <a:gridCol w="915086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方法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时间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空间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什么时候用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快慢指针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O(1)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只要倒数第 k 个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辅助栈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倒数第 k 到倒数第 1 全输出这类变体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1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真题·2021</a:t>
            </a:r>
            <a:endParaRPr lang="en-US" sz="1300" dirty="0"/>
          </a:p>
        </p:txBody>
      </p:sp>
      <p:sp>
        <p:nvSpPr>
          <p:cNvPr id="5" name="p11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条件删除 · 模板4</a:t>
            </a:r>
            <a:endParaRPr lang="en-US" sz="1400" dirty="0"/>
          </a:p>
        </p:txBody>
      </p:sp>
      <p:sp>
        <p:nvSpPr>
          <p:cNvPr id="6" name="p11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条件删除：pre 跟着 p 走，删完 p 从 pre 后面重新取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6629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41248" y="2706624"/>
            <a:ext cx="6592824" cy="2606040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816352"/>
            <a:ext cx="6263640" cy="23865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DeleteIf(LinkList &amp;L, int x){          // 删除所有大于 x 的结点
    LNode *pre = L, *p = L-&gt;next, *temp;
    while(p != NULL){
        if(p-&gt;data &gt; x){
            temp = p; pre-&gt;next = p-&gt;next;  // 先摘链
            free(temp);
            p = pre-&gt;next;                  // pre 不动，p 重新取
        }else{ pre = p; p = p-&gt;next; }     // 不删才一起走
    }
}
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08392" y="2395728"/>
            <a:ext cx="3660343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读代码时留意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81544" y="2706624"/>
            <a:ext cx="3568903" cy="8549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单链表没有前驱指针，删 p 必须记住前驱 pre；摘链顺序是先改 pre 的 next，再 free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81544" y="3634740"/>
            <a:ext cx="3568903" cy="8549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删完 pre 不动，p 从 pre 的 next 重新取：下一个待检查的结点紧跟在 pre 后面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81544" y="4562856"/>
            <a:ext cx="3568903" cy="5882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删掉后还写 pre 等于 p，就跳过了下一个待检查的结点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2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/ 17</a:t>
            </a:r>
            <a:endParaRPr lang="en-US" sz="1000" dirty="0"/>
          </a:p>
        </p:txBody>
      </p:sp>
      <p:sp>
        <p:nvSpPr>
          <p:cNvPr id="3" name="p12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条件删除推演</a:t>
            </a:r>
            <a:endParaRPr lang="en-US" sz="1400" dirty="0"/>
          </a:p>
        </p:txBody>
      </p:sp>
      <p:sp>
        <p:nvSpPr>
          <p:cNvPr id="4" name="p12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条件删除：pre 留在原位，p 接着检查（点击看结点如何变化）</a:t>
            </a:r>
            <a:endParaRPr lang="en-US" sz="2800" dirty="0"/>
          </a:p>
        </p:txBody>
      </p:sp>
      <p:pic>
        <p:nvPicPr>
          <p:cNvPr id="5" name="p12:initial" descr="D:\Program Project\SpecialtyCourses\课件\C2\C2-B-优化版\C2-B-01\assets\C2-B-01-p12-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32304"/>
            <a:ext cx="10360152" cy="3337560"/>
          </a:xfrm>
          <a:prstGeom prst="rect">
            <a:avLst/>
          </a:prstGeom>
        </p:spPr>
      </p:pic>
      <p:pic>
        <p:nvPicPr>
          <p:cNvPr id="6" name="p12:s1" descr="D:\Program Project\SpecialtyCourses\课件\C2\C2-B-优化版\C2-B-01\assets\C2-B-01-p12-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32304"/>
            <a:ext cx="10360152" cy="3337560"/>
          </a:xfrm>
          <a:prstGeom prst="rect">
            <a:avLst/>
          </a:prstGeom>
        </p:spPr>
      </p:pic>
      <p:pic>
        <p:nvPicPr>
          <p:cNvPr id="7" name="p12:s2" descr="D:\Program Project\SpecialtyCourses\课件\C2\C2-B-优化版\C2-B-01\assets\C2-B-01-p12-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432304"/>
            <a:ext cx="10360152" cy="3337560"/>
          </a:xfrm>
          <a:prstGeom prst="rect">
            <a:avLst/>
          </a:prstGeom>
        </p:spPr>
      </p:pic>
      <p:pic>
        <p:nvPicPr>
          <p:cNvPr id="8" name="p12:s3" descr="D:\Program Project\SpecialtyCourses\课件\C2\C2-B-优化版\C2-B-01\assets\C2-B-01-p12-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432304"/>
            <a:ext cx="10360152" cy="3337560"/>
          </a:xfrm>
          <a:prstGeom prst="rect">
            <a:avLst/>
          </a:prstGeom>
        </p:spPr>
      </p:pic>
      <p:pic>
        <p:nvPicPr>
          <p:cNvPr id="9" name="p12:s4" descr="D:\Program Project\SpecialtyCourses\课件\C2\C2-B-优化版\C2-B-01\assets\C2-B-01-p12-s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432304"/>
            <a:ext cx="10360152" cy="3337560"/>
          </a:xfrm>
          <a:prstGeom prst="rect">
            <a:avLst/>
          </a:prstGeom>
        </p:spPr>
      </p:pic>
      <p:pic>
        <p:nvPicPr>
          <p:cNvPr id="10" name="p12:s5" descr="D:\Program Project\SpecialtyCourses\课件\C2\C2-B-优化版\C2-B-01\assets\C2-B-01-p12-s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2432304"/>
            <a:ext cx="10360152" cy="33375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3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/ 17</a:t>
            </a:r>
            <a:endParaRPr lang="en-US" sz="1000" dirty="0"/>
          </a:p>
        </p:txBody>
      </p:sp>
      <p:sp>
        <p:nvSpPr>
          <p:cNvPr id="3" name="p13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交换相邻 · 双链表</a:t>
            </a:r>
            <a:endParaRPr lang="en-US" sz="1400" dirty="0"/>
          </a:p>
        </p:txBody>
      </p:sp>
      <p:sp>
        <p:nvSpPr>
          <p:cNvPr id="4" name="p13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交换相邻结点：外部连接先接好，再改内部</a:t>
            </a:r>
            <a:endParaRPr lang="en-US" sz="2800" dirty="0"/>
          </a:p>
        </p:txBody>
      </p:sp>
      <p:pic>
        <p:nvPicPr>
          <p:cNvPr id="5" name="p13:initial" descr="D:\Program Project\SpecialtyCourses\课件\C2\C2-B-优化版\C2-B-01\assets\C2-B-01-p13-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78608"/>
            <a:ext cx="5321808" cy="2971800"/>
          </a:xfrm>
          <a:prstGeom prst="rect">
            <a:avLst/>
          </a:prstGeom>
        </p:spPr>
      </p:pic>
      <p:pic>
        <p:nvPicPr>
          <p:cNvPr id="6" name="p13:s1" descr="D:\Program Project\SpecialtyCourses\课件\C2\C2-B-优化版\C2-B-01\assets\C2-B-01-p13-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578608"/>
            <a:ext cx="5321808" cy="2971800"/>
          </a:xfrm>
          <a:prstGeom prst="rect">
            <a:avLst/>
          </a:prstGeom>
        </p:spPr>
      </p:pic>
      <p:pic>
        <p:nvPicPr>
          <p:cNvPr id="7" name="p13:s2" descr="D:\Program Project\SpecialtyCourses\课件\C2\C2-B-优化版\C2-B-01\assets\C2-B-01-p13-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578608"/>
            <a:ext cx="5321808" cy="2971800"/>
          </a:xfrm>
          <a:prstGeom prst="rect">
            <a:avLst/>
          </a:prstGeom>
        </p:spPr>
      </p:pic>
      <p:pic>
        <p:nvPicPr>
          <p:cNvPr id="8" name="p13:s3" descr="D:\Program Project\SpecialtyCourses\课件\C2\C2-B-优化版\C2-B-01\assets\C2-B-01-p13-s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2578608"/>
            <a:ext cx="5321808" cy="2971800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841248" y="2578608"/>
            <a:ext cx="4800600" cy="2157984"/>
          </a:xfrm>
          <a:prstGeom prst="roundRect">
            <a:avLst>
              <a:gd name="adj" fmla="val 2119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987552" y="2688336"/>
            <a:ext cx="4507992" cy="1938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exchange(DNode *p, DNode *q){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p-&gt;prior-&gt;next = q;  q-&gt;next-&gt;prior = p;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p-&gt;next = q-&gt;next;   q-&gt;prior = p-&gt;prior;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p-&gt;prior = q;        q-&gt;next = p;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p13:caption"/>
          <p:cNvSpPr/>
          <p:nvPr/>
        </p:nvSpPr>
        <p:spPr>
          <a:xfrm>
            <a:off x="841248" y="4882896"/>
            <a:ext cx="4800600" cy="6766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三次点击：先接外部，再改自身，最后互指。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4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 / 17</a:t>
            </a:r>
            <a:endParaRPr lang="en-US" sz="1000" dirty="0"/>
          </a:p>
        </p:txBody>
      </p:sp>
      <p:sp>
        <p:nvSpPr>
          <p:cNvPr id="3" name="p14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模板卡</a:t>
            </a:r>
            <a:endParaRPr lang="en-US" sz="1400" dirty="0"/>
          </a:p>
        </p:txBody>
      </p:sp>
      <p:sp>
        <p:nvSpPr>
          <p:cNvPr id="4" name="p14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本节四张模板卡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822960" y="2395728"/>
          <a:ext cx="10545776" cy="2103120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适用场景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骨架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复杂度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模板1 头插法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逆置、建表、归并成递减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摘下、存后继、两句头插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O(n) 与 O(1)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模板2 快慢指针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倒数第 k、找中点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q 先走 k 步再同步走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O(n) 与 O(1)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模板4 条件删除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按条件删一批结点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pre 跟随，删完 p 重新取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O(n) 与 O(1)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模板14 辅助栈逆序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倒数第 k 及输出变体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全部压栈再弹 k 次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O(n) 与 O(n)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727448"/>
            <a:ext cx="10545775" cy="3589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考过哪里：模板1——2023循环段倒置、2022多项式分解、2021比x小者递减排列；模板2——2025年、408统考2019年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5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 / 17</a:t>
            </a:r>
            <a:endParaRPr lang="en-US" sz="1000" dirty="0"/>
          </a:p>
        </p:txBody>
      </p:sp>
      <p:sp>
        <p:nvSpPr>
          <p:cNvPr id="3" name="p15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小结与课后任务</a:t>
            </a:r>
            <a:endParaRPr lang="en-US" sz="1400" dirty="0"/>
          </a:p>
        </p:txBody>
      </p:sp>
      <p:sp>
        <p:nvSpPr>
          <p:cNvPr id="4" name="p15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四个算法一张表，两道课后题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95728"/>
            <a:ext cx="6629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本节速查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822960" y="2706624"/>
          <a:ext cx="6629400" cy="2139696"/>
        </p:xfrm>
        <a:graphic>
          <a:graphicData uri="http://schemas.openxmlformats.org/drawingml/2006/table">
            <a:tbl>
              <a:tblPr/>
              <a:tblGrid>
                <a:gridCol w="2209800"/>
                <a:gridCol w="2209800"/>
                <a:gridCol w="2209800"/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算法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关键动作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最容易错的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原地逆置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断成空表、逐个头插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忘了先存后继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循环逆置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终止条件 p 不等于 L、rear 接环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照抄 p 不等于 NULL 死循环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倒数第k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q 先走 k 步再同步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起点不是 L 会差一位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条件删除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pre 跟随、删完 p 重取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删完 pre 错动跳结点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交换相邻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六条赋值、⑤⑥最后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⑤⑥提前旧值丢失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08392" y="2395728"/>
            <a:ext cx="3660343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课后练习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81544" y="2706624"/>
            <a:ext cx="3568903" cy="5501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b="1" dirty="0">
                <a:solidFill>
                  <a:srgbClr val="000000"/>
                </a:solidFill>
              </a:rPr>
              <a:t>跟练题</a:t>
            </a:r>
            <a:r>
              <a:rPr lang="en-US" sz="1300" dirty="0">
                <a:solidFill>
                  <a:srgbClr val="000000"/>
                </a:solidFill>
              </a:rPr>
              <a:t>：默写原地逆置（普通版）与快慢指针求倒数第 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81544" y="3329940"/>
            <a:ext cx="3568903" cy="7978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300" b="1" dirty="0">
                <a:solidFill>
                  <a:srgbClr val="000000"/>
                </a:solidFill>
              </a:rPr>
              <a:t>变式题</a:t>
            </a:r>
            <a:r>
              <a:rPr lang="en-US" sz="1300" dirty="0">
                <a:solidFill>
                  <a:srgbClr val="000000"/>
                </a:solidFill>
              </a:rPr>
              <a:t>：2算12,删除区间内结点，条件删除同族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08392" y="4292346"/>
            <a:ext cx="3660343" cy="3017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参考答案在 PPT 最后两页，课后自行对照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6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 / 17</a:t>
            </a:r>
            <a:endParaRPr lang="en-US" sz="1000" dirty="0"/>
          </a:p>
        </p:txBody>
      </p:sp>
      <p:sp>
        <p:nvSpPr>
          <p:cNvPr id="3" name="p16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跟练题</a:t>
            </a:r>
            <a:endParaRPr lang="en-US" sz="1400" dirty="0"/>
          </a:p>
        </p:txBody>
      </p:sp>
      <p:sp>
        <p:nvSpPr>
          <p:cNvPr id="4" name="p16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跟练题参考答案（自行对照）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6592824" cy="2843784"/>
          </a:xfrm>
          <a:prstGeom prst="roundRect">
            <a:avLst>
              <a:gd name="adj" fmla="val 1608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6263640" cy="2624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InvertedList(LinkList &amp;L){
    LNode *p = L-&gt;next, *temp;  L-&gt;next = NULL;
    while(p != NULL){ temp = p;  p = p-&gt;next;
        temp-&gt;next = L-&gt;next;  L-&gt;next = temp; }
}
int findK(LinkList &amp;L, int k){
    LNode *p = L, *q = L;
    while(k != 0 &amp;&amp; q != NULL){ q = q-&gt;next; k--; }
    if(q == NULL) return 0;
    while(q != NULL){ q = q-&gt;next; p = p-&gt;next; }
    printf("%d", p-&gt;data);  return 1;
}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08392" y="2395728"/>
            <a:ext cx="3660343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核对要点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81544" y="2706624"/>
            <a:ext cx="3568903" cy="5882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逆置关键：先断成空表、先存后继再头插；空间 O(1)、时间 O(n)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81544" y="3368040"/>
            <a:ext cx="3568903" cy="5882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快慢指针关键：p、q 都从头结点 L 出发；一趟 O(n)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7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 / 17</a:t>
            </a:r>
            <a:endParaRPr lang="en-US" sz="1000" dirty="0"/>
          </a:p>
        </p:txBody>
      </p:sp>
      <p:sp>
        <p:nvSpPr>
          <p:cNvPr id="3" name="p17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变式题</a:t>
            </a:r>
            <a:endParaRPr lang="en-US" sz="1400" dirty="0"/>
          </a:p>
        </p:txBody>
      </p:sp>
      <p:sp>
        <p:nvSpPr>
          <p:cNvPr id="4" name="p17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变式题参考答案（自行对照）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95728"/>
            <a:ext cx="6629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41248" y="2706624"/>
            <a:ext cx="6592824" cy="2377440"/>
          </a:xfrm>
          <a:prstGeom prst="roundRect">
            <a:avLst>
              <a:gd name="adj" fmla="val 1923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816352"/>
            <a:ext cx="6263640" cy="21579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DeleteRange(LinkList &amp;L, int mink, int maxk){
    LNode *pre = L, *p = L-&gt;next, *temp;
    while(p != NULL){
        if(p-&gt;data &gt; mink &amp;&amp; p-&gt;data &lt; maxk){
            temp = p;  pre-&gt;next = p-&gt;next;  free(temp);
            p = pre-&gt;next;
        }else{ pre = p;  p = p-&gt;next; }
    }
}
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08392" y="2395728"/>
            <a:ext cx="3660343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读代码时留意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81544" y="2706624"/>
            <a:ext cx="3568903" cy="5882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2算17 就地逆置：与跟练一同一算法，见前一页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81544" y="3368040"/>
            <a:ext cx="3568903" cy="5882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2算6 倒数第 k：与跟练二同法，注意 p、q 都从头结点出发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81544" y="4029456"/>
            <a:ext cx="3568903" cy="8549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2算12 删除区间内结点：条件删除同族，把判断改为 data 大于 mink 且小于 maxk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5060</Words>
  <Application>WPS 演示</Application>
  <PresentationFormat>On-screen Show (16:9)</PresentationFormat>
  <Paragraphs>406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导学＋线性表算法一</dc:title>
  <dc:creator>牙膏学长</dc:creator>
  <dc:subject>PptxGenJS Presentation</dc:subject>
  <cp:lastModifiedBy>倾殇醉</cp:lastModifiedBy>
  <cp:revision>4</cp:revision>
  <dcterms:created xsi:type="dcterms:W3CDTF">2026-10-03T18:08:00Z</dcterms:created>
  <dcterms:modified xsi:type="dcterms:W3CDTF">2026-10-04T08:46:51Z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22B27955DACE41D8A3DB7C22B2902C14_12</vt:lpwstr>
  </property>
</Properties>
</file>