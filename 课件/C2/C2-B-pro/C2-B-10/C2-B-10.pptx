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1" r:id="rId18"/>
    <p:sldId id="272" r:id="rId19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第10节 排序算法二：选择、归并与比较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阶段：强化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p0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简单选择</a:t>
            </a:r>
            <a:endParaRPr lang="en-US" sz="1400" dirty="0"/>
          </a:p>
        </p:txBody>
      </p:sp>
      <p:sp>
        <p:nvSpPr>
          <p:cNvPr id="4" name="p0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简单选择：哨兵位存的是下标，不是值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6547104" cy="2212848"/>
          </a:xfrm>
          <a:prstGeom prst="roundRect">
            <a:avLst>
              <a:gd name="adj" fmla="val 2066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217920" cy="1993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SelectSort(SqList &amp;L){                   // 数据存 L.data[1..length]
    for(int i = 1; i &lt; L.length; i++){
        L.data[0] = i;                        // 哨兵位存当前最小值的下标
        for(int j = i+1; j &lt;= L.length; j++)
            if(L.data[j] &lt; L.data[L.data[0]]) L.data[0] = j;
        if(L.data[0] != i){ int tmp = L.data[i];
            L.data[i] = L.data[L.data[0]];  L.data[L.data[0]] = tmp; }
    }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35824" y="2395728"/>
            <a:ext cx="361462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A[0] 存当前最小值的下标 i；比较时用 L.data[L.data[0]] 取对应值。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35824" y="3019044"/>
            <a:ext cx="361462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最后一趟只剩一个元素，不必再找最小值；找到最小值时仍须扫描到 length。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62672" y="3733800"/>
            <a:ext cx="3706063" cy="4922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 O(n²)、空间 O(1)；交换可能改变相同值的相对次序，因此不稳定。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p0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堆排序 · 定义</a:t>
            </a:r>
            <a:endParaRPr lang="en-US" sz="1400" dirty="0"/>
          </a:p>
        </p:txBody>
      </p:sp>
      <p:sp>
        <p:nvSpPr>
          <p:cNvPr id="4" name="p0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大根堆：父结点与孩子的下标关系</a:t>
            </a:r>
            <a:endParaRPr lang="en-US" sz="2800" dirty="0"/>
          </a:p>
        </p:txBody>
      </p:sp>
      <p:pic>
        <p:nvPicPr>
          <p:cNvPr id="5" name="Image 0" descr="D:\Program Project\SpecialtyCourses\assets\diagrams\b10-he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395728"/>
            <a:ext cx="5715000" cy="2148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78624" y="2395728"/>
            <a:ext cx="407182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i 的左孩子为 2i，右孩子为 2i+1，父结点为 ⌊i/2⌋。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278624" y="3019044"/>
            <a:ext cx="407182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大根堆要求父结点不小于孩子；堆顶是当前最大值。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05472" y="3733800"/>
            <a:ext cx="4163263" cy="2827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排序先建堆，再反复交换堆顶与末尾、缩小范围并调整。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p0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堆排序 · HeapAdjust</a:t>
            </a:r>
            <a:endParaRPr lang="en-US" sz="1400" dirty="0"/>
          </a:p>
        </p:txBody>
      </p:sp>
      <p:sp>
        <p:nvSpPr>
          <p:cNvPr id="4" name="p0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HeapAdjust 逐行：哨兵存待下沉结点，选较大的孩子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42316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22037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HeapAdjust(int arr[], int k, int len){   // 把 arr[k] 往下沉到合适位置
    arr[0] = arr[k];                          // 哨兵存待下沉的结点
    for(int i = 2*k; i &lt;= len; i *= 2){       // i 从 k 的左孩子起，每轮翻倍到下一层
        if(i &lt; len &amp;&amp; arr[i+1] &gt; arr[i]) i++; // 选较大的孩子（i&lt;len 防越界）
        if(arr[0] &gt;= arr[i]) break;           // 已不小于孩子，到位
        arr[k] = arr[i];                      // 大孩子上移
        k = i;                                // 继续往下比
    }
    arr[k] = arr[0];                          // 哨兵里的值落到最终位置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1540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四个关键点：① i*=2 是往下一层不是逐个遍历；② i&lt;len 防止只有左孩子时读 arr[i+1] 越界；③ arr[0]&gt;=arr[i] 就 break（大根堆只要求父不小于子）；④ 循环结束哨兵值落位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94192" y="4101084"/>
            <a:ext cx="2974543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 O(logn)（树高）；题集 10选22、10选30 可用于练习下标关系和结点下沉过程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p0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HeapAdjust · 过程页</a:t>
            </a:r>
            <a:endParaRPr lang="en-US" sz="1400" dirty="0"/>
          </a:p>
        </p:txBody>
      </p:sp>
      <p:sp>
        <p:nvSpPr>
          <p:cNvPr id="4" name="p0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七元素数组调整 k=2：下沉过程（拿纸跟画）</a:t>
            </a:r>
            <a:endParaRPr lang="en-US" sz="2800" dirty="0"/>
          </a:p>
        </p:txBody>
      </p:sp>
      <p:pic>
        <p:nvPicPr>
          <p:cNvPr id="5" name="p05:initial" descr="D:\Program Project\SpecialtyCourses\课件\C2\C2-B-pro\C2-B-10\assets\C2-B-10-p05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6" name="p05:s1" descr="D:\Program Project\SpecialtyCourses\课件\C2\C2-B-pro\C2-B-10\assets\C2-B-10-p05-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7" name="p05:s2" descr="D:\Program Project\SpecialtyCourses\课件\C2\C2-B-pro\C2-B-10\assets\C2-B-10-p05-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8" name="p05:s3" descr="D:\Program Project\SpecialtyCourses\课件\C2\C2-B-pro\C2-B-10\assets\C2-B-10-p05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p0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堆排序 · 建堆与主循环</a:t>
            </a:r>
            <a:endParaRPr lang="en-US" sz="1400" dirty="0"/>
          </a:p>
        </p:txBody>
      </p:sp>
      <p:sp>
        <p:nvSpPr>
          <p:cNvPr id="4" name="p0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建堆为什么从 len/2 开始，排序主循环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6547104" cy="2002536"/>
          </a:xfrm>
          <a:prstGeom prst="roundRect">
            <a:avLst>
              <a:gd name="adj" fmla="val 2283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21792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HeapSort(int arr[], int len){
    if(arr == NULL || len &lt;= 1) return;
    for(int i = len/2; i &gt; 0; i--) HeapAdjust(arr, i, len);  // 建堆
    while(len &gt; 1){
        int tmp = arr[1]; arr[1] = arr[len]; arr[len] = tmp; // 堆顶与末尾交换
        HeapAdjust(arr, 1, --len);                           // 剩下 len-1 个重调
    }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35824" y="2395728"/>
            <a:ext cx="361462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len/2 是最后一个非叶结点；更大的下标都是叶子，不需调整。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35824" y="3019044"/>
            <a:ext cx="361462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从 len/2 倒序下沉，处理父结点时两棵子树已是堆。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35824" y="3642360"/>
            <a:ext cx="361462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排序每轮交换根与末尾，len 减1后重新调整根。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62672" y="4357116"/>
            <a:ext cx="3706063" cy="2827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 O(nlogn)、空间 O(1)、不稳定。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7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p07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二路归并 · Merge</a:t>
            </a:r>
            <a:endParaRPr lang="en-US" sz="1400" dirty="0"/>
          </a:p>
        </p:txBody>
      </p:sp>
      <p:sp>
        <p:nvSpPr>
          <p:cNvPr id="4" name="p07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Merge：三个指针、两个收尾循环、取等号保稳定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42316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22037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Merge(SqList &amp;L, SqList &amp;T, int low, int mid, int high){
    int p = low, q = mid+1, k = low;
    while(p &lt;= mid &amp;&amp; q &lt;= high){
        if(L.data[p] &lt;= L.data[q]) T.data[k++] = L.data[p++];  // 取等号保稳定
        else T.data[k++] = L.data[q++];
    }
    while(p &lt;= mid) T.data[k++] = L.data[p++];    // 收尾两个循环
    while(q &lt;= high) T.data[k++] = L.data[q++];
    for(int i = low; i &lt;= high; i++) L.data[i] = T.data[i];  // 拷回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1045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三个指针：p 扫左半段 [low,mid]、q 扫右半段 [mid+1,high]、k 写辅助表 T；谁小取谁，取完一段另一段整体收尾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514344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&lt;= 保证稳定性：相等时先取左半段的，相同值的相对次序不变——写成 &lt; 就不稳定了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94192" y="4476750"/>
            <a:ext cx="2974543" cy="758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两个收尾循环不能只写一个：p 与 q 谁没走完就接谁；最后把 T 拷回 L 的 [low,high]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8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p08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二路归并 · MergeSort</a:t>
            </a:r>
            <a:endParaRPr lang="en-US" sz="1400" dirty="0"/>
          </a:p>
        </p:txBody>
      </p:sp>
      <p:sp>
        <p:nvSpPr>
          <p:cNvPr id="4" name="p08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MergeSort 递归式与复杂度推导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002536"/>
          </a:xfrm>
          <a:prstGeom prst="roundRect">
            <a:avLst>
              <a:gd name="adj" fmla="val 2283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MergeSort(SqList &amp;L, SqList &amp;T, int low, int high){
    if(low &lt; high){
        int mid = (low + high) / 2;
        MergeSort(L, T, low, mid);        // 排左半
        MergeSort(L, T, mid+1, high);     // 排右半
        Merge(L, T, low, mid, high);      // 合并
    }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1045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递归式 T(n)=2T(n/2)+O(n)：用基础阶段第1节教的逐层累加——每层合并总代价 O(n)，共 logn 层，所以 O(nlogn)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514344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时间与初始序列无关（不管乱不乱都要合并 logn 层）；空间 O(n) 是辅助表 T；稳定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94192" y="4476750"/>
            <a:ext cx="2974543" cy="758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这个递归式与快排的平均情况同形，但归并的最坏也是 O(nlogn)，快排最坏会退化到 O(n²)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9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p09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逆序对 · 模板10</a:t>
            </a:r>
            <a:endParaRPr lang="en-US" sz="1400" dirty="0"/>
          </a:p>
        </p:txBody>
      </p:sp>
      <p:sp>
        <p:nvSpPr>
          <p:cNvPr id="4" name="p09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逆序对：补全 merge 函数，统计跨段计数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6912864" cy="3474720"/>
          </a:xfrm>
          <a:prstGeom prst="roundRect">
            <a:avLst>
              <a:gd name="adj" fmla="val 1316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583680" cy="32552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A[left..mid] 与 A[mid+1..right] 已分别有序
int merge(int A[], int temp[], int left, int mid, int right){
    for(int t = left; t &lt;= right; t++) temp[t] = A[t];
    int i = left, j = mid + 1, k = left, count = 0;
    while(i &lt;= mid &amp;&amp; j &lt;= right){
        if(temp[i] &lt;= temp[j]) A[k++] = temp[i++];
        else{
            count += mid - i + 1; // 左段剩余元素都大于 temp[j]
            A[k++] = temp[j++];
        }
    }
    while(i &lt;= mid) A[k++] = temp[i++];
    while(j &lt;= right) A[k++] = temp[j++];
    return count;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01584" y="2395728"/>
            <a:ext cx="3248863" cy="6263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500" dirty="0">
                <a:solidFill>
                  <a:srgbClr val="000000"/>
                </a:solidFill>
              </a:rPr>
              <a:t>先复制当前区间；i、j 扫描左右有序段，k 指向写回位置。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01584" y="3095244"/>
            <a:ext cx="3248863" cy="11978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500" dirty="0">
                <a:solidFill>
                  <a:srgbClr val="000000"/>
                </a:solidFill>
              </a:rPr>
              <a:t>右段元素较小时，左段从 i 到 mid 都与它构成逆序对；merge 返回跨段数量，MergeSort 再加上左右子段的数量。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0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p10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逆序对 · 过程页</a:t>
            </a:r>
            <a:endParaRPr lang="en-US" sz="1400" dirty="0"/>
          </a:p>
        </p:txBody>
      </p:sp>
      <p:sp>
        <p:nvSpPr>
          <p:cNvPr id="4" name="p10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六元素归并加计数逐步（拿纸跟画）</a:t>
            </a:r>
            <a:endParaRPr lang="en-US" sz="2800" dirty="0"/>
          </a:p>
        </p:txBody>
      </p:sp>
      <p:pic>
        <p:nvPicPr>
          <p:cNvPr id="5" name="p10:initial" descr="D:\Program Project\SpecialtyCourses\课件\C2\C2-B-pro\C2-B-10\assets\C2-B-10-p10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6" name="p10:s1" descr="D:\Program Project\SpecialtyCourses\课件\C2\C2-B-pro\C2-B-10\assets\C2-B-10-p10-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7" name="p10:s2" descr="D:\Program Project\SpecialtyCourses\课件\C2\C2-B-pro\C2-B-10\assets\C2-B-10-p10-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8" name="p10:s3" descr="D:\Program Project\SpecialtyCourses\课件\C2\C2-B-pro\C2-B-10\assets\C2-B-10-p10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p11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基数与外部排序</a:t>
            </a:r>
            <a:endParaRPr lang="en-US" sz="1400" dirty="0"/>
          </a:p>
        </p:txBody>
      </p:sp>
      <p:sp>
        <p:nvSpPr>
          <p:cNvPr id="4" name="p11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基数排序与外部排序：认清处理的问题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822960" y="2395728"/>
          <a:ext cx="10545775" cy="150876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适用场景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本课要求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基数排序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关键字可按位分组的整数/字符串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会看一趟分配与收集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外部排序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数据量超过内存、需磁盘归并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多路归并减少趟数；败者树加快选最小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133088"/>
            <a:ext cx="10545775" cy="3208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本页不展开代码：多路归并减少趟数，败者树加快选最小，置换选择生成较长初始段，最佳归并树减少总读写量。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p1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排序比较 · 必背表</a:t>
            </a:r>
            <a:endParaRPr lang="en-US" sz="1400" dirty="0"/>
          </a:p>
        </p:txBody>
      </p:sp>
      <p:sp>
        <p:nvSpPr>
          <p:cNvPr id="4" name="p12:title"/>
          <p:cNvSpPr/>
          <p:nvPr/>
        </p:nvSpPr>
        <p:spPr>
          <a:xfrm>
            <a:off x="2402840" y="777240"/>
            <a:ext cx="358838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排序算法比较与选择</a:t>
            </a:r>
            <a:endParaRPr lang="en-US" sz="2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25" y="1732915"/>
            <a:ext cx="10062210" cy="42837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p1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模板卡与课段小结</a:t>
            </a:r>
            <a:endParaRPr lang="en-US" sz="1400" dirty="0"/>
          </a:p>
        </p:txBody>
      </p:sp>
      <p:sp>
        <p:nvSpPr>
          <p:cNvPr id="4" name="p1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C2-B 回顾与 C3 学习安排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3657600"/>
                <a:gridCol w="137160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适用场景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骨架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模板10 归并+计数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逆序对等统计类（2020 真题）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Merge 时右半元素先出，count += 左半剩余个数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O(nlogn)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346557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C2-B 十节课涵盖线性表、栈与队列、树、图、查找和排序，介绍各类常见算法及其关键状态变化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3936492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C3 将通过具体题目练习读清题目条件、调整算法步骤、补全输出并核对边界与复杂度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4498848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本阶段学习的算法框架可作为复习索引；C3 将通过具体题目补足题意分析、输出要求与边界处理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p1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p1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堆排序跟练与插入建堆拓展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跟练题</a:t>
            </a:r>
            <a:r>
              <a:rPr lang="en-US" sz="1800" dirty="0">
                <a:solidFill>
                  <a:srgbClr val="000000"/>
                </a:solidFill>
              </a:rPr>
              <a:t>：默写 HeapAdjust 与建堆主循环、Merge；给序列 87、45、78、32、17、65、53、9、122 写出建大根堆的结果与前两趟堆排序的结果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拓展题</a:t>
            </a:r>
            <a:r>
              <a:rPr lang="en-US" sz="1800" dirty="0">
                <a:solidFill>
                  <a:srgbClr val="000000"/>
                </a:solidFill>
              </a:rPr>
              <a:t>：10算12，从已有大根堆逐个插入新关键字并上滤；与本节自底向上建堆的下滤方法不同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771900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默写要求：合上资料能写出 HeapAdjust、建堆主循环与 Merge；参考答案在本PPT最后两页，课后自行对照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p1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p1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序列 87、45、78、32、17、65、53、9、122（n=9）建大根堆：从 i=4 开始逐个 HeapAdjust，结果堆顶 122，数组为 122、87、78、45、17、65、53、9、32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第一趟：堆顶 122 与末尾 32 交换，122 就位，剩 8 个重调 → 堆顶 87；第二趟：87 与末尾交换就位 → 堆顶 78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HeapAdjust、建堆主循环与 Merge 代码见本节代码合集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建堆从 len/2=4 开始（下标5到9都是叶子）；每趟把当前最大值送到末尾，前两趟就位的是 122、87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7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p17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插入建堆拓展</a:t>
            </a:r>
            <a:endParaRPr lang="en-US" sz="1400" dirty="0"/>
          </a:p>
        </p:txBody>
      </p:sp>
      <p:sp>
        <p:nvSpPr>
          <p:cNvPr id="4" name="p17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10算12 插入建堆参考代码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6455664" cy="2788920"/>
          </a:xfrm>
          <a:prstGeom prst="roundRect">
            <a:avLst>
              <a:gd name="adj" fmla="val 1639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126480" cy="2569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H[1..len] 是大根堆，假设数组还有空位
void InsertMaxHeap(int H[], int &amp;len, int x){
    int i = ++len;
    while(i &gt; 1 &amp;&amp; H[i/2] &lt; x){
        H[i] = H[i/2];
        i /= 2;
    }
    H[i] = x;
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44384" y="2395728"/>
            <a:ext cx="3706063" cy="6263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500" dirty="0">
                <a:solidFill>
                  <a:srgbClr val="000000"/>
                </a:solidFill>
              </a:rPr>
              <a:t>新关键字先放到末尾，再沿父结点上移；父结点不小于新值时停止。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44384" y="3095244"/>
            <a:ext cx="3706063" cy="6263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500" dirty="0">
                <a:solidFill>
                  <a:srgbClr val="000000"/>
                </a:solidFill>
              </a:rPr>
              <a:t>单次插入 O(log n)；与自底向上建堆的 O(n) 不同，不能混为一种建堆过程。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4995</Words>
  <Application>WPS 演示</Application>
  <PresentationFormat>On-screen Show (16:9)</PresentationFormat>
  <Paragraphs>214</Paragraphs>
  <Slides>16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排序算法二：选择、归并与比较</dc:title>
  <dc:creator>牙膏学长</dc:creator>
  <dc:subject>PptxGenJS Presentation</dc:subject>
  <cp:lastModifiedBy>倾殇醉</cp:lastModifiedBy>
  <cp:revision>3</cp:revision>
  <dcterms:created xsi:type="dcterms:W3CDTF">2026-10-07T13:43:00Z</dcterms:created>
  <dcterms:modified xsi:type="dcterms:W3CDTF">2026-10-07T14:28:28Z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D2E725D439BD43DABBD1272064520B20_12</vt:lpwstr>
  </property>
  <property fmtid="{D5CDD505-2E9C-101B-9397-08002B2CF9AE}" pid="3" name="KSOProductBuildVer">
    <vt:lpwstr>2052-12.1.0.28505</vt:lpwstr>
  </property>
</Properties>
</file>