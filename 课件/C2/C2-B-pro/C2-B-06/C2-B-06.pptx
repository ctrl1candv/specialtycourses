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</p:sldIdLst>
  <p:sldSz cx="12191365" cy="6858000"/>
  <p:notesSz cx="6858000" cy="1219136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7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7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9.x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11.png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1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01:pageno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 / 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0" y="2148840"/>
            <a:ext cx="12191695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重邮802 数据结构代码课程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0" y="2834640"/>
            <a:ext cx="12191695" cy="1143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数据结构强化阶段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0" y="4114800"/>
            <a:ext cx="12191695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第6节 图算法一：遍历应用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0" y="4846320"/>
            <a:ext cx="12191695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阶段：强化 ｜ 主讲：牙膏学长 ｜ 预计40分钟 ｜ 资料答疑：伴梦研途QQ群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02:pageno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 / 17</a:t>
            </a:r>
            <a:endParaRPr lang="en-US" sz="1000" dirty="0"/>
          </a:p>
        </p:txBody>
      </p:sp>
      <p:sp>
        <p:nvSpPr>
          <p:cNvPr id="3" name="p02:kicker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引题</a:t>
            </a:r>
            <a:endParaRPr lang="en-US" sz="1400" dirty="0"/>
          </a:p>
        </p:txBody>
      </p:sp>
      <p:sp>
        <p:nvSpPr>
          <p:cNvPr id="4" name="p02:title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从基础 DFS/BFS 出发，处理六类图问题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96112" y="2395728"/>
            <a:ext cx="10454335" cy="3977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本节六个算法全部建在数据结构基础阶段第9节的 DFS 和 BFS 上，不引入新的遍历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96112" y="2866644"/>
            <a:ext cx="10454335" cy="3977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主要看两项：visited 如何处理，函数需要额外记录什么（深度、序列或入度表）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96112" y="3337560"/>
            <a:ext cx="10454335" cy="3977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图算法大题两大形态：路径类（两点间、经过 k、长度 k）和拓扑类（排序、验证、判唯一）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96112" y="3808476"/>
            <a:ext cx="10454335" cy="7406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数据结构基础阶段第9节留了一个问题：visited 什么时候要清掉？这一节用两个版本的代码给出答案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96112" y="4622292"/>
            <a:ext cx="10454335" cy="3977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读代码时先判断基础 DFS 是否满足题意，再看需要增加哪项状态或条件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03:pageno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 / 17</a:t>
            </a:r>
            <a:endParaRPr lang="en-US" sz="1000" dirty="0"/>
          </a:p>
        </p:txBody>
      </p:sp>
      <p:sp>
        <p:nvSpPr>
          <p:cNvPr id="3" name="p03:kicker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判连通 · 一次性标记</a:t>
            </a:r>
            <a:endParaRPr lang="en-US" sz="1400" dirty="0"/>
          </a:p>
        </p:txBody>
      </p:sp>
      <p:sp>
        <p:nvSpPr>
          <p:cNvPr id="4" name="p03:title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判两点连通：标记打了就不撤，只问能不能到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41248" y="2395728"/>
            <a:ext cx="7278624" cy="2423160"/>
          </a:xfrm>
          <a:prstGeom prst="roundRect">
            <a:avLst>
              <a:gd name="adj" fmla="val 1887"/>
            </a:avLst>
          </a:prstGeom>
          <a:solidFill>
            <a:srgbClr val="F7F9FC"/>
          </a:solidFill>
          <a:ln w="8890">
            <a:solidFill>
              <a:srgbClr val="DDE4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2505456"/>
            <a:ext cx="6949440" cy="220370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int visited[MaxVertexNum] = {0};
int Pathitoj(ALGraph G, int i, int j){
    if(i == j) return 1;
    visited[i] = 1;
    for(ArcNode *p = G.vertices[i].firstarc; p != NULL; p = p-&gt;nextarc){
        int k = p-&gt;adjvex;
        if(!visited[k] &amp;&amp; Pathitoj(G, k, j)) return 1;
    }
    return 0;                       // 注意：这里不复位 visited
}
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467344" y="2395728"/>
            <a:ext cx="2883103" cy="79781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300" dirty="0">
                <a:solidFill>
                  <a:srgbClr val="000000"/>
                </a:solidFill>
              </a:rPr>
              <a:t>思想：从 i 出发做 DFS，撞到 j 返回 1；所有邻居都试完还没撞到，返回 0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467344" y="3266694"/>
            <a:ext cx="2883103" cy="79781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300" dirty="0">
                <a:solidFill>
                  <a:srgbClr val="000000"/>
                </a:solidFill>
              </a:rPr>
              <a:t>visited 是全局数组、标记后从不复位：探过到不了 j 的顶点，留着当剪枝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467344" y="4137660"/>
            <a:ext cx="2883103" cy="79781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300" dirty="0">
                <a:solidFill>
                  <a:srgbClr val="000000"/>
                </a:solidFill>
              </a:rPr>
              <a:t>注意：再次调用前要清零 visited，避免上次搜索留下的标记影响结果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467344" y="5008626"/>
            <a:ext cx="2883103" cy="5501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300" dirty="0">
                <a:solidFill>
                  <a:srgbClr val="000000"/>
                </a:solidFill>
              </a:rPr>
              <a:t>先自己想：为什么这题可以不复位 visited？想好再往下看</a:t>
            </a:r>
            <a:endParaRPr lang="en-US" sz="13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6" grpId="1"/>
      <p:bldP spid="7" grpId="0"/>
      <p:bldP spid="8" grpId="0"/>
      <p:bldP spid="9" grpId="0"/>
      <p:bldP spid="10" grpId="0"/>
      <p:bldP spid="7" grpId="1"/>
      <p:bldP spid="8" grpId="1"/>
      <p:bldP spid="9" grpId="1"/>
      <p:bldP spid="10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04:pageno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 / 17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9082735" y="960120"/>
            <a:ext cx="22860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C039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082735" y="960120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真题·2025</a:t>
            </a:r>
            <a:endParaRPr lang="en-US" sz="1300" dirty="0"/>
          </a:p>
        </p:txBody>
      </p:sp>
      <p:sp>
        <p:nvSpPr>
          <p:cNvPr id="5" name="p04:kicker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经过k的路径 · DFS回溯</a:t>
            </a:r>
            <a:endParaRPr lang="en-US" sz="1400" dirty="0"/>
          </a:p>
        </p:txBody>
      </p:sp>
      <p:sp>
        <p:nvSpPr>
          <p:cNvPr id="6" name="p04:title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从 u 到 v 经过 k：分两段搜索，并在第二段前清零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841375" y="2215515"/>
            <a:ext cx="7278370" cy="3703320"/>
          </a:xfrm>
          <a:prstGeom prst="roundRect">
            <a:avLst>
              <a:gd name="adj" fmla="val 1401"/>
            </a:avLst>
          </a:prstGeom>
          <a:solidFill>
            <a:srgbClr val="F7F9FC"/>
          </a:solidFill>
          <a:ln w="8890">
            <a:solidFill>
              <a:srgbClr val="DDE4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2325370"/>
            <a:ext cx="6949440" cy="34131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bool checkPath(ALGraph G, int u, int v, bool visited[]){
    if(u == v) return true;
    visited[u] = true;
    for(ArcNode *p = G.vertices[u].firstarc; p != NULL; p = p-&gt;nextarc)
        if(!visited[p-&gt;adjvex] &amp;&amp; checkPath(G, p-&gt;adjvex, v, visited)) return true;
    visited[u] = false;             // 回溯：失败返回前复位
    return false;
}
bool IsExistPathGoBy(ALGraph G, int u, int k, int v){
    if(G.vexnum == 0 || G.arcnum == 0) return false;
    bool visited[MaxVertexNum] = {false};    // 固定长度数组（勘误A6写法）
    if(!checkPath(G, u, k, visited)) return false;         // 第一段：u 到 k
    for(int i = 0; i &lt; G.vexnum; i++) visited[i] = false;  // 两段之间复位
    return checkPath(G, k, v, visited); 		</a:t>
            </a:r>
            <a:r>
              <a:rPr lang="en-US" sz="11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  <a:sym typeface="+mn-ea"/>
              </a:rPr>
              <a:t>// 第二段：k 到 v</a:t>
            </a:r>
            <a:endParaRPr lang="en-US" sz="1100" dirty="0">
              <a:solidFill>
                <a:srgbClr val="1F2329"/>
              </a:solidFill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
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467344" y="2395728"/>
            <a:ext cx="2883103" cy="79781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300" dirty="0">
                <a:solidFill>
                  <a:srgbClr val="000000"/>
                </a:solidFill>
              </a:rPr>
              <a:t>思路：u 到 v 经过 k，就是 u 能到 k、并且 k 能到 v，两段都是普通的判连通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467344" y="3266694"/>
            <a:ext cx="2883103" cy="79781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300" dirty="0">
                <a:solidFill>
                  <a:srgbClr val="000000"/>
                </a:solidFill>
              </a:rPr>
              <a:t>搜索失败时回溯复位；找到路径即可返回；两段搜索之间清零 visited</a:t>
            </a:r>
            <a:endParaRPr lang="en-US" sz="13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8" grpId="1"/>
      <p:bldP spid="9" grpId="0"/>
      <p:bldP spid="10" grpId="0"/>
      <p:bldP spid="9" grpId="1"/>
      <p:bldP spid="10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05:pageno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5 / 17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9082735" y="960120"/>
            <a:ext cx="22860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C039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082735" y="960120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真题·2024</a:t>
            </a:r>
            <a:endParaRPr lang="en-US" sz="1300" dirty="0"/>
          </a:p>
        </p:txBody>
      </p:sp>
      <p:sp>
        <p:nvSpPr>
          <p:cNvPr id="5" name="p05:kicker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长度k的路径 · 带深度</a:t>
            </a:r>
            <a:endParaRPr lang="en-US" sz="1400" dirty="0"/>
          </a:p>
        </p:txBody>
      </p:sp>
      <p:sp>
        <p:nvSpPr>
          <p:cNvPr id="6" name="p05:title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长度为 k 的路径：多带一个 depth 参数，k 最大是 vexnum-1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841375" y="2080895"/>
            <a:ext cx="7278370" cy="4167505"/>
          </a:xfrm>
          <a:prstGeom prst="roundRect">
            <a:avLst>
              <a:gd name="adj" fmla="val 1401"/>
            </a:avLst>
          </a:prstGeom>
          <a:solidFill>
            <a:srgbClr val="F7F9FC"/>
          </a:solidFill>
          <a:ln w="8890">
            <a:solidFill>
              <a:srgbClr val="DDE4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2219325"/>
            <a:ext cx="6949440" cy="40119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bool DFS(ALGraph&amp; G, int i, int depth, int k, int visited[]){
    if(depth == k) return true;             // 走了 k 条边，成功
    visited[i] = 1;
    for(ArcNode* e = G.vertices[i].firstarc; e != NULL; e = e-&gt;nextarc){</a:t>
            </a:r>
            <a:endParaRPr lang="en-US" sz="1100" dirty="0">
              <a:solidFill>
                <a:srgbClr val="1F2329"/>
              </a:solidFill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int v = e-&gt;adjvex;
        if(!visited[v] &amp;&amp; DFS(G, v, depth + 1, k, visited)){</a:t>
            </a:r>
            <a:endParaRPr lang="en-US" sz="1100" dirty="0">
              <a:solidFill>
                <a:srgbClr val="1F2329"/>
              </a:solidFill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    visited[i] = 0; return true;</a:t>
            </a:r>
            <a:endParaRPr lang="en-US" sz="1100" dirty="0">
              <a:solidFill>
                <a:srgbClr val="1F2329"/>
              </a:solidFill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} }
    visited[i] = 0;                         // 回溯：失败返回前复位
    return false;
}
bool existsKSimplePath(ALGraph&amp; G, int k){
    if(k &lt; 1 || k &gt; G.vexnum - 1) return false;   // 边界：k 条边需 k+1 个顶点
    int visited[MaxVertexNum];
    for(int i = 0; i &lt; G.vexnum; i++){</a:t>
            </a:r>
            <a:endParaRPr lang="en-US" sz="1100" dirty="0">
              <a:solidFill>
                <a:srgbClr val="1F2329"/>
              </a:solidFill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for(int j = 0; j &lt; G.vexnum; j++) visited[j] = 0;
        if(DFS(G, i, 0, k, visited)) return true; </a:t>
            </a:r>
            <a:endParaRPr lang="en-US" sz="1100" dirty="0">
              <a:solidFill>
                <a:srgbClr val="1F2329"/>
              </a:solidFill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}
    return false; }
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467344" y="2395728"/>
            <a:ext cx="2883103" cy="79781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300" dirty="0">
                <a:solidFill>
                  <a:srgbClr val="000000"/>
                </a:solidFill>
              </a:rPr>
              <a:t>思想：DFS 多带一个 depth，每往下一层加 1；depth 等于 k 说明正好走出 k 条边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467344" y="3266694"/>
            <a:ext cx="2883103" cy="79781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300" dirty="0">
                <a:solidFill>
                  <a:srgbClr val="000000"/>
                </a:solidFill>
              </a:rPr>
              <a:t>k 范围 1 到 vexnum-1：简单路径不重复顶点，k 条边需 k+1 个不同顶点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467344" y="4137660"/>
            <a:ext cx="2883103" cy="5501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300" dirty="0">
                <a:solidFill>
                  <a:srgbClr val="000000"/>
                </a:solidFill>
              </a:rPr>
              <a:t>每个起点各试一遍，换起点前 visited 全部复位</a:t>
            </a:r>
            <a:endParaRPr lang="en-US" sz="13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8" grpId="1"/>
      <p:bldP spid="9" grpId="0"/>
      <p:bldP spid="10" grpId="0"/>
      <p:bldP spid="11" grpId="0"/>
      <p:bldP spid="9" grpId="1"/>
      <p:bldP spid="10" grpId="1"/>
      <p:bldP spid="11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06:pageno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6 / 17</a:t>
            </a:r>
            <a:endParaRPr lang="en-US" sz="1000" dirty="0"/>
          </a:p>
        </p:txBody>
      </p:sp>
      <p:sp>
        <p:nvSpPr>
          <p:cNvPr id="3" name="p06:kicker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对比 · visited的两种处理</a:t>
            </a:r>
            <a:endParaRPr lang="en-US" sz="1400" dirty="0"/>
          </a:p>
        </p:txBody>
      </p:sp>
      <p:sp>
        <p:nvSpPr>
          <p:cNvPr id="4" name="p06:title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visited 什么时候保留，什么时候随回溯清掉</a:t>
            </a:r>
            <a:endParaRPr lang="en-US" sz="2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/>
        </p:nvGraphicFramePr>
        <p:xfrm>
          <a:off x="822960" y="2395728"/>
          <a:ext cx="10545776" cy="1755648"/>
        </p:xfrm>
        <a:graphic>
          <a:graphicData uri="http://schemas.openxmlformats.org/drawingml/2006/table">
            <a:tbl>
              <a:tblPr/>
              <a:tblGrid>
                <a:gridCol w="2636444"/>
                <a:gridCol w="2636444"/>
                <a:gridCol w="2636444"/>
                <a:gridCol w="2636444"/>
              </a:tblGrid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任务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失败返回时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为什么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调用边界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判两点可达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保留 visited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已探过的区域再走不会找到新路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全局标记仅用于这一次搜索；再次调用前清零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枚举/寻找路径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清掉当前结点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另一条分支还可能经过它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成功可提前返回；需要继续枚举时也要完整回溯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两段分别判可达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两段之间清零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第二段从 k 重新搜索整个图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仅适用于题目允许两段独立可达的写法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1828165" y="4827270"/>
            <a:ext cx="7736840" cy="3016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若题目明确要求 u 到 v 的整条简单路径经过 k，不能把两段清零后独立拼接；应在同一次 DFS 中记录是否经过 k。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07:pageno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7 / 17</a:t>
            </a:r>
            <a:endParaRPr lang="en-US" sz="1000" dirty="0"/>
          </a:p>
        </p:txBody>
      </p:sp>
      <p:sp>
        <p:nvSpPr>
          <p:cNvPr id="3" name="p07:kicker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过程推演 · visited对比</a:t>
            </a:r>
            <a:endParaRPr lang="en-US" sz="1400" dirty="0"/>
          </a:p>
        </p:txBody>
      </p:sp>
      <p:sp>
        <p:nvSpPr>
          <p:cNvPr id="4" name="p07:title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同一张图跑两种写法：差异出在顶点 1（拿纸跟着画）</a:t>
            </a:r>
            <a:endParaRPr lang="en-US" sz="2800" dirty="0"/>
          </a:p>
        </p:txBody>
      </p:sp>
      <p:pic>
        <p:nvPicPr>
          <p:cNvPr id="5" name="p07:initial" descr="D:\Program Project\SpecialtyCourses\课件\C2\C2-B-pro\C2-B-06\assets\C2-B-06-p07-init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359152"/>
            <a:ext cx="10561320" cy="3456432"/>
          </a:xfrm>
          <a:prstGeom prst="rect">
            <a:avLst/>
          </a:prstGeom>
        </p:spPr>
      </p:pic>
      <p:pic>
        <p:nvPicPr>
          <p:cNvPr id="6" name="p07:s1" descr="D:\Program Project\SpecialtyCourses\课件\C2\C2-B-pro\C2-B-06\assets\C2-B-06-p07-s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359152"/>
            <a:ext cx="10561320" cy="3456432"/>
          </a:xfrm>
          <a:prstGeom prst="rect">
            <a:avLst/>
          </a:prstGeom>
        </p:spPr>
      </p:pic>
      <p:pic>
        <p:nvPicPr>
          <p:cNvPr id="7" name="p07:s2" descr="D:\Program Project\SpecialtyCourses\课件\C2\C2-B-pro\C2-B-06\assets\C2-B-06-p07-s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2359152"/>
            <a:ext cx="10561320" cy="3456432"/>
          </a:xfrm>
          <a:prstGeom prst="rect">
            <a:avLst/>
          </a:prstGeom>
        </p:spPr>
      </p:pic>
      <p:pic>
        <p:nvPicPr>
          <p:cNvPr id="8" name="p07:s3" descr="D:\Program Project\SpecialtyCourses\课件\C2\C2-B-pro\C2-B-06\assets\C2-B-06-p07-s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2359152"/>
            <a:ext cx="10561320" cy="345643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2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08:pageno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8 / 17</a:t>
            </a:r>
            <a:endParaRPr lang="en-US" sz="1000" dirty="0"/>
          </a:p>
        </p:txBody>
      </p:sp>
      <p:sp>
        <p:nvSpPr>
          <p:cNvPr id="3" name="p08:kicker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拓扑排序 · 入度表加栈</a:t>
            </a:r>
            <a:endParaRPr lang="en-US" sz="1400" dirty="0"/>
          </a:p>
        </p:txBody>
      </p:sp>
      <p:sp>
        <p:nvSpPr>
          <p:cNvPr id="4" name="p08:title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拓扑排序：入度 0 入栈，出栈输出并让后继入度减一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41375" y="2395855"/>
            <a:ext cx="7278370" cy="3766185"/>
          </a:xfrm>
          <a:prstGeom prst="roundRect">
            <a:avLst>
              <a:gd name="adj" fmla="val 1608"/>
            </a:avLst>
          </a:prstGeom>
          <a:solidFill>
            <a:srgbClr val="F7F9FC"/>
          </a:solidFill>
          <a:ln w="8890">
            <a:solidFill>
              <a:srgbClr val="DDE4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2505710"/>
            <a:ext cx="6949440" cy="3642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bool TopoLogicalSort(ALGraph G, int print[]){
    if(G.kind != 1) return false;               // 只有有向图才有拓扑序
    int indegree[MaxVertexNum] = {0};
    for(int i = 0; i &lt; G.vexnum; i++){</a:t>
            </a:r>
            <a:endParaRPr lang="en-US" sz="1100" dirty="0">
              <a:solidFill>
                <a:srgbClr val="1F2329"/>
              </a:solidFill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for(ArcNode *p = G.vertices[i].firstarc; p != NULL; p = p-&gt;nextarc){</a:t>
            </a:r>
            <a:endParaRPr lang="en-US" sz="1100" dirty="0">
              <a:solidFill>
                <a:srgbClr val="1F2329"/>
              </a:solidFill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    indegree[p-&gt;adjvex]++;</a:t>
            </a:r>
            <a:endParaRPr lang="en-US" sz="1100" dirty="0">
              <a:solidFill>
                <a:srgbClr val="1F2329"/>
              </a:solidFill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}}</a:t>
            </a:r>
            <a:endParaRPr lang="en-US" sz="1100" dirty="0">
              <a:solidFill>
                <a:srgbClr val="1F2329"/>
              </a:solidFill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SqStack S; InitStack(S);
    for(int i = 0; i &lt; G.vexnum; i++) if(indegree[i] == 0) Push(S, i);
    int count = 0;
    while(!IsEmpty(S)){</a:t>
            </a:r>
            <a:endParaRPr lang="en-US" sz="1100" dirty="0">
              <a:solidFill>
                <a:srgbClr val="1F2329"/>
              </a:solidFill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int u; Pop(S, u); print[count++] = u;
        for(ArcNode *p = G.vertices[u].firstarc; p != NULL; p = p-&gt;nextarc)
            if(--indegree[p-&gt;adjvex] == 0) Push(S, p-&gt;adjvex); </a:t>
            </a:r>
            <a:endParaRPr lang="en-US" sz="1100" dirty="0">
              <a:solidFill>
                <a:srgbClr val="1F2329"/>
              </a:solidFill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}
    return count == G.vexnum;                   // 输出不足说明有环
}
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467344" y="3266313"/>
            <a:ext cx="2883103" cy="79781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300" dirty="0">
                <a:solidFill>
                  <a:srgbClr val="000000"/>
                </a:solidFill>
              </a:rPr>
              <a:t>四步：求入度（数据结构基础阶段第9节的 Indegree）；入度 0 入栈；出栈输出；后继减一到 0 入栈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467344" y="4137279"/>
            <a:ext cx="2883103" cy="5501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300" dirty="0">
                <a:solidFill>
                  <a:srgbClr val="000000"/>
                </a:solidFill>
              </a:rPr>
              <a:t>栈换成队列也对：得到的拓扑序不同，但都合法（下一页推演会看见）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467344" y="4760595"/>
            <a:ext cx="2883103" cy="5501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300" dirty="0">
                <a:solidFill>
                  <a:srgbClr val="000000"/>
                </a:solidFill>
              </a:rPr>
              <a:t>先自己判断：为什么 count 小于 vexnum 就说明有环？想好再往下看</a:t>
            </a:r>
            <a:endParaRPr lang="en-US" sz="13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6" grpId="1"/>
      <p:bldP spid="7" grpId="0"/>
      <p:bldP spid="8" grpId="0"/>
      <p:bldP spid="9" grpId="0"/>
      <p:bldP spid="7" grpId="1"/>
      <p:bldP spid="8" grpId="1"/>
      <p:bldP spid="9" grpId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09:pageno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9 / 17</a:t>
            </a:r>
            <a:endParaRPr lang="en-US" sz="1000" dirty="0"/>
          </a:p>
        </p:txBody>
      </p:sp>
      <p:sp>
        <p:nvSpPr>
          <p:cNvPr id="3" name="p09:kicker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过程推演 · 拓扑排序</a:t>
            </a:r>
            <a:endParaRPr lang="en-US" sz="1400" dirty="0"/>
          </a:p>
        </p:txBody>
      </p:sp>
      <p:sp>
        <p:nvSpPr>
          <p:cNvPr id="4" name="p09:title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5 顶点 DAG 跑一遍：栈版输出 0 2 1 3 4（拿纸跟着画）</a:t>
            </a:r>
            <a:endParaRPr lang="en-US" sz="2800" dirty="0"/>
          </a:p>
        </p:txBody>
      </p:sp>
      <p:pic>
        <p:nvPicPr>
          <p:cNvPr id="5" name="p09:initial" descr="D:\Program Project\SpecialtyCourses\课件\C2\C2-B-pro\C2-B-06\assets\C2-B-06-p09-init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359152"/>
            <a:ext cx="10561320" cy="3456432"/>
          </a:xfrm>
          <a:prstGeom prst="rect">
            <a:avLst/>
          </a:prstGeom>
        </p:spPr>
      </p:pic>
      <p:pic>
        <p:nvPicPr>
          <p:cNvPr id="6" name="p09:s1" descr="D:\Program Project\SpecialtyCourses\课件\C2\C2-B-pro\C2-B-06\assets\C2-B-06-p09-s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359152"/>
            <a:ext cx="10561320" cy="3456432"/>
          </a:xfrm>
          <a:prstGeom prst="rect">
            <a:avLst/>
          </a:prstGeom>
        </p:spPr>
      </p:pic>
      <p:pic>
        <p:nvPicPr>
          <p:cNvPr id="7" name="p09:s2" descr="D:\Program Project\SpecialtyCourses\课件\C2\C2-B-pro\C2-B-06\assets\C2-B-06-p09-s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2359152"/>
            <a:ext cx="10561320" cy="3456432"/>
          </a:xfrm>
          <a:prstGeom prst="rect">
            <a:avLst/>
          </a:prstGeom>
        </p:spPr>
      </p:pic>
      <p:pic>
        <p:nvPicPr>
          <p:cNvPr id="8" name="p09:s3" descr="D:\Program Project\SpecialtyCourses\课件\C2\C2-B-pro\C2-B-06\assets\C2-B-06-p09-s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2359152"/>
            <a:ext cx="10561320" cy="3456432"/>
          </a:xfrm>
          <a:prstGeom prst="rect">
            <a:avLst/>
          </a:prstGeom>
        </p:spPr>
      </p:pic>
      <p:pic>
        <p:nvPicPr>
          <p:cNvPr id="9" name="p09:s4" descr="D:\Program Project\SpecialtyCourses\课件\C2\C2-B-pro\C2-B-06\assets\C2-B-06-p09-s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" y="2359152"/>
            <a:ext cx="10561320" cy="3456432"/>
          </a:xfrm>
          <a:prstGeom prst="rect">
            <a:avLst/>
          </a:prstGeom>
        </p:spPr>
      </p:pic>
      <p:pic>
        <p:nvPicPr>
          <p:cNvPr id="10" name="p09:s5" descr="D:\Program Project\SpecialtyCourses\课件\C2\C2-B-pro\C2-B-06\assets\C2-B-06-p09-s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960" y="2359152"/>
            <a:ext cx="10561320" cy="345643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2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10:pageno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10 / 17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9082735" y="960120"/>
            <a:ext cx="22860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C039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082735" y="960120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真题·2026</a:t>
            </a:r>
            <a:endParaRPr lang="en-US" sz="1300" dirty="0"/>
          </a:p>
        </p:txBody>
      </p:sp>
      <p:sp>
        <p:nvSpPr>
          <p:cNvPr id="5" name="p10:kicker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判拓扑序列 · 入度表</a:t>
            </a:r>
            <a:endParaRPr lang="en-US" sz="1400" dirty="0"/>
          </a:p>
        </p:txBody>
      </p:sp>
      <p:sp>
        <p:nvSpPr>
          <p:cNvPr id="6" name="p10:title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判给定序列是不是拓扑序列：按给定顺序模拟，不用真排序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841375" y="2107565"/>
            <a:ext cx="7278370" cy="3956685"/>
          </a:xfrm>
          <a:prstGeom prst="roundRect">
            <a:avLst>
              <a:gd name="adj" fmla="val 1389"/>
            </a:avLst>
          </a:prstGeom>
          <a:solidFill>
            <a:srgbClr val="F7F9FC"/>
          </a:solidFill>
          <a:ln w="8890">
            <a:solidFill>
              <a:srgbClr val="DDE4EF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1005840" y="2191385"/>
            <a:ext cx="6949440" cy="37185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bool IsTopoSeq(ALGraph G, int seq[], int n){</a:t>
            </a:r>
            <a:endParaRPr lang="en-US" sz="12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if(n != G.vexnum || G.vexnum == 0) return false;</a:t>
            </a:r>
            <a:endParaRPr lang="en-US" sz="12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int indegree[MaxVertexNum] = {0};</a:t>
            </a:r>
            <a:endParaRPr lang="en-US" sz="12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bool seen[MaxVertexNum] = {false};</a:t>
            </a:r>
            <a:endParaRPr lang="en-US" sz="12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for(int i=0;i&lt;G.vexnum;i++)</a:t>
            </a:r>
            <a:endParaRPr lang="en-US" sz="12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for(ArcNode *p=G.vertices[i].firstarc;p!=NULL;p=p-&gt;nextarc) indegree[p-&gt;adjvex]++;</a:t>
            </a:r>
            <a:endParaRPr lang="en-US" sz="12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for(int i=0;i&lt;n;i++){</a:t>
            </a:r>
            <a:endParaRPr lang="en-US" sz="12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int u=seq[i];</a:t>
            </a:r>
            <a:endParaRPr lang="en-US" sz="12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if(u&lt;0 || u&gt;=G.vexnum || seen[u] || indegree[u]!=0) return false;</a:t>
            </a:r>
            <a:endParaRPr lang="en-US" sz="12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seen[u]=true;</a:t>
            </a:r>
            <a:endParaRPr lang="en-US" sz="12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for(ArcNode *p=G.vertices[u].firstarc;p!=NULL;p=p-&gt;nextarc) indegree[p-&gt;adjvex]--;</a:t>
            </a:r>
            <a:endParaRPr lang="en-US" sz="12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} return true;</a:t>
            </a:r>
            <a:endParaRPr lang="en-US" sz="12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467344" y="2395728"/>
            <a:ext cx="2883103" cy="102641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700" dirty="0">
                <a:solidFill>
                  <a:srgbClr val="000000"/>
                </a:solidFill>
              </a:rPr>
              <a:t>关键认识：不需要自己做一遍拓扑排序再比较，按给定序列的顺序模拟一遍即可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467344" y="3495294"/>
            <a:ext cx="2883103" cy="102641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700" dirty="0">
                <a:solidFill>
                  <a:srgbClr val="000000"/>
                </a:solidFill>
              </a:rPr>
              <a:t>每检查一个 u：入度不为 0 返回 false；为 0 则把它的后继入度减一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467344" y="4594860"/>
            <a:ext cx="2883103" cy="102641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700" dirty="0">
                <a:solidFill>
                  <a:srgbClr val="000000"/>
                </a:solidFill>
              </a:rPr>
              <a:t>时间 O(|V|+|E|)、空间 O(|V|)，比先排序再比较省事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11:pageno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11 / 17</a:t>
            </a:r>
            <a:endParaRPr lang="en-US" sz="1000" dirty="0"/>
          </a:p>
        </p:txBody>
      </p:sp>
      <p:sp>
        <p:nvSpPr>
          <p:cNvPr id="3" name="p11:kicker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判拓扑序列唯一 · 邻接表版</a:t>
            </a:r>
            <a:endParaRPr lang="en-US" sz="1400" dirty="0"/>
          </a:p>
        </p:txBody>
      </p:sp>
      <p:sp>
        <p:nvSpPr>
          <p:cNvPr id="4" name="p11:title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判拓扑序列是否唯一：任何一轮入度为 0 的只能有一个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41375" y="2085340"/>
            <a:ext cx="6729730" cy="4234180"/>
          </a:xfrm>
          <a:prstGeom prst="roundRect">
            <a:avLst>
              <a:gd name="adj" fmla="val 1389"/>
            </a:avLst>
          </a:prstGeom>
          <a:solidFill>
            <a:srgbClr val="F7F9FC"/>
          </a:solidFill>
          <a:ln w="8890">
            <a:solidFill>
              <a:srgbClr val="DDE4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2162810"/>
            <a:ext cx="6400800" cy="395795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bool uniquely(ALGraph G){</a:t>
            </a:r>
            <a:endParaRPr lang="en-US" sz="12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int indegree[MaxVertexNum]={0}, processed=0;</a:t>
            </a:r>
            <a:endParaRPr lang="en-US" sz="12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for(int i=0;i&lt;G.vexnum;i++)</a:t>
            </a:r>
            <a:endParaRPr lang="en-US" sz="12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for(ArcNode *p=G.vertices[i].firstarc;p;p=p-&gt;nextarc){</a:t>
            </a:r>
            <a:endParaRPr lang="en-US" sz="1200" dirty="0">
              <a:solidFill>
                <a:srgbClr val="1F2329"/>
              </a:solidFill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  <a:sym typeface="+mn-ea"/>
              </a:rPr>
              <a:t>            </a:t>
            </a:r>
            <a:r>
              <a:rPr lang="en-US" sz="12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indegree[p-&gt;adjvex]++;</a:t>
            </a:r>
            <a:endParaRPr lang="en-US" sz="1200" dirty="0">
              <a:solidFill>
                <a:srgbClr val="1F2329"/>
              </a:solidFill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  <a:sym typeface="+mn-ea"/>
              </a:rPr>
              <a:t>        </a:t>
            </a:r>
            <a:r>
              <a:rPr lang="en-US" sz="12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12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SqQueue Q; InitQueue(Q); int available=0;</a:t>
            </a:r>
            <a:endParaRPr lang="en-US" sz="12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for(int i=0;i&lt;G.vexnum;i++) if(indegree[i]==0){</a:t>
            </a:r>
            <a:endParaRPr lang="en-US" sz="1200" dirty="0">
              <a:solidFill>
                <a:srgbClr val="1F2329"/>
              </a:solidFill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EnQueue(Q,i); available++; }</a:t>
            </a:r>
            <a:endParaRPr lang="en-US" sz="12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if(available!=1) return false;</a:t>
            </a:r>
            <a:endParaRPr lang="en-US" sz="12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while(!IsEmpty(Q)){</a:t>
            </a:r>
            <a:endParaRPr lang="en-US" sz="1200" dirty="0">
              <a:solidFill>
                <a:srgbClr val="1F2329"/>
              </a:solidFill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int u; DeQueue(Q,u); processed++; available=0;</a:t>
            </a:r>
            <a:endParaRPr lang="en-US" sz="12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for(ArcNode *p=G.vertices[u].firstarc;p;p=p-&gt;nextarc)</a:t>
            </a:r>
            <a:endParaRPr lang="en-US" sz="12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    if(--indegree[p-&gt;adjvex]==0){</a:t>
            </a:r>
            <a:endParaRPr lang="en-US" sz="1200" dirty="0">
              <a:solidFill>
                <a:srgbClr val="1F2329"/>
              </a:solidFill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        EnQueue(Q,p-&gt;adjvex); available++; }</a:t>
            </a:r>
            <a:endParaRPr lang="en-US" sz="12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if(available&gt;1) return false;</a:t>
            </a:r>
            <a:endParaRPr lang="en-US" sz="12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} </a:t>
            </a:r>
            <a:endParaRPr lang="en-US" sz="1200" dirty="0">
              <a:solidFill>
                <a:srgbClr val="1F2329"/>
              </a:solidFill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return processed==G.vexnum;}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918704" y="2395728"/>
            <a:ext cx="3431743" cy="5120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200" dirty="0">
                <a:solidFill>
                  <a:srgbClr val="000000"/>
                </a:solidFill>
              </a:rPr>
              <a:t>每轮可选的入度0顶点必须恰好一个；出现两个时，先后顺序可以互换。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845552" y="3072384"/>
            <a:ext cx="3523183" cy="28270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字段名按题目给定的图结构替换。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6" grpId="0"/>
      <p:bldP spid="7" grpId="0"/>
      <p:bldP spid="8" grpId="0"/>
      <p:bldP spid="6" grpId="1"/>
      <p:bldP spid="7" grpId="1"/>
      <p:bldP spid="8" grpId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12:pageno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12 / 17</a:t>
            </a:r>
            <a:endParaRPr lang="en-US" sz="1000" dirty="0"/>
          </a:p>
        </p:txBody>
      </p:sp>
      <p:sp>
        <p:nvSpPr>
          <p:cNvPr id="3" name="p12:kicker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模板卡</a:t>
            </a:r>
            <a:endParaRPr lang="en-US" sz="1400" dirty="0"/>
          </a:p>
        </p:txBody>
      </p:sp>
      <p:sp>
        <p:nvSpPr>
          <p:cNvPr id="4" name="p12:title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本节两张模板卡</a:t>
            </a:r>
            <a:endParaRPr lang="en-US" sz="28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/>
        </p:nvGraphicFramePr>
        <p:xfrm>
          <a:off x="822960" y="2395728"/>
          <a:ext cx="10545776" cy="1261872"/>
        </p:xfrm>
        <a:graphic>
          <a:graphicData uri="http://schemas.openxmlformats.org/drawingml/2006/table">
            <a:tbl>
              <a:tblPr/>
              <a:tblGrid>
                <a:gridCol w="2636444"/>
                <a:gridCol w="2636444"/>
                <a:gridCol w="2636444"/>
                <a:gridCol w="2636444"/>
              </a:tblGrid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模板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适用场景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骨架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复杂度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模板7 DFS 回溯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路径类：经过 k、长度 k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标记、递归、失败复位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O(V+E)，栈 O(V)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模板13 入度表法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拓扑类：排序、验证、唯一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入度表、入栈输出、减一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O(V+E)，空间 O(V)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22960" y="3886200"/>
            <a:ext cx="10545775" cy="35890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考过哪里：模板 7——2025 年、2024 年的路径大题；模板 13——2026 年判拓扑序列、2024 年拓扑排序填空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13:pageno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13 / 17</a:t>
            </a:r>
            <a:endParaRPr lang="en-US" sz="1000" dirty="0"/>
          </a:p>
        </p:txBody>
      </p:sp>
      <p:sp>
        <p:nvSpPr>
          <p:cNvPr id="3" name="p13:kicker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小结与课后任务</a:t>
            </a:r>
            <a:endParaRPr lang="en-US" sz="1400" dirty="0"/>
          </a:p>
        </p:txBody>
      </p:sp>
      <p:sp>
        <p:nvSpPr>
          <p:cNvPr id="4" name="p13:title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跟练、课堂回顾与拓展</a:t>
            </a:r>
            <a:endParaRPr lang="en-US" sz="2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/>
        </p:nvGraphicFramePr>
        <p:xfrm>
          <a:off x="822960" y="2395728"/>
          <a:ext cx="10545775" cy="1920240"/>
        </p:xfrm>
        <a:graphic>
          <a:graphicData uri="http://schemas.openxmlformats.org/drawingml/2006/table">
            <a:tbl>
              <a:tblPr/>
              <a:tblGrid>
                <a:gridCol w="2286000"/>
                <a:gridCol w="4297680"/>
                <a:gridCol w="3840480"/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任务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visited / 入度处理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复核重点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只问可达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一次搜索保留标记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再次调用前清零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找或枚举路径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沿递归路径标记，回溯复位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其他分支可以再试该顶点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u 到 v 经过 k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先看题目是否允许两段独立可达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简单路径需同一次 DFS 记录经过 k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拓扑顺序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入度表按序模拟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唯一性看每轮候选顶点数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96112" y="4544568"/>
            <a:ext cx="10454335" cy="3215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400" b="1" dirty="0">
                <a:solidFill>
                  <a:srgbClr val="000000"/>
                </a:solidFill>
              </a:rPr>
              <a:t>跟练</a:t>
            </a:r>
            <a:r>
              <a:rPr lang="en-US" sz="1400" dirty="0">
                <a:solidFill>
                  <a:srgbClr val="000000"/>
                </a:solidFill>
              </a:rPr>
              <a:t>：默写拓扑排序与给定序列的合法性判定。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96112" y="4939284"/>
            <a:ext cx="10454335" cy="3215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400" b="1" dirty="0">
                <a:solidFill>
                  <a:srgbClr val="000000"/>
                </a:solidFill>
              </a:rPr>
              <a:t>课堂回顾</a:t>
            </a:r>
            <a:r>
              <a:rPr lang="en-US" sz="1400" dirty="0">
                <a:solidFill>
                  <a:srgbClr val="000000"/>
                </a:solidFill>
              </a:rPr>
              <a:t>：7算13、7算14、7算18，重做本节的可达性与定长简单路径算法。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96112" y="5334000"/>
            <a:ext cx="10454335" cy="3215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400" b="1" dirty="0">
                <a:solidFill>
                  <a:srgbClr val="000000"/>
                </a:solidFill>
              </a:rPr>
              <a:t>拓展练习</a:t>
            </a:r>
            <a:r>
              <a:rPr lang="en-US" sz="1400" dirty="0">
                <a:solidFill>
                  <a:srgbClr val="000000"/>
                </a:solidFill>
              </a:rPr>
              <a:t>：7算19（输出全部简单路径）、7算25（拓扑编号）。7答9要求枚举全部拓扑序列，工作量偏大，本节不布置。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14:pageno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14 / 17</a:t>
            </a:r>
            <a:endParaRPr lang="en-US" sz="1000" dirty="0"/>
          </a:p>
        </p:txBody>
      </p:sp>
      <p:sp>
        <p:nvSpPr>
          <p:cNvPr id="3" name="p14:kicker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参考答案 · 跟练一</a:t>
            </a:r>
            <a:endParaRPr lang="en-US" sz="1400" dirty="0"/>
          </a:p>
        </p:txBody>
      </p:sp>
      <p:sp>
        <p:nvSpPr>
          <p:cNvPr id="4" name="p14:title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跟练题参考答案：拓扑排序（自行对照）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41248" y="2395728"/>
            <a:ext cx="7278624" cy="3054096"/>
          </a:xfrm>
          <a:prstGeom prst="roundRect">
            <a:avLst>
              <a:gd name="adj" fmla="val 1497"/>
            </a:avLst>
          </a:prstGeom>
          <a:solidFill>
            <a:srgbClr val="F7F9FC"/>
          </a:solidFill>
          <a:ln w="8890">
            <a:solidFill>
              <a:srgbClr val="DDE4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2505456"/>
            <a:ext cx="6949440" cy="2834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bool TopoLogicalSort(ALGraph G, int print[]){
    if(G.kind != 1) return false;
    int indegree[MaxVertexNum] = {0};
    for(int i = 0; i &lt; G.vexnum; i++)
        for(ArcNode *p = G.vertices[i].firstarc; p != NULL; p = p-&gt;nextarc) indegree[p-&gt;adjvex]++;
    SqStack S; InitStack(S);
    for(int i = 0; i &lt; G.vexnum; i++) if(indegree[i] == 0) Push(S, i);
    int count = 0;
    while(!IsEmpty(S)){ int u; Pop(S, u); print[count++] = u;
        for(ArcNode *p = G.vertices[u].firstarc; p != NULL; p = p-&gt;nextarc)
            if(--indegree[p-&gt;adjvex] == 0) Push(S, p-&gt;adjvex); }
    return count == G.vexnum;
}
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467344" y="2395728"/>
            <a:ext cx="2883103" cy="79781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300" dirty="0">
                <a:solidFill>
                  <a:srgbClr val="000000"/>
                </a:solidFill>
              </a:rPr>
              <a:t>入度 0 入栈、出栈输出、后继入度减一、减到 0 再入栈，四步顺序不能反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467344" y="3266694"/>
            <a:ext cx="2883103" cy="5501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300" dirty="0">
                <a:solidFill>
                  <a:srgbClr val="000000"/>
                </a:solidFill>
              </a:rPr>
              <a:t>时间 O(|V|+|E|)、空间 O(|V|)；count 不足顶点数说明有环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15:pageno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15 / 17</a:t>
            </a:r>
            <a:endParaRPr lang="en-US" sz="1000" dirty="0"/>
          </a:p>
        </p:txBody>
      </p:sp>
      <p:sp>
        <p:nvSpPr>
          <p:cNvPr id="3" name="p15:kicker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参考答案 · 跟练二</a:t>
            </a:r>
            <a:endParaRPr lang="en-US" sz="1400" dirty="0"/>
          </a:p>
        </p:txBody>
      </p:sp>
      <p:sp>
        <p:nvSpPr>
          <p:cNvPr id="4" name="p15:title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跟练题参考答案：判给定序列是否拓扑序列（自行对照）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41248" y="2395728"/>
            <a:ext cx="7278624" cy="3291840"/>
          </a:xfrm>
          <a:prstGeom prst="roundRect">
            <a:avLst>
              <a:gd name="adj" fmla="val 1389"/>
            </a:avLst>
          </a:prstGeom>
          <a:solidFill>
            <a:srgbClr val="F7F9FC"/>
          </a:solidFill>
          <a:ln w="8890">
            <a:solidFill>
              <a:srgbClr val="DDE4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2505456"/>
            <a:ext cx="6949440" cy="307238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bool IsTopoSeq(ALGraph G, int seq[], int n){</a:t>
            </a:r>
            <a:endParaRPr lang="en-US" sz="12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if(n != G.vexnum || G.vexnum == 0) return false;</a:t>
            </a:r>
            <a:endParaRPr lang="en-US" sz="12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int indegree[MaxVertexNum] = {0};</a:t>
            </a:r>
            <a:endParaRPr lang="en-US" sz="12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bool seen[MaxVertexNum] = {false};</a:t>
            </a:r>
            <a:endParaRPr lang="en-US" sz="12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for(int i=0;i&lt;G.vexnum;i++)</a:t>
            </a:r>
            <a:endParaRPr lang="en-US" sz="12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for(ArcNode *p=G.vertices[i].firstarc;p!=NULL;p=p-&gt;nextarc) indegree[p-&gt;adjvex]++;</a:t>
            </a:r>
            <a:endParaRPr lang="en-US" sz="12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for(int i=0;i&lt;n;i++){</a:t>
            </a:r>
            <a:endParaRPr lang="en-US" sz="12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int u=seq[i];</a:t>
            </a:r>
            <a:endParaRPr lang="en-US" sz="12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if(u&lt;0 || u&gt;=G.vexnum || seen[u] || indegree[u]!=0) return false;</a:t>
            </a:r>
            <a:endParaRPr lang="en-US" sz="12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seen[u]=true;</a:t>
            </a:r>
            <a:endParaRPr lang="en-US" sz="12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for(ArcNode *p=G.vertices[u].firstarc;p!=NULL;p=p-&gt;nextarc) indegree[p-&gt;adjvex]--;</a:t>
            </a:r>
            <a:endParaRPr lang="en-US" sz="12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} return true;</a:t>
            </a:r>
            <a:endParaRPr lang="en-US" sz="12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467344" y="2395728"/>
            <a:ext cx="2883103" cy="14264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按给定序列顺序模拟：每步先查当前顶点入度是否为 0，再把它的后继入度减一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467344" y="3895344"/>
            <a:ext cx="2883103" cy="10835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不需要自己生成拓扑序再比较；入度表求法与拓扑排序共用同一段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16:pageno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16 / 17</a:t>
            </a:r>
            <a:endParaRPr lang="en-US" sz="1000" dirty="0"/>
          </a:p>
        </p:txBody>
      </p:sp>
      <p:sp>
        <p:nvSpPr>
          <p:cNvPr id="3" name="p16:kicker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参考答案 · 课堂回顾</a:t>
            </a:r>
            <a:endParaRPr lang="en-US" sz="1400" dirty="0"/>
          </a:p>
        </p:txBody>
      </p:sp>
      <p:sp>
        <p:nvSpPr>
          <p:cNvPr id="4" name="p16:title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课堂回顾参考要点：7算13、7算14、7算18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96112" y="2395728"/>
            <a:ext cx="10454335" cy="7406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7算13 DFS 判可达路径：即第 3 页 Pathitoj 思路，从 u 出发 DFS 撞见 v 返回 1；visited 一次性使用，调用前清零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96112" y="3209544"/>
            <a:ext cx="10454335" cy="7406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7算14 BFS 判可达路径：从 u 层序扩展，撞见 v 返回 1；visited 在入队时标记，DFS 换成队列，判断结构不变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96112" y="4023360"/>
            <a:ext cx="10454335" cy="7406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7算18 长度 k 的简单路径：与 P5 同一算法，DFS 带 depth 参数，每起点前 visited 复位，k 的范围 1 到 vexnum-1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17:pageno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17 / 17</a:t>
            </a:r>
            <a:endParaRPr lang="en-US" sz="1000" dirty="0"/>
          </a:p>
        </p:txBody>
      </p:sp>
      <p:sp>
        <p:nvSpPr>
          <p:cNvPr id="3" name="p17:kicker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参考答案 · 拓展练习</a:t>
            </a:r>
            <a:endParaRPr lang="en-US" sz="1400" dirty="0"/>
          </a:p>
        </p:txBody>
      </p:sp>
      <p:sp>
        <p:nvSpPr>
          <p:cNvPr id="4" name="p17:title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拓展练习参考要点：7算19、7算25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41248" y="2395728"/>
            <a:ext cx="7278624" cy="1792224"/>
          </a:xfrm>
          <a:prstGeom prst="roundRect">
            <a:avLst>
              <a:gd name="adj" fmla="val 2551"/>
            </a:avLst>
          </a:prstGeom>
          <a:solidFill>
            <a:srgbClr val="F7F9FC"/>
          </a:solidFill>
          <a:ln w="8890">
            <a:solidFill>
              <a:srgbClr val="DDE4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2505456"/>
            <a:ext cx="6949440" cy="15727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void AllPath(ALGraph G, int u, int v, bool visited[], int path[], int d){
    visited[u] = true; path[d++] = u;        // u 记入当前路径
    if(u == v){ for(int i = 0; i &lt; d; i++) printf("%d ", path[i]); printf("\n"); }
    for(ArcNode *p = G.vertices[u].firstarc; p != NULL; p = p-&gt;nextarc)
        if(!visited[p-&gt;adjvex]) AllPath(G, p-&gt;adjvex, v, visited, path, d);
    visited[u] = false;                      // 回溯：让别的路还能经过 u
}
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467344" y="2395728"/>
            <a:ext cx="2883103" cy="10454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300" dirty="0">
                <a:solidFill>
                  <a:srgbClr val="000000"/>
                </a:solidFill>
              </a:rPr>
              <a:t>7算19 输出 u 到 v 的全部简单路径：找到一条不停机，path 记当前路径、d 记长度；首调前 visited 全 false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467344" y="3514344"/>
            <a:ext cx="2883103" cy="10454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300" dirty="0">
                <a:solidFill>
                  <a:srgbClr val="000000"/>
                </a:solidFill>
              </a:rPr>
              <a:t>7算25 DAG 顶点拓扑编号：做一次拓扑排序，按输出先后编号 1 到 n，每条弧自然从编号小的一端指向大的一端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8047</Words>
  <Application>WPS 演示</Application>
  <PresentationFormat>On-screen Show (16:9)</PresentationFormat>
  <Paragraphs>341</Paragraphs>
  <Slides>17</Slides>
  <Notes>17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9" baseType="lpstr">
      <vt:lpstr>Arial</vt:lpstr>
      <vt:lpstr>宋体</vt:lpstr>
      <vt:lpstr>Wingdings</vt:lpstr>
      <vt:lpstr>微软雅黑</vt:lpstr>
      <vt:lpstr>微软雅黑</vt:lpstr>
      <vt:lpstr>Consolas</vt:lpstr>
      <vt:lpstr>Consolas</vt:lpstr>
      <vt:lpstr>Consolas</vt:lpstr>
      <vt:lpstr>Calibri</vt:lpstr>
      <vt:lpstr>Arial Unicode MS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图算法一：遍历应用</dc:title>
  <dc:creator>牙膏学长</dc:creator>
  <dc:subject>PptxGenJS Presentation</dc:subject>
  <cp:lastModifiedBy>倾殇醉</cp:lastModifiedBy>
  <cp:revision>15</cp:revision>
  <dcterms:created xsi:type="dcterms:W3CDTF">2026-10-04T13:27:00Z</dcterms:created>
  <dcterms:modified xsi:type="dcterms:W3CDTF">2026-10-06T16:05:05Z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7B6A62572E284DE69D20DE027A2379E6_12</vt:lpwstr>
  </property>
  <property fmtid="{D5CDD505-2E9C-101B-9397-08002B2CF9AE}" pid="3" name="KSOProductBuildVer">
    <vt:lpwstr>2052-12.1.0.28505</vt:lpwstr>
  </property>
</Properties>
</file>