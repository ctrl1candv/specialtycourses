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第4节 树算法一：递归统计框架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阶段：强化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p0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p0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递归为什么适合处理树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二叉树的定义本身就是递归的：二叉树是空树，或者由一个根结点加上左、右两棵子树构成，子树还是二叉树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每一层要做的动作完全一样：处理根、处理左子树、处理右子树，只是作用的对象越来越小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先序、中序、后序遍历就是同一个递归体的三种执行顺序，数据结构基础阶段第7节已经写过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5137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想一个问题：求树的高度、求结点数，如果不用递归，循环该怎么写？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62229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结论：树的递归定义让递归写法直接；需要时也可以用栈实现非递归算法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p0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递归统计框架 · 模板5</a:t>
            </a:r>
            <a:endParaRPr lang="en-US" sz="1400" dirty="0"/>
          </a:p>
        </p:txBody>
      </p:sp>
      <p:sp>
        <p:nvSpPr>
          <p:cNvPr id="4" name="p0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递归函数先写清停止条件，再决定怎样合并子问题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6547104" cy="169164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217920" cy="1472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递归结构示意：具体返回类型按题目定义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Result Solve(Node *p){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if(p == NULL) return baseValue;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Result left = Solve(p-&gt;left), right = Solve(p-&gt;right);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combine(left, right, p);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35824" y="2395728"/>
            <a:ext cx="3614623" cy="3025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空树时返回什么：先定基准值。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35824" y="2771394"/>
            <a:ext cx="3614623" cy="3025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对子树递归：每次都把问题缩小一层。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35824" y="3147060"/>
            <a:ext cx="3614623" cy="3025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合并左右结果和本结点信息，回答题目要求。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35824" y="3522726"/>
            <a:ext cx="361462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这是结构示意；Result、baseValue、combine 要换成题目中的具体定义。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6" grpId="1"/>
      <p:bldP spid="7" grpId="1"/>
      <p:bldP spid="8" grpId="1"/>
      <p:bldP spid="9" grpId="1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p0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递归统计框架 · 三个实例</a:t>
            </a:r>
            <a:endParaRPr lang="en-US" sz="1400" dirty="0"/>
          </a:p>
        </p:txBody>
      </p:sp>
      <p:sp>
        <p:nvSpPr>
          <p:cNvPr id="4" name="p0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求高度、结点数、叶子数：三行骨架只差两处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42316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2037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TreeDepth(BiTree T){                        // 求高度
    if(T == NULL) return 0;
    return max(TreeDepth(T-&gt;lchild), TreeDepth(T-&gt;rchild)) + 1; }
int CountNodes(BiTree T){                       // 求结点数
    if(T == NULL) return 0;
    return CountNodes(T-&gt;lchild) + CountNodes(T-&gt;rchild) + 1; }
int CountLeaves(BiTree T){                      // 求叶子数
    if(T == NULL) return 0;
    if(T-&gt;lchild == NULL &amp;&amp; T-&gt;rchild == NULL) return 1;   // 多一个叶子判定
    return CountLeaves(T-&gt;lchild) + CountLeaves(T-&gt;rchild); }
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394192" y="2395728"/>
          <a:ext cx="2974544" cy="1682496"/>
        </p:xfrm>
        <a:graphic>
          <a:graphicData uri="http://schemas.openxmlformats.org/drawingml/2006/table">
            <a:tbl>
              <a:tblPr/>
              <a:tblGrid>
                <a:gridCol w="743636"/>
                <a:gridCol w="743636"/>
                <a:gridCol w="743636"/>
                <a:gridCol w="743636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终止返回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合并方式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多出来的判断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求高度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max 加 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求结点数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相加加 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求叶子数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相加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当前结点是叶子则直接返回 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41375" y="4997450"/>
            <a:ext cx="4930140" cy="549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三个函数只有两处不同：基准值是什么、两个子结果怎么合并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547360"/>
            <a:ext cx="6034405" cy="79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写新的树统计函数三步：先定终止值，再定合并方式，最后看要不要额外判断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6" grpId="1"/>
      <p:bldP spid="8" grpId="1"/>
      <p:bldP spid="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p0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求高度 · 递归展开</a:t>
            </a:r>
            <a:endParaRPr lang="en-US" sz="1400" dirty="0"/>
          </a:p>
        </p:txBody>
      </p:sp>
      <p:sp>
        <p:nvSpPr>
          <p:cNvPr id="4" name="p0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求高度：递归如何展开，再怎样收回</a:t>
            </a:r>
            <a:endParaRPr lang="en-US" sz="2800" dirty="0"/>
          </a:p>
        </p:txBody>
      </p:sp>
      <p:pic>
        <p:nvPicPr>
          <p:cNvPr id="5" name="p05:initial" descr="D:\Program Project\SpecialtyCourses\课件\C2\C2-B-pro\C2-B-04\assets\C2-B-04-p05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6" name="p05:s1" descr="D:\Program Project\SpecialtyCourses\课件\C2\C2-B-pro\C2-B-04\assets\C2-B-04-p05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7" name="p05:s2" descr="D:\Program Project\SpecialtyCourses\课件\C2\C2-B-pro\C2-B-04\assets\C2-B-04-p05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8" name="p05:s3" descr="D:\Program Project\SpecialtyCourses\课件\C2\C2-B-pro\C2-B-04\assets\C2-B-04-p05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9" name="p05:s4" descr="D:\Program Project\SpecialtyCourses\课件\C2\C2-B-pro\C2-B-04\assets\C2-B-04-p05-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p0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判完全二叉树 · 思路</a:t>
            </a:r>
            <a:endParaRPr lang="en-US" sz="1400" dirty="0"/>
          </a:p>
        </p:txBody>
      </p:sp>
      <p:sp>
        <p:nvSpPr>
          <p:cNvPr id="4" name="p0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层序遍历加 tag：遇过缺孩子，后面必须全是叶子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22960" y="2395728"/>
          <a:ext cx="10545775" cy="201168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遇到的情况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层序中的动作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后续检查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左、右孩子都在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继续入队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尚未发现缺孩子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只有左孩子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左孩子入队，tag置1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后面不能再出现孩子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没有左孩子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tag置1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右孩子若存在则不是完全树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tag已置1后又看到孩子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立即判假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空位之后出现了结点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636008"/>
            <a:ext cx="10545775" cy="3208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按层序扫描；tag 表示“此前已经出现过空孩子位置”。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p0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判完全二叉树 · 代码</a:t>
            </a:r>
            <a:endParaRPr lang="en-US" sz="1400" dirty="0"/>
          </a:p>
        </p:txBody>
      </p:sp>
      <p:sp>
        <p:nvSpPr>
          <p:cNvPr id="4" name="p0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JudgeComplete：两个分支各管一个孩子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633472"/>
          </a:xfrm>
          <a:prstGeom prst="roundRect">
            <a:avLst>
              <a:gd name="adj" fmla="val 1736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414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JudgeComplete(BiTree T){                    // 空树算完全二叉树
    if(T == NULL) return 1;
    SqQueue Q; InitQueue(Q); EnQueue(Q, T);
    int tag = 0; BiTree p;                      // tag=1 表示已经遇过缺孩子
    while(!IsEmpty(Q)){
        DeQueue(Q, p);
        if(p-&gt;lchild != NULL){ if(tag) return 0; EnQueue(Q, p-&gt;lchild); }else tag = 1;
        if(p-&gt;rchild != NULL){ if(tag) return 0; EnQueue(Q, p-&gt;rchild); }else tag = 1;
    }
    return 1;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分支一：孩子非空且 tag 是 1，返回 0，缺孩子之后还有非空结点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019044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分支二：孩子为空，置 tag=1，这是全函数唯一置 tag 的地方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67344" y="3642360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分支三：孩子非空且 tag 是 0，正常入队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67344" y="4265676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有右孩子没左孩子：第二个 if 里的非空孩子撞上 tag=1，照样返回 0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6" grpId="1"/>
      <p:bldP spid="7" grpId="1"/>
      <p:bldP spid="8" grpId="1"/>
      <p:bldP spid="9" grpId="1"/>
      <p:bldP spid="1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8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p08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判平衡二叉树 · 思路</a:t>
            </a:r>
            <a:endParaRPr lang="en-US" sz="1400" dirty="0"/>
          </a:p>
        </p:txBody>
      </p:sp>
      <p:sp>
        <p:nvSpPr>
          <p:cNvPr id="4" name="p08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为什么返回高度而不用 bool：一个返回值带两种信息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822960" y="2395728"/>
          <a:ext cx="10545775" cy="1316736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递归返回值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终止时的含义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父结点怎样合并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bool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子树是否平衡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左右都平衡且高度差≤1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height / -1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平衡时返回高度；不平衡用-1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-1直接向上传递；否则返回较大高度+1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941064"/>
            <a:ext cx="10454335" cy="3215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需要判断并继续算高度时，单独返回 bool 不够；用高度承载结果，-1 留作失败标记。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9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p09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判平衡二叉树 · 代码</a:t>
            </a:r>
            <a:endParaRPr lang="en-US" sz="1400" dirty="0"/>
          </a:p>
        </p:txBody>
      </p:sp>
      <p:sp>
        <p:nvSpPr>
          <p:cNvPr id="4" name="p09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JudgeAVL：-1 短路，看到 -1 直接透传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212848"/>
          </a:xfrm>
          <a:prstGeom prst="roundRect">
            <a:avLst>
              <a:gd name="adj" fmla="val 2066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1993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JudgeAVL(BiTree T){                         // 返回高度；-1 表示不平衡
    if(T == NULL) return 0;                     // 空树高度 0，也算平衡
    int HL = JudgeAVL(T-&gt;lchild);
    if(HL == -1) return -1;                     // 左子树已不平衡，短路
    int RL = JudgeAVL(T-&gt;rchild);
    if(RL == -1) return -1;
    if(HL - RL &lt; -1 || HL - RL &gt; 1) return -1;  // 本结点不平衡
    return max(HL, RL) + 1;                     // 平衡，往上报高度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两个 if(HL == -1) return -1 是短路：子树已经不平衡，另一边不用再算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266694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若不先检查 -1，后续可能把它当作高度参与计算，导致判定错误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67344" y="3890010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不要写成先求高度再判差值：那是两遍递归，O(n²)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6" grpId="1"/>
      <p:bldP spid="7" grpId="1"/>
      <p:bldP spid="8" grpId="1"/>
      <p:bldP spid="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0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p10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求镜像树</a:t>
            </a:r>
            <a:endParaRPr lang="en-US" sz="1400" dirty="0"/>
          </a:p>
        </p:txBody>
      </p:sp>
      <p:sp>
        <p:nvSpPr>
          <p:cNvPr id="4" name="p10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mirrorTree：三行交换加两行递归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002536"/>
          </a:xfrm>
          <a:prstGeom prst="roundRect">
            <a:avLst>
              <a:gd name="adj" fmla="val 228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mirrorTree(BiTree &amp;T){
    if(T == NULL) return;
    BiTNode *temp = T-&gt;rchild;
    T-&gt;rchild = T-&gt;lchild;
    T-&gt;lchild = temp;
    mirrorTree(T-&gt;lchild);
    mirrorTree(T-&gt;rchild);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每个结点做一次左右指针交换，交换完递归进两个孩子，整棵树左右翻转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26669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先交换再递归、先递归再交换结果一样：交换的是两棵子树整体，选一种写到底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67344" y="4137660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这题只改结点内部指针，参数写成 BiTree T 值传递也能完成；要改 T 本身指向才需要引用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4" grpId="1"/>
      <p:bldP spid="6" grpId="1"/>
      <p:bldP spid="7" grpId="1"/>
      <p:bldP spid="8" grpId="1"/>
      <p:bldP spid="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p11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求树的度 · 复习</a:t>
            </a:r>
            <a:endParaRPr lang="en-US" sz="1400" dirty="0"/>
          </a:p>
        </p:txBody>
      </p:sp>
      <p:sp>
        <p:nvSpPr>
          <p:cNvPr id="4" name="p11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求树的度：孩子兄弟递归，全局变量记最大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002536"/>
          </a:xfrm>
          <a:prstGeom prst="roundRect">
            <a:avLst>
              <a:gd name="adj" fmla="val 228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degree = 0;                     // 全局变量，记树的最大度
int Post(CSNode *p){
    if(p == NULL) return 0;
    Post(p-&gt;firstchild);
    int d = 1 + Post(p-&gt;nextbro);   // 兄弟链长度就是本结点的度
    degree = max(degree, d);
    return d;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数据结构基础阶段第8节逐行讲过，这里不重复，只做两件事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019044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归入模板5的变体：返回值是兄弟链长度，全局变量存最大值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67344" y="3642360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degree 记录遍历中出现的最大孩子数；最长路径也要在递归中保存当前路径和最优结果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6" grpId="1"/>
      <p:bldP spid="7" grpId="1"/>
      <p:bldP spid="8" grpId="1"/>
      <p:bldP spid="9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p1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p1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模板卡：模板 5 递归统计框架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822960" y="2395728"/>
          <a:ext cx="10545776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骨架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模板5 递归统计框架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树的高度、结点数、叶子数等一切统计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终止基准值、递归左右子树、合并返回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O(n)，递归栈 O(h)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46557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变体：返回值不够用时带全局量（求树的度），或让返回值兼报状态（判平衡的 -1）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393649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用法：见到树的统计题，先填基准值再填合并式，别从第一行现想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4498848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考过哪里：2025 最长路径、2024 判 BST，都属于递归中携带额外信息这一族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p1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小结</a:t>
            </a:r>
            <a:endParaRPr lang="en-US" sz="1400" dirty="0"/>
          </a:p>
        </p:txBody>
      </p:sp>
      <p:sp>
        <p:nvSpPr>
          <p:cNvPr id="4" name="p1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本节七个算法一张表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822960" y="2395728"/>
          <a:ext cx="10545775" cy="2944368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关键技巧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最容易错的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求高度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终止 0，合并取 max 再加 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合并写成相加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求结点数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终止 0，合并相加再加 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与求高度互相记混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求叶子数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是叶子直接返回 1，不再递归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多写加 1 就变成结点数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判完全二叉树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层序加 tag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只在左右都空时才置 tag，漏有右无左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判平衡二叉树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返回高度，-1 短路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忘短路，把 -1 当高度用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求镜像与求度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三行交换；全局变量记最大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想改 T 指向却用值传递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p1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p1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两项课堂回顾，一组代码诊断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跟练题</a:t>
            </a:r>
            <a:r>
              <a:rPr lang="en-US" sz="1800" dirty="0">
                <a:solidFill>
                  <a:srgbClr val="000000"/>
                </a:solidFill>
              </a:rPr>
              <a:t>：默写求高度、求结点数、求叶子数三个函数，再默写判完全与判平衡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课堂回顾</a:t>
            </a:r>
            <a:r>
              <a:rPr lang="en-US" sz="1800" dirty="0">
                <a:solidFill>
                  <a:srgbClr val="000000"/>
                </a:solidFill>
              </a:rPr>
              <a:t>：6算11（左右子树交换），合上资料重写课堂的镜像树代码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代码诊断</a:t>
            </a:r>
            <a:r>
              <a:rPr lang="en-US" sz="1800" dirty="0">
                <a:solidFill>
                  <a:srgbClr val="000000"/>
                </a:solidFill>
              </a:rPr>
              <a:t>：题集 6答17、6答33，检查递归终止值、合并方式和短路处理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参考答案在最后三页，课后自行对照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p1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跟练一</a:t>
            </a:r>
            <a:endParaRPr lang="en-US" sz="1400" dirty="0"/>
          </a:p>
        </p:txBody>
      </p:sp>
      <p:sp>
        <p:nvSpPr>
          <p:cNvPr id="4" name="p1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跟练题参考答案：递归统计框架（自行对照）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423160"/>
          </a:xfrm>
          <a:prstGeom prst="roundRect">
            <a:avLst>
              <a:gd name="adj" fmla="val 188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2037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TreeDepth(BiTree T){
    if(T == NULL) return 0;
    return max(TreeDepth(T-&gt;lchild), TreeDepth(T-&gt;rchild)) + 1; }
int CountNodes(BiTree T){
    if(T == NULL) return 0;
    return CountNodes(T-&gt;lchild) + CountNodes(T-&gt;rchild) + 1; }
int CountLeaves(BiTree T){
    if(T == NULL) return 0;
    if(T-&gt;lchild == NULL &amp;&amp; T-&gt;rchild == NULL) return 1;
    return CountLeaves(T-&gt;lchild) + CountLeaves(T-&gt;rchild); 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三个函数只差两处：基准值与合并方式；叶子数多出叶子判定那一行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019044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时间 O(n)：每个结点访问一次；递归栈空间 O(h)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p1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跟练二</a:t>
            </a:r>
            <a:endParaRPr lang="en-US" sz="1400" dirty="0"/>
          </a:p>
        </p:txBody>
      </p:sp>
      <p:sp>
        <p:nvSpPr>
          <p:cNvPr id="4" name="p1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跟练题参考答案：判完全与判平衡（自行对照）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3264408"/>
          </a:xfrm>
          <a:prstGeom prst="roundRect">
            <a:avLst>
              <a:gd name="adj" fmla="val 1401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3044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JudgeComplete(BiTree T){
    if(T == NULL) return 1;
    SqQueue Q; InitQueue(Q); EnQueue(Q, T);
    int tag = 0; BiTree p;
    while(!IsEmpty(Q)){ DeQueue(Q, p);
        if(p-&gt;lchild != NULL){ if(tag) return 0; EnQueue(Q, p-&gt;lchild); }else tag = 1;
        if(p-&gt;rchild != NULL){ if(tag) return 0; EnQueue(Q, p-&gt;rchild); }else tag = 1; }
    return 1; }
int JudgeAVL(BiTree T){
    if(T == NULL) return 0;
    int HL = JudgeAVL(T-&gt;lchild);   if(HL == -1) return -1;
    int RL = JudgeAVL(T-&gt;rchild);   if(RL == -1) return -1;
    if(HL - RL &lt; -1 || HL - RL &gt; 1) return -1;
    return max(HL, RL) + 1; 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判完全唯一置 tag 的地方：孩子为空；有右无左会被第二个分支拦下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019044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判平衡两个 if 是短路；平衡返回高度，不平衡返回 -1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p1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回顾与诊断</a:t>
            </a:r>
            <a:endParaRPr lang="en-US" sz="1400" dirty="0"/>
          </a:p>
        </p:txBody>
      </p:sp>
      <p:sp>
        <p:nvSpPr>
          <p:cNvPr id="4" name="p1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课堂回顾与代码诊断参考要点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002536"/>
          </a:xfrm>
          <a:prstGeom prst="roundRect">
            <a:avLst>
              <a:gd name="adj" fmla="val 228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mirrorTree(BiTree &amp;T){
    if(T == NULL) return;
    BiTNode *temp = T-&gt;rchild;
    T-&gt;rchild = T-&gt;lchild;
    T-&gt;lchild = temp;
    mirrorTree(T-&gt;lchild);
    mirrorTree(T-&gt;rchild);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6算11 左右子树交换：即镜像树，三行交换加两行递归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01904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6答17 与 6答33 读算法纠错：先查终止返回值，再查合并与短路，-1 不能被当高度用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5647</Words>
  <Application>WPS 演示</Application>
  <PresentationFormat>On-screen Show (16:9)</PresentationFormat>
  <Paragraphs>345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树算法一：递归统计框架</dc:title>
  <dc:creator>牙膏学长</dc:creator>
  <dc:subject>PptxGenJS Presentation</dc:subject>
  <cp:lastModifiedBy>倾殇醉</cp:lastModifiedBy>
  <cp:revision>5</cp:revision>
  <dcterms:created xsi:type="dcterms:W3CDTF">2026-10-04T13:27:00Z</dcterms:created>
  <dcterms:modified xsi:type="dcterms:W3CDTF">2026-10-06T07:16:13Z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C4AC0B85E22D46CF969A5C7723C1FBD0_12</vt:lpwstr>
  </property>
</Properties>
</file>