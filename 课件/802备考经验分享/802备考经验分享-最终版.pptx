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93" r:id="rId5"/>
    <p:sldId id="294" r:id="rId6"/>
    <p:sldId id="295" r:id="rId7"/>
    <p:sldId id="296" r:id="rId8"/>
    <p:sldId id="297" r:id="rId9"/>
    <p:sldId id="298" r:id="rId10"/>
    <p:sldId id="290" r:id="rId11"/>
    <p:sldId id="291" r:id="rId12"/>
    <p:sldId id="292" r:id="rId13"/>
    <p:sldId id="29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302" r:id="rId33"/>
    <p:sldId id="300" r:id="rId34"/>
    <p:sldId id="275" r:id="rId35"/>
    <p:sldId id="276" r:id="rId36"/>
    <p:sldId id="277" r:id="rId37"/>
    <p:sldId id="278" r:id="rId38"/>
    <p:sldId id="279" r:id="rId39"/>
    <p:sldId id="306" r:id="rId40"/>
    <p:sldId id="281" r:id="rId41"/>
    <p:sldId id="282" r:id="rId42"/>
    <p:sldId id="283" r:id="rId43"/>
    <p:sldId id="307" r:id="rId44"/>
    <p:sldId id="303" r:id="rId45"/>
    <p:sldId id="301" r:id="rId4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image" Target="../media/image1.jpeg"/><Relationship Id="rId6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tags" Target="../tags/tag8.xml"/><Relationship Id="rId3" Type="http://schemas.openxmlformats.org/officeDocument/2006/relationships/image" Target="../media/image3.png"/><Relationship Id="rId2" Type="http://schemas.openxmlformats.org/officeDocument/2006/relationships/tags" Target="../tags/tag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ags" Target="../tags/tag14.xml"/><Relationship Id="rId3" Type="http://schemas.openxmlformats.org/officeDocument/2006/relationships/image" Target="../media/image1.jpe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18.xml"/><Relationship Id="rId3" Type="http://schemas.openxmlformats.org/officeDocument/2006/relationships/image" Target="../media/image1.jpe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4.xml"/><Relationship Id="rId7" Type="http://schemas.openxmlformats.org/officeDocument/2006/relationships/image" Target="../media/image10.png"/><Relationship Id="rId6" Type="http://schemas.openxmlformats.org/officeDocument/2006/relationships/tags" Target="../tags/tag23.xml"/><Relationship Id="rId5" Type="http://schemas.openxmlformats.org/officeDocument/2006/relationships/image" Target="../media/image9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8.xml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27.xml"/><Relationship Id="rId3" Type="http://schemas.openxmlformats.org/officeDocument/2006/relationships/image" Target="../media/image1.jpe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2.xml"/><Relationship Id="rId7" Type="http://schemas.openxmlformats.org/officeDocument/2006/relationships/image" Target="../media/image2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ags" Target="../tags/tag31.xml"/><Relationship Id="rId3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6.xml"/><Relationship Id="rId7" Type="http://schemas.openxmlformats.org/officeDocument/2006/relationships/image" Target="../media/image2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tags" Target="../tags/tag35.xml"/><Relationship Id="rId3" Type="http://schemas.openxmlformats.org/officeDocument/2006/relationships/image" Target="../media/image1.jpe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909445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把时间花在真正得分的地方</a:t>
            </a:r>
            <a:endParaRPr lang="zh-CN" altLang="en-US" sz="18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2595245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数据结构备考经验分享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3875405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专业的热度排行统计、</a:t>
            </a: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专业课复习路径、代码题训练与备考工具</a:t>
            </a:r>
            <a:endParaRPr lang="en-US" sz="20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  <p:sp>
        <p:nvSpPr>
          <p:cNvPr id="2" name="Text 3"/>
          <p:cNvSpPr/>
          <p:nvPr/>
        </p:nvSpPr>
        <p:spPr>
          <a:xfrm>
            <a:off x="0" y="4620895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直播时间：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日（周四）下午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00</a:t>
            </a:r>
            <a:endParaRPr lang="en-US" altLang="zh-CN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49580" y="2569845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</a:t>
            </a: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专业课复习路径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（基础、强化、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冲刺）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7" name="图片 6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8" name="图片 7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408305"/>
            <a:ext cx="3517265" cy="897890"/>
          </a:xfrm>
          <a:prstGeom prst="rect">
            <a:avLst/>
          </a:prstGeom>
        </p:spPr>
      </p:pic>
      <p:sp>
        <p:nvSpPr>
          <p:cNvPr id="2" name="Text 3"/>
          <p:cNvSpPr/>
          <p:nvPr/>
        </p:nvSpPr>
        <p:spPr>
          <a:xfrm>
            <a:off x="449580" y="354711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三、代码如何复习（</a:t>
            </a: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代码题训练与备考工具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469265" y="164719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一、目前的计算机，人工智能，网络安全热度排行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69265" y="4548505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四、自由问答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环节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595245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一、目前的计算机，人工智能，网络安全热度排行统计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34449" y="4570036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64584" y="2567350"/>
            <a:ext cx="5628982" cy="18668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0035" y="2500678"/>
            <a:ext cx="5714702" cy="1933474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969470" y="4570036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2457" y="5771393"/>
            <a:ext cx="1010740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tx1"/>
                </a:solidFill>
              </a:rPr>
              <a:t>*</a:t>
            </a:r>
            <a:r>
              <a:rPr lang="zh-CN" altLang="en-US" sz="1200">
                <a:solidFill>
                  <a:schemeClr val="tx1"/>
                </a:solidFill>
              </a:rPr>
              <a:t>数据来源重邮考研答疑群内学弟学妹填写，可作为参考，不能作为真实数据依赖！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788629" y="800237"/>
            <a:ext cx="100718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重邮招生生源渠道，一直都是比较稳定的，报考重邮大半都是二本</a:t>
            </a:r>
            <a:r>
              <a:rPr lang="zh-CN" altLang="en-US">
                <a:solidFill>
                  <a:schemeClr val="tx1"/>
                </a:solidFill>
              </a:rPr>
              <a:t>及以下的高校，所以不要担心自己是双非，本科不好等等觉得复试会被歧视，也并不会像网上流传所说的考研人数下降，复试线变高，就意味着考研人数就一定是提纯。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34449" y="4420818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969470" y="4420818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2457" y="5474228"/>
            <a:ext cx="1010740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tx1"/>
                </a:solidFill>
              </a:rPr>
              <a:t>*</a:t>
            </a:r>
            <a:r>
              <a:rPr lang="zh-CN" altLang="en-US" sz="1200">
                <a:solidFill>
                  <a:schemeClr val="tx1"/>
                </a:solidFill>
              </a:rPr>
              <a:t>数据来源重邮考研答疑群内学弟学妹填写，可作为参考，不能作为真实数据依赖！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88629" y="756424"/>
            <a:ext cx="10071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报考重邮研究生的本校占比只能由</a:t>
            </a:r>
            <a:r>
              <a:rPr lang="en-US" altLang="zh-CN">
                <a:solidFill>
                  <a:schemeClr val="tx1"/>
                </a:solidFill>
              </a:rPr>
              <a:t>10%</a:t>
            </a:r>
            <a:r>
              <a:rPr lang="zh-CN" altLang="en-US">
                <a:solidFill>
                  <a:schemeClr val="tx1"/>
                </a:solidFill>
              </a:rPr>
              <a:t>左右，</a:t>
            </a:r>
            <a:r>
              <a:rPr lang="en-US" altLang="zh-CN">
                <a:solidFill>
                  <a:schemeClr val="tx1"/>
                </a:solidFill>
              </a:rPr>
              <a:t>90%</a:t>
            </a:r>
            <a:r>
              <a:rPr lang="zh-CN" altLang="en-US">
                <a:solidFill>
                  <a:schemeClr val="tx1"/>
                </a:solidFill>
              </a:rPr>
              <a:t>都来自于各大高校，不用担心竞争不过本校学生，你们的竞争对手还是来自于各大高校的同学。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30" y="2747680"/>
            <a:ext cx="5695653" cy="15334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0922" y="2780699"/>
            <a:ext cx="5705178" cy="1514396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089041" y="4061427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918038" y="4061427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2457" y="5002448"/>
            <a:ext cx="1010740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tx1"/>
                </a:solidFill>
              </a:rPr>
              <a:t>*</a:t>
            </a:r>
            <a:r>
              <a:rPr lang="zh-CN" altLang="en-US" sz="1200">
                <a:solidFill>
                  <a:schemeClr val="tx1"/>
                </a:solidFill>
              </a:rPr>
              <a:t>数据来源重邮考研答疑群内学弟学妹填写，可作为参考，不能作为真实数据依赖！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88629" y="756424"/>
            <a:ext cx="10071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报考重邮</a:t>
            </a:r>
            <a:r>
              <a:rPr lang="en-US" altLang="zh-CN">
                <a:solidFill>
                  <a:schemeClr val="tx1"/>
                </a:solidFill>
              </a:rPr>
              <a:t>802</a:t>
            </a:r>
            <a:r>
              <a:rPr lang="zh-CN" altLang="en-US">
                <a:solidFill>
                  <a:schemeClr val="tx1"/>
                </a:solidFill>
              </a:rPr>
              <a:t>数据结构相关专业课的同学可以看到</a:t>
            </a:r>
            <a:r>
              <a:rPr lang="en-US" altLang="zh-CN">
                <a:solidFill>
                  <a:schemeClr val="tx1"/>
                </a:solidFill>
              </a:rPr>
              <a:t>27</a:t>
            </a:r>
            <a:r>
              <a:rPr lang="zh-CN" altLang="en-US">
                <a:solidFill>
                  <a:schemeClr val="tx1"/>
                </a:solidFill>
              </a:rPr>
              <a:t>跨考的同学一下少了很多，跨考的同学注意了，一定要好好复习！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796" y="2251771"/>
            <a:ext cx="5667080" cy="150487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29" y="2251771"/>
            <a:ext cx="5667080" cy="153344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089041" y="4061427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918038" y="4061427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2457" y="5002448"/>
            <a:ext cx="1010740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tx1"/>
                </a:solidFill>
              </a:rPr>
              <a:t>*</a:t>
            </a:r>
            <a:r>
              <a:rPr lang="zh-CN" altLang="en-US" sz="1200">
                <a:solidFill>
                  <a:schemeClr val="tx1"/>
                </a:solidFill>
              </a:rPr>
              <a:t>数据来源重邮考研答疑群内学弟学妹填写，可作为参考，不能作为真实数据依赖！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63934" y="2251136"/>
            <a:ext cx="5695653" cy="153344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788629" y="756424"/>
            <a:ext cx="100718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二战的同学变多！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30" y="2221928"/>
            <a:ext cx="5676604" cy="1523921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089041" y="5871749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918038" y="5871749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88629" y="1183793"/>
            <a:ext cx="100718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首先，</a:t>
            </a:r>
            <a:r>
              <a:rPr lang="en-US" altLang="zh-CN">
                <a:solidFill>
                  <a:schemeClr val="tx1"/>
                </a:solidFill>
              </a:rPr>
              <a:t>27</a:t>
            </a:r>
            <a:r>
              <a:rPr lang="zh-CN" altLang="en-US">
                <a:solidFill>
                  <a:schemeClr val="tx1"/>
                </a:solidFill>
              </a:rPr>
              <a:t>计算机专硕与软件专硕统一招生，所以</a:t>
            </a:r>
            <a:r>
              <a:rPr lang="en-US" altLang="zh-CN">
                <a:solidFill>
                  <a:schemeClr val="tx1"/>
                </a:solidFill>
              </a:rPr>
              <a:t>26</a:t>
            </a:r>
            <a:r>
              <a:rPr lang="zh-CN" altLang="en-US">
                <a:solidFill>
                  <a:schemeClr val="tx1"/>
                </a:solidFill>
              </a:rPr>
              <a:t>的总体数据要看计专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软专，即：</a:t>
            </a:r>
            <a:r>
              <a:rPr lang="en-US" altLang="zh-CN">
                <a:solidFill>
                  <a:schemeClr val="tx1"/>
                </a:solidFill>
              </a:rPr>
              <a:t>58.47%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27</a:t>
            </a:r>
            <a:r>
              <a:rPr lang="zh-CN" altLang="en-US">
                <a:solidFill>
                  <a:schemeClr val="tx1"/>
                </a:solidFill>
              </a:rPr>
              <a:t>同比下降了</a:t>
            </a:r>
            <a:r>
              <a:rPr lang="en-US" altLang="zh-CN">
                <a:solidFill>
                  <a:schemeClr val="tx1"/>
                </a:solidFill>
              </a:rPr>
              <a:t>13%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27</a:t>
            </a:r>
            <a:r>
              <a:rPr lang="zh-CN" altLang="en-US">
                <a:solidFill>
                  <a:schemeClr val="tx1"/>
                </a:solidFill>
              </a:rPr>
              <a:t>人工智能学院整体无论是学硕又或者专硕，报考人数都有所增加，同比增长</a:t>
            </a:r>
            <a:r>
              <a:rPr lang="en-US" altLang="zh-CN">
                <a:solidFill>
                  <a:schemeClr val="tx1"/>
                </a:solidFill>
              </a:rPr>
              <a:t>7%</a:t>
            </a:r>
            <a:r>
              <a:rPr lang="zh-CN" altLang="en-US">
                <a:solidFill>
                  <a:schemeClr val="tx1"/>
                </a:solidFill>
              </a:rPr>
              <a:t>左右，学硕除人学有所上升，其他依旧维持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冷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的状态！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14" y="2712798"/>
            <a:ext cx="5705178" cy="321928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9489" y="2712798"/>
            <a:ext cx="5667080" cy="3219282"/>
          </a:xfrm>
          <a:prstGeom prst="rect">
            <a:avLst/>
          </a:prstGeom>
        </p:spPr>
      </p:pic>
      <p:pic>
        <p:nvPicPr>
          <p:cNvPr id="3" name="图片 2" descr="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089041" y="5026615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918038" y="5026615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88629" y="1649869"/>
            <a:ext cx="100718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四六级基本比例保持不变，基本一半的同学都没过四级，成绩才是</a:t>
            </a:r>
            <a:r>
              <a:rPr lang="zh-CN" altLang="en-US">
                <a:solidFill>
                  <a:schemeClr val="tx1"/>
                </a:solidFill>
              </a:rPr>
              <a:t>最重要的！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93" y="2634677"/>
            <a:ext cx="5648031" cy="1923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846" y="2634677"/>
            <a:ext cx="5781374" cy="19144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089041" y="5450134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26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群内报考数据统计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918038" y="5450134"/>
            <a:ext cx="336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27</a:t>
            </a:r>
            <a:r>
              <a:rPr lang="zh-CN" altLang="en-US" b="1">
                <a:solidFill>
                  <a:srgbClr val="FF0000"/>
                </a:solidFill>
              </a:rPr>
              <a:t>群内报考数据统计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5890"/>
            <a:ext cx="12191365" cy="361931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88629" y="1406664"/>
            <a:ext cx="10071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基本数据保持不变，不要担心自己什么都没有，有一半的同学都是一样的情况，重邮是很公平的学校，一切以实力与成绩说话！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19" y="2492458"/>
            <a:ext cx="5695653" cy="258114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572" y="2531826"/>
            <a:ext cx="5590884" cy="2600190"/>
          </a:xfrm>
          <a:prstGeom prst="rect">
            <a:avLst/>
          </a:prstGeom>
        </p:spPr>
      </p:pic>
      <p:pic>
        <p:nvPicPr>
          <p:cNvPr id="4" name="图片 3" descr="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3980" y="2595245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二、专业课复习路径（基础、强化、冲刺）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52577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专业课是主线，政治与AI按现场时间展开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774823"/>
          <a:ext cx="10545775" cy="1682496"/>
        </p:xfrm>
        <a:graphic>
          <a:graphicData uri="http://schemas.openxmlformats.org/drawingml/2006/table">
            <a:tbl>
              <a:tblPr/>
              <a:tblGrid>
                <a:gridCol w="3515360"/>
                <a:gridCol w="3515156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必讲内容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可选内容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50分钟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完整专业课主线＋短问答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简讲政治与AI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60分钟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完整主线＋案例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政治＋AI＋互动问答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4612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4046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先看一个反差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86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最难的章节，不一定最值得投入最多时间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840228"/>
          <a:ext cx="10545775" cy="1261872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学习体感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802复习重点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KMP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原理抽象、理解费劲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next与nextval手算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顺序表与链表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概念直观、操作基础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程序阅读与算法题的重要载体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3070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复习不能按“哪里最难”平均分配时间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80161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更有效的判断是：</a:t>
            </a:r>
            <a:r>
              <a:rPr lang="en-US" sz="1800" b="1" dirty="0">
                <a:solidFill>
                  <a:srgbClr val="000000"/>
                </a:solidFill>
              </a:rPr>
              <a:t>考什么、怎么考、分值在哪里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527253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这也是整场分享的主线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5763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我的备考背景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4454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备考时间不长，更需要减少无效消耗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79323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我的备考周期偏紧，数学、英语和专业课同时占用时间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6415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身体不适短暂停下后，重新进入状态的成本比想象中高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3507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我没有依赖临考前爆发，而是尽量保持每天都向前推进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20598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以下内容是个人复盘，不是要求所有人照搬的唯一方案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300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备考节奏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140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稳定学习比偶尔爆发更可靠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865628"/>
          <a:ext cx="10545775" cy="1261872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短期感受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长期结果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连续稳定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每天进度不一定惊人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知识不断线、启动成本低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爆发后停摆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单日完成很多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遗忘与重新进入状态消耗更大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896112" y="435610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目标不是每天刷新学习时长，而是维持可持续的有效学习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82701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状态差时也保留最低动作：复盘错题、背</a:t>
            </a:r>
            <a:r>
              <a:rPr lang="zh-CN" altLang="en-US" sz="1800" dirty="0">
                <a:solidFill>
                  <a:srgbClr val="000000"/>
                </a:solidFill>
              </a:rPr>
              <a:t>单词</a:t>
            </a:r>
            <a:r>
              <a:rPr lang="en-US" sz="1800" dirty="0">
                <a:solidFill>
                  <a:srgbClr val="000000"/>
                </a:solidFill>
              </a:rPr>
              <a:t>、做</a:t>
            </a:r>
            <a:r>
              <a:rPr lang="zh-CN" altLang="en-US" sz="1800" dirty="0">
                <a:solidFill>
                  <a:srgbClr val="000000"/>
                </a:solidFill>
              </a:rPr>
              <a:t>数学题</a:t>
            </a:r>
            <a:endParaRPr lang="zh-CN" altLang="en-US" sz="1800" dirty="0">
              <a:solidFill>
                <a:srgbClr val="000000"/>
              </a:solidFill>
            </a:endParaRPr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3129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关于学习时长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9153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八小时是我的参考值，不是所有人的硬指标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86689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我的经验是尽量保证每天约八小时学习时间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33781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有课、实习或基础不同的人，需要按自己的条件调整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80873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判断标准应是：任务是否完成、知识是否吸收、第二天能否继续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27964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长时间坐着不等于有效学习，复盘结果比计时软件更重要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专业课主线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自命题复习，先研究试卷再研究教材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先确定得分任务，再决定章节投入</a:t>
            </a:r>
            <a:endParaRPr lang="en-US" sz="17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8747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802是自命题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7152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开始复习前，先回答四个问题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823083"/>
          <a:ext cx="10545776" cy="210312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要查的材料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考哪些章节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最新考纲与学校通知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题型和分值如何分布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近年真题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常用什么方式考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真题答案与评分要求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哪些内容变化过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不同年份考纲与试卷对照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54803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学校、考纲、科目代码与分值等事实，以官方文件和原始试卷为准</a:t>
            </a:r>
            <a:endParaRPr lang="en-US" sz="15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5" name="图片 4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25095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近年试卷结构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3499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现有2024—2026资料显示四类稳定任务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22960" y="268655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近年分值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复习任务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程序阅读题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约20分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看懂代码、补空、分析功能与复杂度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填空题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约30分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KMP、数组地址、堆调整、后缀表达式等手算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综合应用题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约70分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图树查找排序等过程分析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算法分析题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3题共30分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思想＋代码或伪代码＋复杂度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018278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依据项目内2024—2026真题材料；2026回忆版为阅读20分、填空10空每空3分、综合70分、算法题8＋10＋12分，以最新官方信息为准</a:t>
            </a:r>
            <a:endParaRPr lang="en-US" sz="15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51574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时间分配目标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9979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用更少的专业课时间，完成更明确的得分任务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951353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数学、英语同样需要大量时间，专业课不能无限扩张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422269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不追求每个章节研究到同样深度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893185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高频题型练到可复现，低频内容达到识别和基础作答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64101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用真题暴露缺口，再回教材补对应知识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0238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章节投入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8643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按考查方式分配精力，而不是平均用力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822960" y="2737993"/>
          <a:ext cx="10545775" cy="2523744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章节或能力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建议投入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训练重点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线性表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定义、插删、逆置、快慢指针、条件删除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树与图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递归、层序、DFS、BFS、拓扑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查找与排序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折半、BST、散列表、哈夫曼、快排、堆排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栈与队列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基本操作＋作为算法工具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串与KMP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按题型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next与nextval手算、基础概念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3985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KMP怎么学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2389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理解到能手算，不必把全部时间耗在匹配代码上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77545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KMP原理抽象，第一次学觉得难很正常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4637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现有课程与近年真题资料把重点放在</a:t>
            </a:r>
            <a:r>
              <a:rPr lang="en-US" sz="1800" b="1" dirty="0">
                <a:solidFill>
                  <a:srgbClr val="000000"/>
                </a:solidFill>
              </a:rPr>
              <a:t>next、nextval数组手算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1729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先做到给定模式串能稳定算对，再补原理解释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8820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若最新考纲或新真题改变考法，再调整代码训练深度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50562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2024、2025真题均出现next数组手算填空（2026回忆版未见）；“不重点训练匹配代码”是基于现有资料的备考取舍</a:t>
            </a:r>
            <a:endParaRPr lang="en-US" sz="1500" dirty="0"/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3129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线性表怎么学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1533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基础操作看似简单，却常承载代码分数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86689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顺序表与链表的定义、插入、删除必须能独立写出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33781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链表题常把经典操作换一个条件：逆置、合并、找倒数第k个、条件删除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80873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近三年程序阅读年年考链表：2024</a:t>
            </a:r>
            <a:r>
              <a:rPr lang="zh-CN" altLang="en-US" sz="1800" dirty="0">
                <a:solidFill>
                  <a:srgbClr val="000000"/>
                </a:solidFill>
              </a:rPr>
              <a:t>链表前</a:t>
            </a:r>
            <a:r>
              <a:rPr lang="en-US" sz="1800" dirty="0">
                <a:solidFill>
                  <a:srgbClr val="000000"/>
                </a:solidFill>
              </a:rPr>
              <a:t>插与合并、2025双向链表与排序、2026</a:t>
            </a:r>
            <a:r>
              <a:rPr lang="zh-CN" altLang="en-US" sz="1800" dirty="0">
                <a:solidFill>
                  <a:srgbClr val="000000"/>
                </a:solidFill>
              </a:rPr>
              <a:t>两条链表求</a:t>
            </a:r>
            <a:r>
              <a:rPr lang="en-US" sz="1800" dirty="0">
                <a:solidFill>
                  <a:srgbClr val="000000"/>
                </a:solidFill>
              </a:rPr>
              <a:t>交集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27964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代码题难点往往不在新算法，而在指针次序和边界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75056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空表、头结点、尾结点、k是否合法要形成检查习惯</a:t>
            </a:r>
            <a:endParaRPr lang="en-US" sz="1800" dirty="0"/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1889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栈与队列怎么学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0294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操作本身不复杂，价值在于支撑其他算法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2754503"/>
          <a:ext cx="10545775" cy="1261872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直接操作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典型用途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入栈、出栈、判空判满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递归理解、括号匹配、深度优先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队列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入队、出队、判空判满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层序遍历、广度优先、分层处理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244975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学完操作后要追问：它在树、图和递归中解决什么问题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807331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近三年真题里它们是程序阅读常客：2024拓扑排序、2025循环队列、2026共享栈</a:t>
            </a:r>
            <a:endParaRPr lang="en-US" sz="15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8971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第一轮复习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7375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可以借用408体系建立完整知识框架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92531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数据结构的大部分核心知识与408重合，成熟课程便于搭建框架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39623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第一轮跟课时，把概念、结构和经典算法学完整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86715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每学完一章，用802考纲划掉超范围或低优先级内容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06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不直接照搬408的题量与难度分配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046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408材料怎么筛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86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内容重合，不代表复习要求完全相同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822960" y="2840228"/>
          <a:ext cx="10545776" cy="1682496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可直接借用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需要按802调整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线性表、树、图、查找、排序的基础体系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题型、分值和书写方式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高质量真题与课后题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超出802考纲的知识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经典算法的图解与推导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某些约定、代码风格与手算侧重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51324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筛题依据是最新802考纲与近年真题，不是“408考过所以802一定考”</a:t>
            </a:r>
            <a:endParaRPr lang="en-US" sz="15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5763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范围变化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4167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外部排序纳入范围，不等于可以预测具体题型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79323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最新考纲已列入外部排序，就应完成基本概念和典型过程复习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6415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过去若干年是否出现，不能替代对最新考纲的核对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3507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“可能只占一道基础题”只能作为个人风险判断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20598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复习策略是先保住高频主干，再给新增范围留出基础覆盖时间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6207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题源选择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4612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题目价值有层级，不需要见题就做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22960" y="2797683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近年802真题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判断题型、难度、书写要求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802范围内的408真题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补充高质量变式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高质量教材课后题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巩固章节基础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谨慎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早年真题、校内卷、普通模拟题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先判断范围与命题风格是否仍匹配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59575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用题方法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7980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做408题不是追数量，而是提取可迁移的思路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3031363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只选802考纲覆盖的章节和题型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502279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做完标记“用了什么结构、什么模板、改了什么条件”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973195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把优秀解法压缩成可复现的步骤，不收藏整页答案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44111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再回到802真题，检查这些方法能否直接迁移</a:t>
            </a:r>
            <a:endParaRPr lang="en-US" sz="1800" dirty="0"/>
          </a:p>
        </p:txBody>
      </p:sp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  <p:pic>
        <p:nvPicPr>
          <p:cNvPr id="2" name="图片 1" descr="基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1345565"/>
            <a:ext cx="6254750" cy="2734945"/>
          </a:xfrm>
          <a:prstGeom prst="rect">
            <a:avLst/>
          </a:prstGeom>
        </p:spPr>
      </p:pic>
      <p:pic>
        <p:nvPicPr>
          <p:cNvPr id="11" name="图片 10" descr="强化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60" y="4338955"/>
            <a:ext cx="6253480" cy="182372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7331075" y="1850390"/>
            <a:ext cx="401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7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基础班介绍：适合正在一轮基础，或看了王道，基础不够扎实的同学，可在快速过一遍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70000"/>
              </a:lnSpc>
              <a:buNone/>
            </a:pP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391400" y="4615815"/>
            <a:ext cx="50031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强化班介绍：适合二轮强化，会有重要知识点的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回顾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强化刷题思路，方法，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举一反三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397750" y="5419090"/>
            <a:ext cx="50031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现报名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强化班送基础班，价格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359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（包含资料书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本）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以及初试专业课全程答疑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5" y="254381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三、代码如何复习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（代码题训练与备考工具）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6207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代码题训练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4612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为802初试大量刷LeetCode，投入产出通常不高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822960" y="2797683"/>
          <a:ext cx="10545776" cy="1261872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训练目标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更合适的练习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802初试得分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真题、经典模板、纸笔伪代码、复杂度分析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复试与编程能力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LeetCode、在线判题、可运行代码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288155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LeetCode有价值，但不能替代针对802题型的训练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59071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时间紧时，先保证真题原型能在纸上完整写出</a:t>
            </a:r>
            <a:endParaRPr lang="en-US" sz="18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3604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代码题本质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2008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近年题目常见“经典模板＋条件改写”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822960" y="2771648"/>
          <a:ext cx="10545776" cy="2944368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题目表面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可复用模板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链表原地逆置与重组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头插法、断链拼接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倒数第k个结点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快慢指针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树的路径、结点统计与判定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递归三件套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图中满足条件的路径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DFS回溯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无权距离与分层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BFS分层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拓扑序列验证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入度表法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8145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真题原型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6550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2024—2026材料能看到模板连续出现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822960" y="2917063"/>
          <a:ext cx="10545775" cy="168249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年份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题目示例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对应能力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判二叉排序树、长度为k的路径、繁荣度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递归、DFS、层序分层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倒数第k元素、根到叶最长路径、经过指定点路径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快慢指针、递归、DFS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约瑟夫环、遍历序列建树、拓扑序列验证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循环链表、递归建树、入度表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5659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示例来自项目内真题资料，2026三题分值为8、10、12分；训练重点是识别骨架并补边界</a:t>
            </a:r>
            <a:endParaRPr lang="en-US" sz="15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6494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考场书写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4899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算法题按三件套组织答案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822960" y="2900553"/>
          <a:ext cx="10545776" cy="1682496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要写什么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算法思想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使用的数据结构、主要步骤、关键条件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代码或伪代码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函数签名、核心逻辑、必要边界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时间复杂度与空间复杂度及其依据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811649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练习时就按答题格式写，不要只在脑中“会做”</a:t>
            </a:r>
            <a:endParaRPr lang="en-US" sz="18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41351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三轮复习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9755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每一轮解决不同问题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822960" y="2849118"/>
          <a:ext cx="10545775" cy="168249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阶段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第一轮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建立知识框架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跟课＋教材＋章节基础题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第二轮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建立题型与模板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真题分类＋模板默写＋错题回补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第三轮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提升限时输出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整套训练＋纸笔作答＋查缺补漏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60214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轮次不按日历机械切换，以“能否完成本轮目标”作为进入下一轮的条件</a:t>
            </a:r>
            <a:endParaRPr lang="en-US" sz="1500" dirty="0"/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  <p:pic>
        <p:nvPicPr>
          <p:cNvPr id="2" name="图片 1" descr="代办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5" y="1268095"/>
            <a:ext cx="5764530" cy="2103120"/>
          </a:xfrm>
          <a:prstGeom prst="rect">
            <a:avLst/>
          </a:prstGeom>
        </p:spPr>
      </p:pic>
      <p:pic>
        <p:nvPicPr>
          <p:cNvPr id="5" name="图片 4" descr="真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500755"/>
            <a:ext cx="5765165" cy="273685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7331075" y="1955165"/>
            <a:ext cx="401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7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代码专项班介绍：如果代码看不懂，零基础，跨考，想深化代码能力，都可以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391400" y="3987165"/>
            <a:ext cx="50031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真题班介绍：真题分类讲解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逐年讲解，完全吃透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真题的考点，题型，以及各种知识点可能考察的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397750" y="5419090"/>
            <a:ext cx="50031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现报名都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包含资料书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本，以及初试专业课全程答疑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具体可找管理全能王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学长了解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43129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其他科目经验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1533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政治不必过早焦虑，但要为后期留出完整阶段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86689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如果目标不是政治冲高分，前期可优先保证数学、英语和专业课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33781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具体启动时间取决于基础、目标分数和当年安排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80873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后期开启后要形成课程、刷题、背诵与模拟的完整闭环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27964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这是我的时间分配经验，不是适用于所有人的固定月份表</a:t>
            </a:r>
            <a:endParaRPr lang="en-US" sz="1800" dirty="0"/>
          </a:p>
        </p:txBody>
      </p:sp>
      <p:pic>
        <p:nvPicPr>
          <p:cNvPr id="11" name="图片 10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2" name="图片 11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32588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AI辅助备考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是一个非常好的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助教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822960" y="2560193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合适做法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必须核验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让AI换角度解释概念、比较算法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公式、代码与边界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笔记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整理Markdown、表格、结构图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是否遗漏与原文是否一致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汇总学校、考纲、经验信息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官方通知、日期、科目与分值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出题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根据资料生成变式与模拟题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答案正确性与是否超纲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4914773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不上传身份证、准考证、成绩单等敏感信息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5385689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真题、考纲和学校政策必须回到原始来源确认</a:t>
            </a:r>
            <a:endParaRPr lang="en-US" sz="1800" dirty="0"/>
          </a:p>
        </p:txBody>
      </p:sp>
      <p:pic>
        <p:nvPicPr>
          <p:cNvPr id="7" name="图片 6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344295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收束与问答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28343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把时间花在能形成分数的动作上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779903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保持稳定节奏，用结果而不是单日时长评价学习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50819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自命题先研究考纲、真题、题型与分值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21735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章节不平均用力，代码题训练经典模板与条件改写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92651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借用408的体系和题源，但按802范围筛选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63567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AI可以提高效率，事实必须核验，答案必须自己会写</a:t>
            </a:r>
            <a:endParaRPr lang="en-US" sz="1800" dirty="0"/>
          </a:p>
        </p:txBody>
      </p:sp>
      <p:pic>
        <p:nvPicPr>
          <p:cNvPr id="10" name="图片 9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407035" y="4765675"/>
            <a:ext cx="63931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押题班介绍：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包含划重点汇总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模拟卷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6-12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套及解析（部分有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讲解），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押题卷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套及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右图为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年的封面参考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模拟卷可单独购买，押题卷需报名押题班（也包含模拟卷）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" name="图片 2" descr="冲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5" y="1487805"/>
            <a:ext cx="5495925" cy="2305685"/>
          </a:xfrm>
          <a:prstGeom prst="rect">
            <a:avLst/>
          </a:prstGeom>
        </p:spPr>
      </p:pic>
      <p:pic>
        <p:nvPicPr>
          <p:cNvPr id="4" name="图片 3" descr="封面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630" y="1081405"/>
            <a:ext cx="2611120" cy="3693795"/>
          </a:xfrm>
          <a:prstGeom prst="rect">
            <a:avLst/>
          </a:prstGeom>
        </p:spPr>
      </p:pic>
      <p:pic>
        <p:nvPicPr>
          <p:cNvPr id="6" name="图片 5" descr="封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330" y="1081405"/>
            <a:ext cx="2611120" cy="369379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108190" y="5079365"/>
            <a:ext cx="148780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模拟卷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6-12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9892665" y="5079365"/>
            <a:ext cx="148780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押题卷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873365" y="5445125"/>
            <a:ext cx="36703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都包含重难点汇总，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查缺补漏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10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  <p:pic>
        <p:nvPicPr>
          <p:cNvPr id="2" name="图片 1" descr="详情页1"/>
          <p:cNvPicPr>
            <a:picLocks noChangeAspect="1"/>
          </p:cNvPicPr>
          <p:nvPr/>
        </p:nvPicPr>
        <p:blipFill>
          <a:blip r:embed="rId3"/>
          <a:srcRect t="9549"/>
          <a:stretch>
            <a:fillRect/>
          </a:stretch>
        </p:blipFill>
        <p:spPr>
          <a:xfrm>
            <a:off x="1300480" y="1543050"/>
            <a:ext cx="4887595" cy="4420870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6188075" y="2739390"/>
            <a:ext cx="50031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资料书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内容：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第一册：核心讲义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第二册：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07-26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真题及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第三册：强化练习题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习题集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第四册：考点总结</a:t>
            </a:r>
            <a:r>
              <a:rPr lang="en-US" altLang="zh-CN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真题分类</a:t>
            </a: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现178，包含初试全程答疑服务!</a:t>
            </a: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endParaRPr lang="zh-CN" altLang="en-US" sz="14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207125" y="4428490"/>
            <a:ext cx="50031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以上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的全部课程内容：基础班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强化班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代码班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真题班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押题班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资料书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模拟卷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押题卷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答疑，优惠后是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！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报名咨询群管理：全能王学长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QQ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1241785442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5" y="254381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最后祝大家</a:t>
            </a:r>
            <a:r>
              <a:rPr lang="en-US" altLang="zh-CN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</a:t>
            </a: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一战</a:t>
            </a: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上岸！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自由问答</a:t>
            </a: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环节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331470"/>
            <a:ext cx="2990850" cy="763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7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8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9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10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13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14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17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18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.xml><?xml version="1.0" encoding="utf-8"?>
<p:tagLst xmlns:p="http://schemas.openxmlformats.org/presentationml/2006/main">
  <p:tag name="KSO_WM_DIAGRAM_VIRTUALLY_FRAME" val="{&quot;height&quot;:230.85,&quot;left&quot;:30.5,&quot;top&quot;:146.25,&quot;width&quot;:906.05}"/>
</p:tagLst>
</file>

<file path=ppt/tags/tag21.xml><?xml version="1.0" encoding="utf-8"?>
<p:tagLst xmlns:p="http://schemas.openxmlformats.org/presentationml/2006/main">
  <p:tag name="KSO_WM_DIAGRAM_VIRTUALLY_FRAME" val="{&quot;height&quot;:230.85,&quot;left&quot;:30.5,&quot;top&quot;:146.25,&quot;width&quot;:906.05}"/>
</p:tagLst>
</file>

<file path=ppt/tags/tag22.xml><?xml version="1.0" encoding="utf-8"?>
<p:tagLst xmlns:p="http://schemas.openxmlformats.org/presentationml/2006/main">
  <p:tag name="KSO_WM_DIAGRAM_VIRTUALLY_FRAME" val="{&quot;height&quot;:230.85,&quot;left&quot;:30.5,&quot;top&quot;:146.25,&quot;width&quot;:906.05}"/>
</p:tagLst>
</file>

<file path=ppt/tags/tag23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26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27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30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31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34.xml><?xml version="1.0" encoding="utf-8"?>
<p:tagLst xmlns:p="http://schemas.openxmlformats.org/presentationml/2006/main">
  <p:tag name="KSO_WM_DIAGRAM_VIRTUALLY_FRAME" val="{&quot;height&quot;:230.85,&quot;left&quot;:37.8,&quot;top&quot;:146.25,&quot;width&quot;:898.75}"/>
</p:tagLst>
</file>

<file path=ppt/tags/tag35.xml><?xml version="1.0" encoding="utf-8"?>
<p:tagLst xmlns:p="http://schemas.openxmlformats.org/presentationml/2006/main">
  <p:tag name="KSO_WM_DIAGRAM_VIRTUALLY_FRAME" val="{&quot;height&quot;:208.05,&quot;left&quot;:37.8,&quot;top&quot;:146.25,&quot;width&quot;:898.75}"/>
</p:tagLst>
</file>

<file path=ppt/tags/tag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4982</Words>
  <Application>WPS 演示</Application>
  <PresentationFormat>On-screen Show (16:9)</PresentationFormat>
  <Paragraphs>683</Paragraphs>
  <Slides>43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等线 Light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802专业课备考经验分享</dc:title>
  <dc:creator>牙膏学长</dc:creator>
  <dc:subject>PptxGenJS Presentation</dc:subject>
  <cp:lastModifiedBy>倾殇醉</cp:lastModifiedBy>
  <cp:revision>38</cp:revision>
  <dcterms:created xsi:type="dcterms:W3CDTF">2026-08-16T08:48:00Z</dcterms:created>
  <dcterms:modified xsi:type="dcterms:W3CDTF">2026-08-19T16:45:09Z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24F23B51D6B94E968D934FACB218F5A8_13</vt:lpwstr>
  </property>
  <property fmtid="{D5CDD505-2E9C-101B-9397-08002B2CF9AE}" pid="3" name="KSOProductBuildVer">
    <vt:lpwstr>2052-12.1.0.28043</vt:lpwstr>
  </property>
</Properties>
</file>