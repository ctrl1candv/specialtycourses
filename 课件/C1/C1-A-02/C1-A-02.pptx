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 / 18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0" y="2148840"/>
            <a:ext cx="121916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重邮802 数据结构代码课程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0" y="2834640"/>
            <a:ext cx="12191695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C语言基础阶段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0" y="4114800"/>
            <a:ext cx="1219169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第2节 数据类型、变量与输入输出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0" y="4846320"/>
            <a:ext cx="121916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阶段：基础 ｜ 主讲：牙膏学长 ｜ 预计35分钟 ｜ 资料答疑：伴梦研途QQ群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 / 18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9082735" y="960120"/>
            <a:ext cx="228600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5240">
            <a:solidFill>
              <a:srgbClr val="C0392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082735" y="96012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0392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第2节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先看一个问题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写死的字，应付不了真题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822960" y="2395728"/>
            <a:ext cx="10545775" cy="795528"/>
          </a:xfrm>
          <a:prstGeom prst="rect">
            <a:avLst/>
          </a:prstGeom>
          <a:solidFill>
            <a:srgbClr val="F5F6F7"/>
          </a:solidFill>
          <a:ln w="9525">
            <a:solidFill>
              <a:srgbClr val="D8DB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78992" y="2505456"/>
            <a:ext cx="10033711" cy="5760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3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printf("第一行\n");        // 内容在写代码时就定死了
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96112" y="3392424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上一节的printf，只能打印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事先写死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的内容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896112" y="3863340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802算法题里，k的值是题目给的，元素的值是算出来的——这些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活数据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放哪？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896112" y="4334256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本节目标：学完你能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存数据、算类型、让数据进出程序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 / 18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先回顾再出发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上一节的骨架，你还记得吗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22960" y="2395728"/>
            <a:ext cx="10545775" cy="1746504"/>
          </a:xfrm>
          <a:prstGeom prst="rect">
            <a:avLst/>
          </a:prstGeom>
          <a:solidFill>
            <a:srgbClr val="F5F6F7"/>
          </a:solidFill>
          <a:ln w="9525">
            <a:solidFill>
              <a:srgbClr val="D8DBE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78992" y="2505456"/>
            <a:ext cx="10033711" cy="1527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3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#include &lt;stdio.h&gt;
int main(){
    printf("你好\n");
    return 0;
}
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96112" y="4343400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五个部分：头文件、宏定义、main、函数体、return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96112" y="4814316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这个骨架今天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原样复用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，我们只往里面装新东西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96112" y="5285232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今天装三样：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变量、类型、输入输出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 / 18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思想先行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变量 = 带名字的盒子</a:t>
            </a:r>
            <a:endParaRPr lang="en-US" sz="28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395728"/>
          <a:ext cx="10545775" cy="914400"/>
        </p:xfrm>
        <a:graphic>
          <a:graphicData uri="http://schemas.openxmlformats.org/drawingml/2006/table">
            <a:tbl>
              <a:tblPr/>
              <a:tblGrid>
                <a:gridCol w="3515258"/>
                <a:gridCol w="3515258"/>
                <a:gridCol w="3515258"/>
              </a:tblGrid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盒子名（变量名）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盒子规格（类型）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装的东西（值）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score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int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125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level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char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'A'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pi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double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3.14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96112" y="4306824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内存是一长排小格子，变量是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起了名字的格子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896112" y="4777740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写 score = 125，就是把125放进名为score的格子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96112" y="5248656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每个格子还有编号（地址）——编号有什么用，强化阶段讲指针时揭晓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 / 18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盒子有大有小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802用得到的类型，就四种</a:t>
            </a:r>
            <a:endParaRPr lang="en-US" sz="28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395728"/>
          <a:ext cx="10545775" cy="914400"/>
        </p:xfrm>
        <a:graphic>
          <a:graphicData uri="http://schemas.openxmlformats.org/drawingml/2006/table">
            <a:tbl>
              <a:tblPr/>
              <a:tblGrid>
                <a:gridCol w="2636444"/>
                <a:gridCol w="2636444"/>
                <a:gridCol w="2636444"/>
                <a:gridCol w="2636444"/>
              </a:tblGrid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类型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装什么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盒子大小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802里装什么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int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整数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4字节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分数、下标、length、k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char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一个字符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1字节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等级'A'、换行符'\n'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double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小数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8字节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平均值、圆周率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bool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真/假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1字节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判断的结果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22960" y="4727448"/>
            <a:ext cx="10545775" cy="35890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802伪代码的元素类型统一按int读，看到ElemType不用纠结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822960" y="5196078"/>
            <a:ext cx="10545775" cy="35890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'A'在电脑里存的是65——字符和整数底层相通，后面手算题会用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 / 18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声明与赋值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先开盒子，再放东西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22960" y="2395728"/>
            <a:ext cx="10545775" cy="1508760"/>
          </a:xfrm>
          <a:prstGeom prst="rect">
            <a:avLst/>
          </a:prstGeom>
          <a:solidFill>
            <a:srgbClr val="F5F6F7"/>
          </a:solidFill>
          <a:ln w="9525">
            <a:solidFill>
              <a:srgbClr val="D8DBE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78992" y="2505456"/>
            <a:ext cx="10033711" cy="12893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3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 score;            // 第1步：声明，先占一个盒子
score = 125;          // 第2步：赋值，把数据放进去
int target = 120;     // 简写：声明的同时赋初值（初始化）
score = score + 5;    // 把右边算出的结果，放回左边的盒子
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96112" y="4105656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=是赋值，不是数学里的等于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：先算右边，再放进左边的盒子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96112" y="4576572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变量必须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先声明再使用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，没声明就用，编译器直接报错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96112" y="5047488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命名规则：字母、数字、下划线，不能数字开头，区分大小写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7 / 18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本节难忘时刻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int x = 3.9，x里是几？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22960" y="2395728"/>
            <a:ext cx="10545775" cy="1033272"/>
          </a:xfrm>
          <a:prstGeom prst="rect">
            <a:avLst/>
          </a:prstGeom>
          <a:solidFill>
            <a:srgbClr val="F5F6F7"/>
          </a:solidFill>
          <a:ln w="9525">
            <a:solidFill>
              <a:srgbClr val="D8DBE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78992" y="2505456"/>
            <a:ext cx="10033711" cy="8138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3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 x = 3.9;
printf("%d", x);      // 打印出来是几？
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96112" y="3630168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猜4的同学，数学思维很好，但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C语言不四舍五入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96112" y="4101084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答案是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3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：int盒子装不下小数，小数部分直接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截断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扔掉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96112" y="4572000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想装3.9，就得用double盒子——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类型决定盒子能装什么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8 / 18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常量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不变的数，也给它起个名字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22960" y="2395728"/>
            <a:ext cx="10545775" cy="1271016"/>
          </a:xfrm>
          <a:prstGeom prst="rect">
            <a:avLst/>
          </a:prstGeom>
          <a:solidFill>
            <a:srgbClr val="F5F6F7"/>
          </a:solidFill>
          <a:ln w="9525">
            <a:solidFill>
              <a:srgbClr val="D8DBE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78992" y="2505456"/>
            <a:ext cx="10033711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3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#define MaxSize 1000      // 上一节的老朋友
#define PI 3.14
const int DAYS = 365;     // 另一种写法：赋值后不许再改
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96112" y="3867912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字面常量：直接写在代码里的 125、3.14、'A'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96112" y="4338828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命名常量：改一处全变，看名字就知道含义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96112" y="4809744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802真题顺序表里的 MaxSize，就是这个用法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9 / 18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printf的新花样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把盒子里的东西打出来</a:t>
            </a:r>
            <a:endParaRPr lang="en-US" sz="28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395728"/>
          <a:ext cx="10545775" cy="914400"/>
        </p:xfrm>
        <a:graphic>
          <a:graphicData uri="http://schemas.openxmlformats.org/drawingml/2006/table">
            <a:tbl>
              <a:tblPr/>
              <a:tblGrid>
                <a:gridCol w="3515258"/>
                <a:gridCol w="3515258"/>
                <a:gridCol w="3515258"/>
              </a:tblGrid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占位符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对应类型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例子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%d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int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printf("分数：%d", score)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%c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char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printf("等级：%c", level)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%f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double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printf("圆周率：%f", pi)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96112" y="4306824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占位符先占位，后面的变量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按顺序一一对应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896112" y="4777740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占位符和类型是同一套对应关系，跟上一页的类型表一起记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 / 18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两个真实的坑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printf配错了，不报错，但结果全错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22960" y="2395728"/>
            <a:ext cx="10545775" cy="1271016"/>
          </a:xfrm>
          <a:prstGeom prst="rect">
            <a:avLst/>
          </a:prstGeom>
          <a:solidFill>
            <a:srgbClr val="F5F6F7"/>
          </a:solidFill>
          <a:ln w="9525">
            <a:solidFill>
              <a:srgbClr val="D8DBE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78992" y="2505456"/>
            <a:ext cx="10033711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3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double pi = 3.14;
printf("%d", pi);     // 拿%d打小数：打出一串乱数，不报错
printf("%f", pi);     // 正确：3.140000（%f默认6位小数）
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96112" y="3867912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类型配错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不报错、程序照跑、结果全错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——这种坑最阴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96112" y="4338828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%f默认打6位小数：3.14打出来是3.140000，不是bug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96112" y="4809744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想打百分号本身，写两个：%%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11 / 18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板书推演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从零写：声明变量并打印出来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822960" y="2194560"/>
            <a:ext cx="10545775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任务：写一个完整程序，声明int存目标分120、int存当前分95、double存圆周率3.14，再用%d和%f分别打印。分六步：头文件 → main开头 → 声明并初始化三个变量 → printf打印 → return 0 → 补右花括号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822960" y="3017520"/>
            <a:ext cx="10545775" cy="2788920"/>
          </a:xfrm>
          <a:prstGeom prst="rect">
            <a:avLst/>
          </a:prstGeom>
          <a:solidFill>
            <a:srgbClr val="FFFFFF"/>
          </a:solidFill>
          <a:ln w="12700">
            <a:solidFill>
              <a:srgbClr val="B9C0C9"/>
            </a:solidFill>
            <a:prstDash val="dash"/>
          </a:ln>
        </p:spPr>
      </p:sp>
      <p:sp>
        <p:nvSpPr>
          <p:cNvPr id="7" name="Text 5"/>
          <p:cNvSpPr/>
          <p:nvPr/>
        </p:nvSpPr>
        <p:spPr>
          <a:xfrm>
            <a:off x="822960" y="534924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此处板书推演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12 / 18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板书结论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程序长这样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22960" y="2395728"/>
            <a:ext cx="10545775" cy="2935224"/>
          </a:xfrm>
          <a:prstGeom prst="rect">
            <a:avLst/>
          </a:prstGeom>
          <a:solidFill>
            <a:srgbClr val="F5F6F7"/>
          </a:solidFill>
          <a:ln w="9525">
            <a:solidFill>
              <a:srgbClr val="D8DBE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78992" y="2505456"/>
            <a:ext cx="10033711" cy="27157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3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#include &lt;stdio.h&gt;
int main(){
    int target = 120;
    int score = 95;
    double pi = 3.14;
    printf("目标分：%d\n", target);
    printf("当前分：%d\n", score);
    printf("圆周率：%f\n", pi);
    return 0;
}
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" y="5532120"/>
            <a:ext cx="10545775" cy="35890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运行结果：目标分120、当前分95、圆周率3.140000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13 / 18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把数据拿进来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scanf：让用户输入数据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22960" y="2395728"/>
            <a:ext cx="10545775" cy="1508760"/>
          </a:xfrm>
          <a:prstGeom prst="rect">
            <a:avLst/>
          </a:prstGeom>
          <a:solidFill>
            <a:srgbClr val="F5F6F7"/>
          </a:solidFill>
          <a:ln w="9525">
            <a:solidFill>
              <a:srgbClr val="D8DBE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78992" y="2505456"/>
            <a:ext cx="10033711" cy="12893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3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 score;
printf("请输入你的分数：");
scanf("%d", &amp;score);            // 等用户键盘输入，存进score
printf("你输入的是：%d\n", score);
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96112" y="4105656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程序跑到scanf会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停下来等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，等你敲数字、敲回车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96112" y="4576572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&amp;score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：变量名前必须加&amp;——为什么，强化阶段讲指针时揭晓，现在照写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96112" y="5047488"/>
            <a:ext cx="10454335" cy="7406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scanf占位符和printf大体一样：%d收整数、%c收字符；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读小数给double用%lf</a:t>
            </a:r>
            <a:endParaRPr lang="en-US" sz="1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14 / 18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scanf再加点料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一次读两个数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22960" y="2395728"/>
            <a:ext cx="10545775" cy="1271016"/>
          </a:xfrm>
          <a:prstGeom prst="rect">
            <a:avLst/>
          </a:prstGeom>
          <a:solidFill>
            <a:srgbClr val="F5F6F7"/>
          </a:solidFill>
          <a:ln w="9525">
            <a:solidFill>
              <a:srgbClr val="D8DBE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78992" y="2505456"/>
            <a:ext cx="10033711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3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 a, b;
scanf("%d %d", &amp;a, &amp;b);       // 占位符写几个，就收几个
printf("和是：%d\n", a + b);
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96112" y="3867912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几个占位符，几个变量，几个&amp;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，一一对应，一个不能少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96112" y="4338828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输入时，两个数中间用空格或回车隔开都行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96112" y="4809744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以后写"读两个数求平均、比大小"，开头全是这句</a:t>
            </a:r>
            <a:endParaRPr lang="en-US" sz="1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15 / 18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一个真实的坑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scanf读字符，回车会捣乱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22960" y="2395728"/>
            <a:ext cx="10545775" cy="1508760"/>
          </a:xfrm>
          <a:prstGeom prst="rect">
            <a:avLst/>
          </a:prstGeom>
          <a:solidFill>
            <a:srgbClr val="F5F6F7"/>
          </a:solidFill>
          <a:ln w="9525">
            <a:solidFill>
              <a:srgbClr val="D8DBE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78992" y="2505456"/>
            <a:ext cx="10033711" cy="12893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3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 n;
char ch;
scanf("%d", &amp;n);        // 先读一个整数
scanf("%c", &amp;ch);       // 再读字符：出问题了
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96112" y="4105656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现象：第二个scanf像被跳过，程序直接往下跑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96112" y="4576572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原因：上次敲数字留下的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回车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，被%c当成字符收走了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96112" y="5047488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现在知道有这个坑就行，救法在讲字符处理时专门说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16 / 18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为什么单独讲bool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bool：802伪代码里遍地都是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22960" y="2395728"/>
            <a:ext cx="10545775" cy="1508760"/>
          </a:xfrm>
          <a:prstGeom prst="rect">
            <a:avLst/>
          </a:prstGeom>
          <a:solidFill>
            <a:srgbClr val="F5F6F7"/>
          </a:solidFill>
          <a:ln w="9525">
            <a:solidFill>
              <a:srgbClr val="D8DBE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78992" y="2505456"/>
            <a:ext cx="10033711" cy="12893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3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bool InitList(SqList &amp;L){       // 802伪代码：顺序表初始化
    L.length = 0;
    return true;                // 成功，返回true
}
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96112" y="4105656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bool只有两个值：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true和false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，表示"成没成功、是还是否"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96112" y="4576572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802基本操作几乎都返回bool：初始化、插入、删除、入栈、入队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96112" y="5047488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上机跑C代码时，开头加一句</a:t>
            </a:r>
            <a:endParaRPr lang="en-US" sz="1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17 / 18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本节总结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这节就三件事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896112" y="2395728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变量 = 带名字的盒子，类型 = 盒子规格，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int装不下小数，直接截断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96112" y="2866644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printf用%d/%c/%f拿出去，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类型配错不报错但结果全错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96112" y="3337560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scanf变量前加&amp;拿进来，&amp;的道理强化阶段揭晓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22960" y="3899916"/>
            <a:ext cx="10545775" cy="35890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下一节：运算符，让程序会算</a:t>
            </a:r>
            <a:endParaRPr lang="en-US" sz="15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18 / 18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课后任务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1道跟练 ＋ 1道模仿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896112" y="2395728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跟练题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：写一个程序，用scanf读入你的目标分数，再用printf打印出来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96112" y="2866644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模仿题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：用double存你今天复习的小时数，用%f打印，看输出几位小数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96112" y="3337560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挑战题（选做）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：写 int x = 3.9; 打印x，亲眼看看截断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22960" y="3899916"/>
            <a:ext cx="10545775" cy="35890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写完对照讲稿附录的参考答案；要求：合上笔记能默写"声明—赋值—打印"三行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数据类型、变量与输入输出</dc:title>
  <dc:subject>PptxGenJS Presentation</dc:subject>
  <dc:creator>牙膏学长</dc:creator>
  <cp:lastModifiedBy>牙膏学长</cp:lastModifiedBy>
  <cp:revision>1</cp:revision>
  <dcterms:created xsi:type="dcterms:W3CDTF">2026-08-20T13:10:02Z</dcterms:created>
  <dcterms:modified xsi:type="dcterms:W3CDTF">2026-08-20T13:10:02Z</dcterms:modified>
</cp:coreProperties>
</file>