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71" r:id="rId15"/>
    <p:sldId id="266" r:id="rId16"/>
    <p:sldId id="267" r:id="rId17"/>
    <p:sldId id="268" r:id="rId18"/>
    <p:sldId id="269" r:id="rId19"/>
    <p:sldId id="270" r:id="rId20"/>
  </p:sldIdLst>
  <p:sldSz cx="12191365" cy="6858000"/>
  <p:notesSz cx="6858000" cy="1219136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0" y="214884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重邮802 数据结构代码课程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0" y="2834640"/>
            <a:ext cx="12191695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C语言强化阶段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4114800"/>
            <a:ext cx="12191695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第6节 递归与综合实战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0" y="4846320"/>
            <a:ext cx="12191695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阶段：强化 ｜ 主讲：牙膏学长 ｜ 预计42分钟 ｜ 资料答疑：伴梦研途QQ群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引题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函数调用自己，允许吗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void countdown(int n){
    printf("%d ", n);
    countdown(n - 1);      // 函数调用自己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允许，这叫</a:t>
            </a:r>
            <a:r>
              <a:rPr lang="en-US" sz="1800" b="1" dirty="0">
                <a:solidFill>
                  <a:srgbClr val="000000"/>
                </a:solidFill>
              </a:rPr>
              <a:t>递归</a:t>
            </a:r>
            <a:r>
              <a:rPr lang="en-US" sz="1800" dirty="0">
                <a:solidFill>
                  <a:srgbClr val="000000"/>
                </a:solidFill>
              </a:rPr>
              <a:t>：函数自己调自己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但这段代码有问题：它永远停不下来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本节目标：学会递归的三要素，看懂调用栈，最后从零手写顺序表和单链表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递归三要素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递归三要素：终止、缩小、返回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fact(int n){           // 求n的阶乘
    if (n == 0) return 1;  // ① 终止条件
    return n * fact(n - 1);// ② 缩小规模 ③ 返回结果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终止条件：什么时候不再调用自己，没有它就是无底洞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缩小规模：每次调用都要离终止更近一步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返回值：把自己这层的结果交回给上一层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递归怎么运行：一层一层展开，再一层一层收回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fact(3)调fact(2)，fact(2)调fact(1)，一路到fact(0)触发终止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每层调用都有自己的格子：参数n各是各的，互不干扰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收回时逐层交结果：1、1、2、6，最后fact(3)返回6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调用栈推演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fact(3)的调用栈：展开与收回（拿纸跟着画）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① 竖着叠四层框：fact(3)、fact(2)、fact(1)、fact(0)，每层标自己的n，向下箭头是调用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32095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② 从fact(0)往上画返回箭头：逐层交回1、1、2、6，向上箭头是返回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对比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递归与迭代：一套问题，两种写法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迭代版阶乘
int result = 1;
for(int i = 1; i &lt;= n; i++)
    result = result * i;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迭代靠循环，一层格子从头跑到尾；递归靠调用，层数随问题展开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阶乘这种问题，迭代更省；递归的优势在结构自带层次的问题上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两种都要会：读代码要都认得，写代码按问题选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两个事故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递归的两大事故：无限递归与重复爆炸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int fib(int n){
    if(n &lt;= 1) return n;
    return fib(n - 1) + fib(n - 2);
}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忘写终止条件：一层层调下去，栈被撑爆，程序崩溃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斐波那契的写法里，同样的子问题被反复算，n稍大就慢到不能忍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规矩：写递归先写终止条件；看见重复计算，知道有更聪明的记结果写法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综合实战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把四样工具装进一个能跑的程序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目标不是学顺序表和链表：插入删除、头结点、查找那些是数据结构课的内容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今天只练四样工具的组合：结构体、指针、动态内存、引用传参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第一个组合：结构体里装数组，再配一个计数的成员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3900170"/>
            <a:ext cx="10546080" cy="2041525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9" name="Shape 7"/>
          <p:cNvSpPr/>
          <p:nvPr/>
        </p:nvSpPr>
        <p:spPr>
          <a:xfrm>
            <a:off x="822960" y="3900170"/>
            <a:ext cx="76200" cy="2041525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10" name="Text 8"/>
          <p:cNvSpPr/>
          <p:nvPr/>
        </p:nvSpPr>
        <p:spPr>
          <a:xfrm>
            <a:off x="1078865" y="4009390"/>
            <a:ext cx="10033635" cy="1845945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List {
    int data[10];    // 数据：结构体里装数组
    int length;      // 计数：数组自己不知道存了几个
};
void initList(struct List &amp;L){ L.length = 0; }   // 引用传参改外面的表</a:t>
            </a:r>
            <a:endParaRPr lang="en-US" sz="1400" dirty="0">
              <a:solidFill>
                <a:srgbClr val="1F2329"/>
              </a:solidFill>
              <a:latin typeface="Consolas" panose="020B0609020204030204" pitchFamily="34" charset="0"/>
              <a:ea typeface="Consolas" panose="020B0609020204030204" pitchFamily="34" charset="-122"/>
              <a:cs typeface="Consolas" panose="020B0609020204030204" pitchFamily="34" charset="-120"/>
            </a:endParaRPr>
          </a:p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  <a:sym typeface="+mn-ea"/>
              </a:rPr>
              <a:t>void insert(struct List &amp;L, int x){ ... }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9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结构体里装指针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自引用：成员是指向同类结构体的指针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508760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508760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8930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Node {
    int data;              // 数据
    struct Node *next;     // 指向同类的指针
};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10565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数组必须连成一片、大小写死；要让几块分开的内存互相认识，只能用指针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4576572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自引用合法的关键在星号：成员是地址，不需要知道Node内部多大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96112" y="504748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成员写struct Node next（不带星号）就不行：套下去没有尽头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96112" y="551840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定义里struct不能省，此刻还没有别名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10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造、串、走、还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malloc造结构体，箭头串起来，指针走一遍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450737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450737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231281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struct Node *p = (struct Node *)malloc(sizeof(struct Node));
if (p == NULL) return 1;
p-&gt;data = 10;
p-&gt;next = q;        // 串：前一个的next存后一个的地址
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96112" y="4047633"/>
            <a:ext cx="10454335" cy="3787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住堆上：数量运行时才知道，而且要活得比函数长（上节课的选型）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96112" y="4499499"/>
            <a:ext cx="10454335" cy="3787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next先置NULL：malloc不清零，垃圾地址会让遍历跑飞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896112" y="4951365"/>
            <a:ext cx="10454335" cy="3787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走一遍：while(p != NULL)，打印p-&gt;data，再p = p-&gt;next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96112" y="5403231"/>
            <a:ext cx="10454335" cy="37871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700" dirty="0">
                <a:solidFill>
                  <a:srgbClr val="000000"/>
                </a:solidFill>
              </a:rPr>
              <a:t>收尾三块都free再置NULL，账才平</a:t>
            </a:r>
            <a:endParaRPr lang="en-US" sz="1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11 / 16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12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综合内存图推演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一张图把这一阶段全画上（拿纸跟着画）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① 画栈：一个格子标p，里面装地址（局部变量住栈上）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② 画堆上三片分开的结构体格，每片两格：左data右next，填10、20、30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3375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③ next互串画箭头，最后一片next写NULL；p的箭头指到第一片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808476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④ 走一遍：p沿箭头挪三次打印，变NULL时循环停；free后格子涂掉、箭头失效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13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本节小结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今天就两件事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递归三要素：终止条件、缩小规模、返回值；运行过程是调用栈的展开与收回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四样工具的组合：结构体装数组也装指针、malloc造结构体、引用传参改外面、free平账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一张综合内存图：栈上指针、堆上分开的结构体格、箭头、NULL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2428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顺序表与链表的正式内容（插删、头结点、查找）在数据结构课讲；强化阶段到此完结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14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课后任务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1道跟练 ＋ 1道模仿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96112" y="2395728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跟练题</a:t>
            </a:r>
            <a:r>
              <a:rPr lang="en-US" sz="1800" dirty="0">
                <a:solidFill>
                  <a:srgbClr val="000000"/>
                </a:solidFill>
              </a:rPr>
              <a:t>：手写阶乘的递归版与迭代版，都跑通，再把fact(3)的调用栈画一遍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96112" y="2866644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b="1" dirty="0">
                <a:solidFill>
                  <a:srgbClr val="000000"/>
                </a:solidFill>
              </a:rPr>
              <a:t>模仿题</a:t>
            </a:r>
            <a:r>
              <a:rPr lang="en-US" sz="1800" dirty="0">
                <a:solidFill>
                  <a:srgbClr val="000000"/>
                </a:solidFill>
              </a:rPr>
              <a:t>：malloc三个struct Node，data填1、2、3，用next串起来，遍历打印后全部free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" y="3680460"/>
            <a:ext cx="10454335" cy="740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要求：合上资料能默写fact递归版、struct Node定义、malloc＋判空＋箭头赋值＋free四步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4585716"/>
            <a:ext cx="10545775" cy="35890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参考答案在本PPT最后两页，课后自行对照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15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跟练题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跟练题参考答案（自行对照）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1984248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1984248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1764792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4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阶乘递归版（fact(5)=120）
int fact(int n){
    if (n == 0) return 1;    // 终止条件
    return n * fact(n - 1);  // 缩小 + 返回
}
// 迭代版：result=1; for(i=1;i&lt;=n;i++) result*=i;
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4581144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fact(3)调用栈：3→2→1→0四层展开，返回1、1、2、6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96112" y="5052060"/>
            <a:ext cx="10454335" cy="3977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8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800" dirty="0">
                <a:solidFill>
                  <a:srgbClr val="000000"/>
                </a:solidFill>
              </a:rPr>
              <a:t>迭代版只用result和i两个变量，空间从头到尾不变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362895" y="6016752"/>
            <a:ext cx="14630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A909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16 / 16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45775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参考答案 · 模仿题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344168"/>
            <a:ext cx="10545775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F232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模仿题参考答案（自行对照）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822960" y="2395728"/>
            <a:ext cx="10545775" cy="2253654"/>
          </a:xfrm>
          <a:prstGeom prst="rect">
            <a:avLst/>
          </a:prstGeom>
          <a:solidFill>
            <a:srgbClr val="F7F9FC"/>
          </a:solidFill>
        </p:spPr>
      </p:sp>
      <p:sp>
        <p:nvSpPr>
          <p:cNvPr id="6" name="Shape 4"/>
          <p:cNvSpPr/>
          <p:nvPr/>
        </p:nvSpPr>
        <p:spPr>
          <a:xfrm>
            <a:off x="822960" y="2395728"/>
            <a:ext cx="50292" cy="2253654"/>
          </a:xfrm>
          <a:prstGeom prst="rect">
            <a:avLst/>
          </a:prstGeom>
          <a:solidFill>
            <a:srgbClr val="1F4E9C"/>
          </a:solidFill>
        </p:spPr>
      </p:sp>
      <p:sp>
        <p:nvSpPr>
          <p:cNvPr id="7" name="Text 5"/>
          <p:cNvSpPr/>
          <p:nvPr/>
        </p:nvSpPr>
        <p:spPr>
          <a:xfrm>
            <a:off x="1078992" y="2505456"/>
            <a:ext cx="10033711" cy="2034198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200" dirty="0">
                <a:solidFill>
                  <a:srgbClr val="1F2329"/>
                </a:solidFill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// 三结点单链表：造、串、走、还
struct Node { int data; struct Node *next; };
struct Node *a = (struct Node *)malloc(sizeof(struct Node));
// b、c同样造法，判空不能省；data分别填1、2、3
a-&gt;next = b;  b-&gt;next = c;  c-&gt;next = NULL;
struct Node *p = a;
while(p != NULL){ printf("%d ", p-&gt;data); p = p-&gt;next; }
free(a); free(b); free(c);
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96112" y="4850550"/>
            <a:ext cx="10454335" cy="359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600" dirty="0">
                <a:solidFill>
                  <a:srgbClr val="000000"/>
                </a:solidFill>
              </a:rPr>
              <a:t>输出1 2 3；串联就是前一个的next存后一个的地址，遍历到NULL停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5283366"/>
            <a:ext cx="10454335" cy="359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600" dirty="0">
                <a:solidFill>
                  <a:srgbClr val="000000"/>
                </a:solidFill>
              </a:rPr>
              <a:t>三个结点都要free，有借有还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96112" y="5716182"/>
            <a:ext cx="10454335" cy="359664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F4E9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 </a:t>
            </a:r>
            <a:r>
              <a:rPr lang="en-US" sz="1600" dirty="0">
                <a:solidFill>
                  <a:srgbClr val="000000"/>
                </a:solidFill>
              </a:rPr>
              <a:t>代码省略头文件与main骨架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3222</Words>
  <Application>WPS 演示</Application>
  <PresentationFormat>On-screen Show (16:9)</PresentationFormat>
  <Paragraphs>205</Paragraphs>
  <Slides>16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29" baseType="lpstr">
      <vt:lpstr>Arial</vt:lpstr>
      <vt:lpstr>宋体</vt:lpstr>
      <vt:lpstr>Wingdings</vt:lpstr>
      <vt:lpstr>微软雅黑</vt:lpstr>
      <vt:lpstr>微软雅黑</vt:lpstr>
      <vt:lpstr>Consolas</vt:lpstr>
      <vt:lpstr>Consolas</vt:lpstr>
      <vt:lpstr>Consolas</vt:lpstr>
      <vt:lpstr>Calibri</vt:lpstr>
      <vt:lpstr>Arial Unicode MS</vt:lpstr>
      <vt:lpstr>等线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递归与综合实战</dc:title>
  <dc:creator>牙膏学长</dc:creator>
  <dc:subject>PptxGenJS Presentation</dc:subject>
  <cp:lastModifiedBy>倾殇醉</cp:lastModifiedBy>
  <cp:revision>6</cp:revision>
  <dcterms:created xsi:type="dcterms:W3CDTF">2026-09-04T14:12:00Z</dcterms:created>
  <dcterms:modified xsi:type="dcterms:W3CDTF">2026-09-04T14:42:07Z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4F89576619E54C8FA0F84D2D8AD50F9C_12</vt:lpwstr>
  </property>
</Properties>
</file>