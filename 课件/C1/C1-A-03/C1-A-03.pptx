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y="6858000" cx="12191365"/>
  <p:notesSz cx="6858000" cy="12191365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3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873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3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3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4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15</a:t>
            </a:r>
            <a:endParaRPr dirty="0" sz="1000" lang="en-US"/>
          </a:p>
        </p:txBody>
      </p:sp>
      <p:sp>
        <p:nvSpPr>
          <p:cNvPr id="1048653" name="Text 1"/>
          <p:cNvSpPr/>
          <p:nvPr/>
        </p:nvSpPr>
        <p:spPr>
          <a:xfrm>
            <a:off x="0" y="2148840"/>
            <a:ext cx="12191695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dirty="0" sz="1800" lang="en-US"/>
          </a:p>
        </p:txBody>
      </p:sp>
      <p:sp>
        <p:nvSpPr>
          <p:cNvPr id="1048654" name="Text 2"/>
          <p:cNvSpPr/>
          <p:nvPr/>
        </p:nvSpPr>
        <p:spPr>
          <a:xfrm>
            <a:off x="0" y="2834640"/>
            <a:ext cx="12191695" cy="11430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C语言基础阶段</a:t>
            </a:r>
            <a:endParaRPr dirty="0" sz="4800" lang="en-US"/>
          </a:p>
        </p:txBody>
      </p:sp>
      <p:sp>
        <p:nvSpPr>
          <p:cNvPr id="1048655" name="Text 3"/>
          <p:cNvSpPr/>
          <p:nvPr/>
        </p:nvSpPr>
        <p:spPr>
          <a:xfrm>
            <a:off x="0" y="4114800"/>
            <a:ext cx="12191695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第3节 运算符与表达式</a:t>
            </a:r>
            <a:endParaRPr dirty="0" sz="2000" lang="en-US"/>
          </a:p>
        </p:txBody>
      </p:sp>
      <p:sp>
        <p:nvSpPr>
          <p:cNvPr id="1048656" name="Text 4"/>
          <p:cNvSpPr/>
          <p:nvPr/>
        </p:nvSpPr>
        <p:spPr>
          <a:xfrm>
            <a:off x="0" y="4846320"/>
            <a:ext cx="12191695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阶段：基础 ｜ 主讲：牙膏学长 ｜ 预计30分钟 ｜ 资料答疑：伴梦研途QQ群</a:t>
            </a:r>
            <a:endParaRPr dirty="0" sz="14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15</a:t>
            </a:r>
            <a:endParaRPr dirty="0" sz="1000" lang="en-US"/>
          </a:p>
        </p:txBody>
      </p:sp>
      <p:sp>
        <p:nvSpPr>
          <p:cNvPr id="1048661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048662" name="Text 2"/>
          <p:cNvSpPr/>
          <p:nvPr/>
        </p:nvSpPr>
        <p:spPr>
          <a:xfrm>
            <a:off x="9082735" y="960120"/>
            <a:ext cx="22860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第3节</a:t>
            </a:r>
            <a:endParaRPr dirty="0" sz="1300" lang="en-US"/>
          </a:p>
        </p:txBody>
      </p:sp>
      <p:sp>
        <p:nvSpPr>
          <p:cNvPr id="1048663" name="Text 3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先看上一节写到哪</a:t>
            </a:r>
            <a:endParaRPr dirty="0" sz="1400" lang="en-US"/>
          </a:p>
        </p:txBody>
      </p:sp>
      <p:sp>
        <p:nvSpPr>
          <p:cNvPr id="1048664" name="Text 4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程序光会存，不会算</a:t>
            </a:r>
            <a:endParaRPr dirty="0" sz="2800" lang="en-US"/>
          </a:p>
        </p:txBody>
      </p:sp>
      <p:sp>
        <p:nvSpPr>
          <p:cNvPr id="1048665" name="Shape 5"/>
          <p:cNvSpPr/>
          <p:nvPr/>
        </p:nvSpPr>
        <p:spPr>
          <a:xfrm>
            <a:off x="822960" y="2395728"/>
            <a:ext cx="10545775" cy="1271016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66" name="Text 6"/>
          <p:cNvSpPr/>
          <p:nvPr/>
        </p:nvSpPr>
        <p:spPr>
          <a:xfrm>
            <a:off x="1078992" y="2505456"/>
            <a:ext cx="10033711" cy="1051560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score;
scanf("%d", &amp;score);      // 上一节：数据进来了
printf("%d", score);      // 只能原样打出去
</a:t>
            </a:r>
            <a:endParaRPr dirty="0" sz="1400" lang="en-US"/>
          </a:p>
        </p:txBody>
      </p:sp>
      <p:sp>
        <p:nvSpPr>
          <p:cNvPr id="1048667" name="Text 7"/>
          <p:cNvSpPr/>
          <p:nvPr/>
        </p:nvSpPr>
        <p:spPr>
          <a:xfrm>
            <a:off x="896112" y="3867912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上一节的程序会存数据、会打印，但</a:t>
            </a:r>
            <a:r>
              <a:rPr b="1" dirty="0" sz="1800" lang="en-US">
                <a:solidFill>
                  <a:srgbClr val="000000"/>
                </a:solidFill>
              </a:rPr>
              <a:t>什么也算不了</a:t>
            </a:r>
            <a:r>
              <a:rPr dirty="0" sz="1800" lang="en-US">
                <a:solidFill>
                  <a:srgbClr val="000000"/>
                </a:solidFill>
              </a:rPr>
              <a:t>，就是个传声筒</a:t>
            </a:r>
            <a:endParaRPr dirty="0" sz="1800" lang="en-US"/>
          </a:p>
        </p:txBody>
      </p:sp>
      <p:sp>
        <p:nvSpPr>
          <p:cNvPr id="1048668" name="Text 8"/>
          <p:cNvSpPr/>
          <p:nvPr/>
        </p:nvSpPr>
        <p:spPr>
          <a:xfrm>
            <a:off x="896112" y="433882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代码里到处是计算：判断奇偶、取个位、比较大小、数结点个数</a:t>
            </a:r>
            <a:endParaRPr dirty="0" sz="1800" lang="en-US"/>
          </a:p>
        </p:txBody>
      </p:sp>
      <p:sp>
        <p:nvSpPr>
          <p:cNvPr id="1048669" name="Text 9"/>
          <p:cNvSpPr/>
          <p:nvPr/>
        </p:nvSpPr>
        <p:spPr>
          <a:xfrm>
            <a:off x="896112" y="480974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本节目标：学完你能用</a:t>
            </a:r>
            <a:r>
              <a:rPr b="1" dirty="0" sz="1800" lang="en-US">
                <a:solidFill>
                  <a:srgbClr val="000000"/>
                </a:solidFill>
              </a:rPr>
              <a:t>五类运算符</a:t>
            </a:r>
            <a:r>
              <a:rPr dirty="0" sz="1800" lang="en-US">
                <a:solidFill>
                  <a:srgbClr val="000000"/>
                </a:solidFill>
              </a:rPr>
              <a:t>让程序会算</a:t>
            </a:r>
            <a:endParaRPr dirty="0" sz="18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15</a:t>
            </a:r>
            <a:endParaRPr dirty="0" sz="1000" lang="en-US"/>
          </a:p>
        </p:txBody>
      </p:sp>
      <p:sp>
        <p:nvSpPr>
          <p:cNvPr id="1048674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算术运算符</a:t>
            </a:r>
            <a:endParaRPr dirty="0" sz="1400" lang="en-US"/>
          </a:p>
        </p:txBody>
      </p:sp>
      <p:sp>
        <p:nvSpPr>
          <p:cNvPr id="1048675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加减乘除，除法有两个坑</a:t>
            </a:r>
            <a:endParaRPr dirty="0" sz="2800" lang="en-US"/>
          </a:p>
        </p:txBody>
      </p:sp>
      <p:sp>
        <p:nvSpPr>
          <p:cNvPr id="1048676" name="Shape 3"/>
          <p:cNvSpPr/>
          <p:nvPr/>
        </p:nvSpPr>
        <p:spPr>
          <a:xfrm>
            <a:off x="822960" y="2395728"/>
            <a:ext cx="10545775" cy="1508760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77" name="Text 4"/>
          <p:cNvSpPr/>
          <p:nvPr/>
        </p:nvSpPr>
        <p:spPr>
          <a:xfrm>
            <a:off x="1078992" y="2505456"/>
            <a:ext cx="10033711" cy="128930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+ b      a - b      a * b
a / b                  // 整数除法：9 / 2 等于 4，不是 4.5
9.0 / 2                // 有一个小数，结果就是小数：4.5
a % b                  // 取余：9 % 2 等于 1
</a:t>
            </a:r>
            <a:endParaRPr dirty="0" sz="1400" lang="en-US"/>
          </a:p>
        </p:txBody>
      </p:sp>
      <p:sp>
        <p:nvSpPr>
          <p:cNvPr id="1048678" name="Text 5"/>
          <p:cNvSpPr/>
          <p:nvPr/>
        </p:nvSpPr>
        <p:spPr>
          <a:xfrm>
            <a:off x="896112" y="4105656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乘号是 *，不是 ×；</a:t>
            </a:r>
            <a:r>
              <a:rPr b="1" dirty="0" sz="1800" lang="en-US">
                <a:solidFill>
                  <a:srgbClr val="000000"/>
                </a:solidFill>
              </a:rPr>
              <a:t>整数除以整数，结果还是整数</a:t>
            </a:r>
            <a:r>
              <a:rPr dirty="0" sz="1800" lang="en-US">
                <a:solidFill>
                  <a:srgbClr val="000000"/>
                </a:solidFill>
              </a:rPr>
              <a:t>，小数部分直接扔掉</a:t>
            </a:r>
            <a:endParaRPr dirty="0" sz="1800" lang="en-US"/>
          </a:p>
        </p:txBody>
      </p:sp>
      <p:sp>
        <p:nvSpPr>
          <p:cNvPr id="1048679" name="Text 6"/>
          <p:cNvSpPr/>
          <p:nvPr/>
        </p:nvSpPr>
        <p:spPr>
          <a:xfrm>
            <a:off x="896112" y="4576572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想让除法出小数：两边只要有一个小数，结果就是小数</a:t>
            </a:r>
            <a:endParaRPr dirty="0" sz="1800" lang="en-US"/>
          </a:p>
        </p:txBody>
      </p:sp>
      <p:sp>
        <p:nvSpPr>
          <p:cNvPr id="1048680" name="Text 7"/>
          <p:cNvSpPr/>
          <p:nvPr/>
        </p:nvSpPr>
        <p:spPr>
          <a:xfrm>
            <a:off x="896112" y="504748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%是取余数：9除以2商4余1，所以 9 % 2 得 1</a:t>
            </a:r>
            <a:endParaRPr dirty="0" sz="18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15</a:t>
            </a:r>
            <a:endParaRPr dirty="0" sz="1000" lang="en-US"/>
          </a:p>
        </p:txBody>
      </p:sp>
      <p:sp>
        <p:nvSpPr>
          <p:cNvPr id="1048685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取余的两个用途</a:t>
            </a:r>
            <a:endParaRPr dirty="0" sz="1400" lang="en-US"/>
          </a:p>
        </p:txBody>
      </p:sp>
      <p:sp>
        <p:nvSpPr>
          <p:cNvPr id="1048686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% 在802里</a:t>
            </a:r>
            <a:r>
              <a:rPr altLang="en-US" b="1" dirty="0" sz="280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两个用法</a:t>
            </a:r>
            <a:endParaRPr dirty="0" sz="2800" lang="en-US"/>
          </a:p>
        </p:txBody>
      </p:sp>
      <p:sp>
        <p:nvSpPr>
          <p:cNvPr id="1048687" name="Shape 3"/>
          <p:cNvSpPr/>
          <p:nvPr/>
        </p:nvSpPr>
        <p:spPr>
          <a:xfrm>
            <a:off x="822960" y="2395728"/>
            <a:ext cx="10545775" cy="1033272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88" name="Text 4"/>
          <p:cNvSpPr/>
          <p:nvPr/>
        </p:nvSpPr>
        <p:spPr>
          <a:xfrm>
            <a:off x="1078992" y="2505456"/>
            <a:ext cx="10033711" cy="813816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% 2      // 判断奇偶：得1是奇数，得0是偶数
x % 10     // 取个位：任何整数除以10的余数就是个位
</a:t>
            </a:r>
            <a:endParaRPr dirty="0" sz="1400" lang="en-US"/>
          </a:p>
        </p:txBody>
      </p:sp>
      <p:sp>
        <p:nvSpPr>
          <p:cNvPr id="1048689" name="Text 5"/>
          <p:cNvSpPr/>
          <p:nvPr/>
        </p:nvSpPr>
        <p:spPr>
          <a:xfrm>
            <a:off x="896112" y="363016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b="1" dirty="0" sz="1800" lang="en-US">
                <a:solidFill>
                  <a:srgbClr val="000000"/>
                </a:solidFill>
              </a:rPr>
              <a:t>判断奇偶</a:t>
            </a:r>
            <a:r>
              <a:rPr dirty="0" sz="1800" lang="en-US">
                <a:solidFill>
                  <a:srgbClr val="000000"/>
                </a:solidFill>
              </a:rPr>
              <a:t>：x % 2 得 1 就是奇数，得 0 就是偶数</a:t>
            </a:r>
            <a:endParaRPr dirty="0" sz="1800" lang="en-US"/>
          </a:p>
        </p:txBody>
      </p:sp>
      <p:sp>
        <p:nvSpPr>
          <p:cNvPr id="1048690" name="Text 6"/>
          <p:cNvSpPr/>
          <p:nvPr/>
        </p:nvSpPr>
        <p:spPr>
          <a:xfrm>
            <a:off x="896112" y="410108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b="1" dirty="0" sz="1800" lang="en-US">
                <a:solidFill>
                  <a:srgbClr val="000000"/>
                </a:solidFill>
              </a:rPr>
              <a:t>取个位</a:t>
            </a:r>
            <a:r>
              <a:rPr dirty="0" sz="1800" lang="en-US">
                <a:solidFill>
                  <a:srgbClr val="000000"/>
                </a:solidFill>
              </a:rPr>
              <a:t>：x % 10 直接拿到个位，取十位就 x / 10 % 10</a:t>
            </a:r>
            <a:endParaRPr dirty="0" sz="1800" lang="en-US"/>
          </a:p>
        </p:txBody>
      </p:sp>
      <p:sp>
        <p:nvSpPr>
          <p:cNvPr id="1048691" name="Text 7"/>
          <p:cNvSpPr/>
          <p:nvPr/>
        </p:nvSpPr>
        <p:spPr>
          <a:xfrm>
            <a:off x="896112" y="4572000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这两个用法在802真题和手算题里反复出现，现在就记牢</a:t>
            </a:r>
            <a:endParaRPr dirty="0" sz="18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15</a:t>
            </a:r>
            <a:endParaRPr dirty="0" sz="1000" lang="en-US"/>
          </a:p>
        </p:txBody>
      </p:sp>
      <p:sp>
        <p:nvSpPr>
          <p:cNvPr id="1048696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取余还能干这个</a:t>
            </a:r>
            <a:endParaRPr dirty="0" sz="1400" lang="en-US"/>
          </a:p>
        </p:txBody>
      </p:sp>
      <p:sp>
        <p:nvSpPr>
          <p:cNvPr id="1048697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拆时间：3670秒是几分几秒</a:t>
            </a:r>
            <a:endParaRPr dirty="0" sz="2800" lang="en-US"/>
          </a:p>
        </p:txBody>
      </p:sp>
      <p:sp>
        <p:nvSpPr>
          <p:cNvPr id="1048698" name="Shape 3"/>
          <p:cNvSpPr/>
          <p:nvPr/>
        </p:nvSpPr>
        <p:spPr>
          <a:xfrm>
            <a:off x="822960" y="2395728"/>
            <a:ext cx="10545775" cy="1033272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99" name="Text 4"/>
          <p:cNvSpPr/>
          <p:nvPr/>
        </p:nvSpPr>
        <p:spPr>
          <a:xfrm>
            <a:off x="1078992" y="2505456"/>
            <a:ext cx="10033711" cy="813816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seconds = 3670;
printf("%d分%d秒", seconds / 60, seconds % 60);
</a:t>
            </a:r>
            <a:endParaRPr dirty="0" sz="1400" lang="en-US"/>
          </a:p>
        </p:txBody>
      </p:sp>
      <p:sp>
        <p:nvSpPr>
          <p:cNvPr id="1048700" name="Text 5"/>
          <p:cNvSpPr/>
          <p:nvPr/>
        </p:nvSpPr>
        <p:spPr>
          <a:xfrm>
            <a:off x="896112" y="363016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3670秒：除以60取整，得61分钟；对60取余，得10秒</a:t>
            </a:r>
            <a:endParaRPr dirty="0" sz="1800" lang="en-US"/>
          </a:p>
        </p:txBody>
      </p:sp>
      <p:sp>
        <p:nvSpPr>
          <p:cNvPr id="1048701" name="Text 6"/>
          <p:cNvSpPr/>
          <p:nvPr/>
        </p:nvSpPr>
        <p:spPr>
          <a:xfrm>
            <a:off x="896112" y="410108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拆数字、拆时间，底层全是 / 和 % 这俩搭档</a:t>
            </a:r>
            <a:endParaRPr dirty="0" sz="1800" lang="en-US"/>
          </a:p>
        </p:txBody>
      </p:sp>
      <p:sp>
        <p:nvSpPr>
          <p:cNvPr id="1048702" name="Text 7"/>
          <p:cNvSpPr/>
          <p:nvPr/>
        </p:nvSpPr>
        <p:spPr>
          <a:xfrm>
            <a:off x="896112" y="4572000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802手算题里凡是"换算单位"的活，思路都一样</a:t>
            </a:r>
            <a:endParaRPr dirty="0" sz="18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15</a:t>
            </a:r>
            <a:endParaRPr dirty="0" sz="1000" lang="en-US"/>
          </a:p>
        </p:txBody>
      </p:sp>
      <p:sp>
        <p:nvSpPr>
          <p:cNvPr id="1048643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赋值运算符</a:t>
            </a:r>
            <a:endParaRPr dirty="0" sz="1400" lang="en-US"/>
          </a:p>
        </p:txBody>
      </p:sp>
      <p:sp>
        <p:nvSpPr>
          <p:cNvPr id="1048644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上一节的老朋友，加几个简写</a:t>
            </a:r>
            <a:endParaRPr dirty="0" sz="2800" lang="en-US"/>
          </a:p>
        </p:txBody>
      </p:sp>
      <p:sp>
        <p:nvSpPr>
          <p:cNvPr id="1048645" name="Shape 3"/>
          <p:cNvSpPr/>
          <p:nvPr/>
        </p:nvSpPr>
        <p:spPr>
          <a:xfrm>
            <a:off x="822960" y="2395728"/>
            <a:ext cx="10545775" cy="1746504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46" name="Text 4"/>
          <p:cNvSpPr/>
          <p:nvPr/>
        </p:nvSpPr>
        <p:spPr>
          <a:xfrm>
            <a:off x="1078992" y="2505456"/>
            <a:ext cx="10033711" cy="1527048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score = 125;            // 老朋友：先算右边，再放左边
score += 5;             // 等于 score = score + 5
score -= 5;             // 等于 score = score - 5
score *= 2;             // 等于 score = score * 2
score /= 2;             // 等于 score = score / 2
</a:t>
            </a:r>
            <a:endParaRPr dirty="0" sz="1400" lang="en-US"/>
          </a:p>
        </p:txBody>
      </p:sp>
      <p:sp>
        <p:nvSpPr>
          <p:cNvPr id="1048647" name="Text 5"/>
          <p:cNvSpPr/>
          <p:nvPr/>
        </p:nvSpPr>
        <p:spPr>
          <a:xfrm>
            <a:off x="896112" y="4343400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+= -= *= /= 都是简写，读法跟 = 一模一样：从右往左</a:t>
            </a:r>
            <a:endParaRPr dirty="0" sz="1800" lang="en-US"/>
          </a:p>
        </p:txBody>
      </p:sp>
      <p:sp>
        <p:nvSpPr>
          <p:cNvPr id="1048648" name="Text 6"/>
          <p:cNvSpPr/>
          <p:nvPr/>
        </p:nvSpPr>
        <p:spPr>
          <a:xfrm>
            <a:off x="896112" y="4814316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数据结构代码里 count++、length++ 到处都是，先认个脸熟</a:t>
            </a:r>
            <a:endParaRPr dirty="0" sz="18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15</a:t>
            </a:r>
            <a:endParaRPr dirty="0" sz="1000" lang="en-US"/>
          </a:p>
        </p:txBody>
      </p:sp>
      <p:sp>
        <p:nvSpPr>
          <p:cNvPr id="1048623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关系运算符</a:t>
            </a:r>
            <a:endParaRPr dirty="0" sz="1400" lang="en-US"/>
          </a:p>
        </p:txBody>
      </p:sp>
      <p:sp>
        <p:nvSpPr>
          <p:cNvPr id="1048624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比较大小，结果是个bool</a:t>
            </a:r>
            <a:endParaRPr dirty="0" sz="2800" lang="en-US"/>
          </a:p>
        </p:txBody>
      </p:sp>
      <p:sp>
        <p:nvSpPr>
          <p:cNvPr id="1048625" name="Shape 3"/>
          <p:cNvSpPr/>
          <p:nvPr/>
        </p:nvSpPr>
        <p:spPr>
          <a:xfrm>
            <a:off x="822960" y="2395728"/>
            <a:ext cx="10545775" cy="1271016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26" name="Text 4"/>
          <p:cNvSpPr/>
          <p:nvPr/>
        </p:nvSpPr>
        <p:spPr>
          <a:xfrm>
            <a:off x="1078992" y="2505456"/>
            <a:ext cx="10033711" cy="1051560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&gt; b    a &lt; b    a &gt;= b    a &lt;= b
a == b                             // 等于，两个等号！
a != b                             // 不等于
</a:t>
            </a:r>
            <a:endParaRPr dirty="0" sz="1400" lang="en-US"/>
          </a:p>
        </p:txBody>
      </p:sp>
      <p:sp>
        <p:nvSpPr>
          <p:cNvPr id="1048627" name="Text 5"/>
          <p:cNvSpPr/>
          <p:nvPr/>
        </p:nvSpPr>
        <p:spPr>
          <a:xfrm>
            <a:off x="896112" y="3867912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关系运算的结果是上一节讲的bool：</a:t>
            </a:r>
            <a:r>
              <a:rPr b="1" dirty="0" sz="1800" lang="en-US">
                <a:solidFill>
                  <a:srgbClr val="000000"/>
                </a:solidFill>
              </a:rPr>
              <a:t>对就是true，错就是false</a:t>
            </a:r>
            <a:endParaRPr dirty="0" sz="1800" lang="en-US"/>
          </a:p>
        </p:txBody>
      </p:sp>
      <p:sp>
        <p:nvSpPr>
          <p:cNvPr id="1048628" name="Text 6"/>
          <p:cNvSpPr/>
          <p:nvPr/>
        </p:nvSpPr>
        <p:spPr>
          <a:xfrm>
            <a:off x="896112" y="433882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b="1" dirty="0" sz="1800" lang="en-US">
                <a:solidFill>
                  <a:srgbClr val="000000"/>
                </a:solidFill>
              </a:rPr>
              <a:t>== 和 = 不是一回事</a:t>
            </a:r>
            <a:r>
              <a:rPr dirty="0" sz="1800" lang="en-US">
                <a:solidFill>
                  <a:srgbClr val="000000"/>
                </a:solidFill>
              </a:rPr>
              <a:t>：=是赋值，==才是比较</a:t>
            </a:r>
            <a:endParaRPr dirty="0" sz="1800" lang="en-US"/>
          </a:p>
        </p:txBody>
      </p:sp>
      <p:sp>
        <p:nvSpPr>
          <p:cNvPr id="1048629" name="Text 7"/>
          <p:cNvSpPr/>
          <p:nvPr/>
        </p:nvSpPr>
        <p:spPr>
          <a:xfrm>
            <a:off x="896112" y="4809744"/>
            <a:ext cx="10454335" cy="7406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写成 a = 3 是往盒子里放3，a == 3 才是问"a是不是3"——混用是初学头号错误</a:t>
            </a:r>
            <a:endParaRPr dirty="0" sz="18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15</a:t>
            </a:r>
            <a:endParaRPr dirty="0" sz="1000" lang="en-US"/>
          </a:p>
        </p:txBody>
      </p:sp>
      <p:sp>
        <p:nvSpPr>
          <p:cNvPr id="1048600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本节难忘时刻</a:t>
            </a:r>
            <a:endParaRPr dirty="0" sz="1400" lang="en-US"/>
          </a:p>
        </p:txBody>
      </p:sp>
      <p:sp>
        <p:nvSpPr>
          <p:cNvPr id="1048601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&lt; x &lt; 10 不是你以为的意思</a:t>
            </a:r>
            <a:endParaRPr dirty="0" sz="2800" lang="en-US"/>
          </a:p>
        </p:txBody>
      </p:sp>
      <p:sp>
        <p:nvSpPr>
          <p:cNvPr id="1048602" name="Shape 3"/>
          <p:cNvSpPr/>
          <p:nvPr/>
        </p:nvSpPr>
        <p:spPr>
          <a:xfrm>
            <a:off x="822960" y="2395728"/>
            <a:ext cx="10545775" cy="795528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03" name="Text 4"/>
          <p:cNvSpPr/>
          <p:nvPr/>
        </p:nvSpPr>
        <p:spPr>
          <a:xfrm>
            <a:off x="1078992" y="2505456"/>
            <a:ext cx="10033711" cy="576072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&lt; x &lt; 10       // 从左往右算：先算 0&lt;x，结果再和10比
</a:t>
            </a:r>
            <a:endParaRPr dirty="0" sz="1400" lang="en-US"/>
          </a:p>
        </p:txBody>
      </p:sp>
      <p:sp>
        <p:nvSpPr>
          <p:cNvPr id="1048604" name="Text 5"/>
          <p:cNvSpPr/>
          <p:nvPr/>
        </p:nvSpPr>
        <p:spPr>
          <a:xfrm>
            <a:off x="896112" y="339242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C语言不能连着写比较，它从左往右一步一步算</a:t>
            </a:r>
            <a:endParaRPr dirty="0" sz="1800" lang="en-US"/>
          </a:p>
        </p:txBody>
      </p:sp>
      <p:sp>
        <p:nvSpPr>
          <p:cNvPr id="1048605" name="Text 6"/>
          <p:cNvSpPr/>
          <p:nvPr/>
        </p:nvSpPr>
        <p:spPr>
          <a:xfrm>
            <a:off x="896112" y="3863340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0&lt;x 的结果是1或0，再拿1和10比——</a:t>
            </a:r>
            <a:r>
              <a:rPr b="1" dirty="0" sz="1800" lang="en-US">
                <a:solidFill>
                  <a:srgbClr val="000000"/>
                </a:solidFill>
              </a:rPr>
              <a:t>1&lt;10 永远成立</a:t>
            </a:r>
            <a:endParaRPr dirty="0" sz="1800" lang="en-US"/>
          </a:p>
        </p:txBody>
      </p:sp>
      <p:sp>
        <p:nvSpPr>
          <p:cNvPr id="1048606" name="Text 7"/>
          <p:cNvSpPr/>
          <p:nvPr/>
        </p:nvSpPr>
        <p:spPr>
          <a:xfrm>
            <a:off x="896112" y="4334256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你以为在判断范围，其实在判断一句废话</a:t>
            </a:r>
            <a:endParaRPr dirty="0" sz="1800" lang="en-US"/>
          </a:p>
        </p:txBody>
      </p:sp>
      <p:sp>
        <p:nvSpPr>
          <p:cNvPr id="1048607" name="Text 8"/>
          <p:cNvSpPr/>
          <p:nvPr/>
        </p:nvSpPr>
        <p:spPr>
          <a:xfrm>
            <a:off x="896112" y="4805172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正确写法：x &gt; 0 &amp;&amp; x &lt; 10，用&amp;&amp;把两个条件接起来（下一页就讲）</a:t>
            </a:r>
            <a:endParaRPr dirty="0" sz="18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15</a:t>
            </a:r>
            <a:endParaRPr dirty="0" sz="1000" lang="en-US"/>
          </a:p>
        </p:txBody>
      </p:sp>
      <p:sp>
        <p:nvSpPr>
          <p:cNvPr id="1048577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逻辑运算符</a:t>
            </a:r>
            <a:endParaRPr dirty="0" sz="1400" lang="en-US"/>
          </a:p>
        </p:txBody>
      </p:sp>
      <p:sp>
        <p:nvSpPr>
          <p:cNvPr id="1048578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与、或、非</a:t>
            </a:r>
            <a:endParaRPr dirty="0" sz="2800" lang="en-US"/>
          </a:p>
        </p:txBody>
      </p:sp>
      <p:sp>
        <p:nvSpPr>
          <p:cNvPr id="1048579" name="Shape 3"/>
          <p:cNvSpPr/>
          <p:nvPr/>
        </p:nvSpPr>
        <p:spPr>
          <a:xfrm>
            <a:off x="822960" y="2395728"/>
            <a:ext cx="10545775" cy="1271016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580" name="Text 4"/>
          <p:cNvSpPr/>
          <p:nvPr/>
        </p:nvSpPr>
        <p:spPr>
          <a:xfrm>
            <a:off x="1078992" y="2505456"/>
            <a:ext cx="10033711" cy="1051560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&amp;&amp; b     // 与：两边都为true，结果才true
a || b     // 或：两边有一个true，结果就true
!a         // 非：true变false，false变true
</a:t>
            </a:r>
            <a:endParaRPr dirty="0" sz="1400" lang="en-US"/>
          </a:p>
        </p:txBody>
      </p:sp>
      <p:sp>
        <p:nvSpPr>
          <p:cNvPr id="1048581" name="Text 5"/>
          <p:cNvSpPr/>
          <p:nvPr/>
        </p:nvSpPr>
        <p:spPr>
          <a:xfrm>
            <a:off x="896112" y="3867912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和关系运算一样，逻辑运算的结果也是bool</a:t>
            </a:r>
            <a:endParaRPr dirty="0" sz="1800" lang="en-US"/>
          </a:p>
        </p:txBody>
      </p:sp>
      <p:sp>
        <p:nvSpPr>
          <p:cNvPr id="1048582" name="Text 6"/>
          <p:cNvSpPr/>
          <p:nvPr/>
        </p:nvSpPr>
        <p:spPr>
          <a:xfrm>
            <a:off x="896112" y="433882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&amp;&amp;是"并且"，两个条件都满足才算数；||是"或者"，满足一个就行</a:t>
            </a:r>
            <a:endParaRPr dirty="0" sz="1800" lang="en-US"/>
          </a:p>
        </p:txBody>
      </p:sp>
      <p:sp>
        <p:nvSpPr>
          <p:cNvPr id="1048583" name="Text 7"/>
          <p:cNvSpPr/>
          <p:nvPr/>
        </p:nvSpPr>
        <p:spPr>
          <a:xfrm>
            <a:off x="896112" y="4809744"/>
            <a:ext cx="10454335" cy="7406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802伪代码的边界条件全是它：i &gt;= 0 &amp;&amp; i &lt; length 就是"没越界"</a:t>
            </a:r>
            <a:endParaRPr dirty="0" sz="1800" lang="en-US"/>
          </a:p>
        </p:txBody>
      </p:sp>
      <p:sp>
        <p:nvSpPr>
          <p:cNvPr id="1048584" name="Text 6"/>
          <p:cNvSpPr/>
          <p:nvPr/>
        </p:nvSpPr>
        <p:spPr>
          <a:xfrm>
            <a:off x="896112" y="526973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altLang="en-US" dirty="0" sz="1800" lang="zh-CN">
                <a:solidFill>
                  <a:srgbClr val="000000"/>
                </a:solidFill>
              </a:rPr>
              <a:t>对于语句</a:t>
            </a:r>
            <a:r>
              <a:rPr altLang="zh-CN" dirty="0" sz="1800" lang="en-US">
                <a:solidFill>
                  <a:srgbClr val="000000"/>
                </a:solidFill>
              </a:rPr>
              <a:t> p != NULL &amp;&amp; p-&gt;data != elem</a:t>
            </a:r>
            <a:r>
              <a:rPr altLang="en-US" dirty="0" sz="1800" lang="zh-CN">
                <a:solidFill>
                  <a:srgbClr val="000000"/>
                </a:solidFill>
              </a:rPr>
              <a:t>，顺序交换</a:t>
            </a:r>
            <a:r>
              <a:rPr altLang="en-US" dirty="0" sz="1800" lang="zh-CN">
                <a:solidFill>
                  <a:srgbClr val="000000"/>
                </a:solidFill>
              </a:rPr>
              <a:t>即错误</a:t>
            </a:r>
            <a:endParaRPr altLang="en-US" dirty="0" sz="1800" 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15</a:t>
            </a:r>
            <a:endParaRPr dirty="0" sz="1000" lang="en-US"/>
          </a:p>
        </p:txBody>
      </p:sp>
      <p:sp>
        <p:nvSpPr>
          <p:cNvPr id="1048589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自增自减</a:t>
            </a:r>
            <a:endParaRPr dirty="0" sz="1400" lang="en-US"/>
          </a:p>
        </p:txBody>
      </p:sp>
      <p:sp>
        <p:nvSpPr>
          <p:cNvPr id="1048590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++ 和 --：给自己加1减1</a:t>
            </a:r>
            <a:endParaRPr dirty="0" sz="2800" lang="en-US"/>
          </a:p>
        </p:txBody>
      </p:sp>
      <p:sp>
        <p:nvSpPr>
          <p:cNvPr id="1048591" name="Shape 3"/>
          <p:cNvSpPr/>
          <p:nvPr/>
        </p:nvSpPr>
        <p:spPr>
          <a:xfrm>
            <a:off x="822960" y="2395728"/>
            <a:ext cx="10545775" cy="1033272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592" name="Text 4"/>
          <p:cNvSpPr/>
          <p:nvPr/>
        </p:nvSpPr>
        <p:spPr>
          <a:xfrm>
            <a:off x="1078992" y="2505456"/>
            <a:ext cx="10033711" cy="813816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i++;        // i = i + 1
i--;        // i = i - 1
</a:t>
            </a:r>
            <a:endParaRPr dirty="0" sz="1400" lang="en-US"/>
          </a:p>
        </p:txBody>
      </p:sp>
      <p:sp>
        <p:nvSpPr>
          <p:cNvPr id="1048593" name="Text 5"/>
          <p:cNvSpPr/>
          <p:nvPr/>
        </p:nvSpPr>
        <p:spPr>
          <a:xfrm>
            <a:off x="896112" y="363016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++就是自己加1，--就是自己减1，没别的</a:t>
            </a:r>
            <a:endParaRPr dirty="0" sz="1800" lang="en-US"/>
          </a:p>
        </p:txBody>
      </p:sp>
      <p:sp>
        <p:nvSpPr>
          <p:cNvPr id="1048594" name="Text 6"/>
          <p:cNvSpPr/>
          <p:nvPr/>
        </p:nvSpPr>
        <p:spPr>
          <a:xfrm>
            <a:off x="896112" y="410108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数据结构代码里到处是它：i++、j--、length++ 数都数不过来</a:t>
            </a:r>
            <a:endParaRPr dirty="0" sz="1800" lang="en-US"/>
          </a:p>
        </p:txBody>
      </p:sp>
      <p:sp>
        <p:nvSpPr>
          <p:cNvPr id="1048595" name="Text 7"/>
          <p:cNvSpPr/>
          <p:nvPr/>
        </p:nvSpPr>
        <p:spPr>
          <a:xfrm>
            <a:off x="896112" y="4572000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i++ 和 ++i 有细微区别，</a:t>
            </a:r>
            <a:r>
              <a:rPr b="1" dirty="0" sz="1800" lang="en-US">
                <a:solidFill>
                  <a:srgbClr val="000000"/>
                </a:solidFill>
              </a:rPr>
              <a:t>等真用到了再说</a:t>
            </a:r>
            <a:r>
              <a:rPr dirty="0" sz="1800" lang="en-US">
                <a:solidFill>
                  <a:srgbClr val="000000"/>
                </a:solidFill>
              </a:rPr>
              <a:t>，现在只需要"加1"这个直觉</a:t>
            </a:r>
            <a:endParaRPr dirty="0" sz="18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15</a:t>
            </a:r>
            <a:endParaRPr dirty="0" sz="1000" lang="en-US"/>
          </a:p>
        </p:txBody>
      </p:sp>
      <p:sp>
        <p:nvSpPr>
          <p:cNvPr id="1048612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优先级</a:t>
            </a:r>
            <a:endParaRPr dirty="0" sz="1400" lang="en-US"/>
          </a:p>
        </p:txBody>
      </p:sp>
      <p:sp>
        <p:nvSpPr>
          <p:cNvPr id="1048613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只记这一句： </a:t>
            </a:r>
            <a:r>
              <a:rPr altLang="en-US" b="1" dirty="0" sz="280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自增减</a:t>
            </a: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&gt; ! &gt; </a:t>
            </a:r>
            <a:r>
              <a:rPr altLang="en-US" b="1" dirty="0" sz="280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算数</a:t>
            </a:r>
            <a:r>
              <a:rPr altLang="zh-CN"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&gt; </a:t>
            </a:r>
            <a:r>
              <a:rPr altLang="en-US" b="1" dirty="0" sz="280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</a:t>
            </a:r>
            <a:r>
              <a:rPr altLang="zh-CN"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&gt; </a:t>
            </a:r>
            <a:r>
              <a:rPr altLang="en-US" b="1" dirty="0" sz="280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</a:t>
            </a:r>
            <a:endParaRPr altLang="en-US" b="1" dirty="0" sz="2800" lang="zh-CN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48614" name="Shape 3"/>
          <p:cNvSpPr/>
          <p:nvPr/>
        </p:nvSpPr>
        <p:spPr>
          <a:xfrm>
            <a:off x="822960" y="2395728"/>
            <a:ext cx="10545775" cy="1033272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615" name="Text 4"/>
          <p:cNvSpPr/>
          <p:nvPr/>
        </p:nvSpPr>
        <p:spPr>
          <a:xfrm>
            <a:off x="1078992" y="2505456"/>
            <a:ext cx="10033711" cy="813816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+ 3 * 4        // 先算 3 * 4，再加 2，得 14
(2 + 3) * 4      // 有括号先算括号，得 20
</a:t>
            </a:r>
            <a:endParaRPr dirty="0" sz="1400" lang="en-US"/>
          </a:p>
        </p:txBody>
      </p:sp>
      <p:sp>
        <p:nvSpPr>
          <p:cNvPr id="1048616" name="Text 5"/>
          <p:cNvSpPr/>
          <p:nvPr/>
        </p:nvSpPr>
        <p:spPr>
          <a:xfrm>
            <a:off x="896112" y="363016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优先级不背全表，记住口诀：</a:t>
            </a:r>
            <a:r>
              <a:rPr altLang="en-US" b="1" dirty="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自增减</a:t>
            </a:r>
            <a:r>
              <a:rPr b="1" dirty="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&gt; ! &gt; </a:t>
            </a:r>
            <a:r>
              <a:rPr altLang="en-US" b="1" dirty="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算数</a:t>
            </a:r>
            <a:r>
              <a:rPr altLang="zh-CN" b="1" dirty="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&gt; </a:t>
            </a:r>
            <a:r>
              <a:rPr altLang="en-US" b="1" dirty="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关系</a:t>
            </a:r>
            <a:r>
              <a:rPr altLang="zh-CN" b="1" dirty="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&gt; </a:t>
            </a:r>
            <a:r>
              <a:rPr altLang="en-US" b="1" dirty="0" lang="zh-CN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逻辑</a:t>
            </a:r>
            <a:endParaRPr dirty="0" sz="1800" lang="en-US"/>
          </a:p>
        </p:txBody>
      </p:sp>
      <p:sp>
        <p:nvSpPr>
          <p:cNvPr id="1048617" name="Text 6"/>
          <p:cNvSpPr/>
          <p:nvPr/>
        </p:nvSpPr>
        <p:spPr>
          <a:xfrm>
            <a:off x="896112" y="410108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拿不准就加括号，多写一对括号不丢人</a:t>
            </a:r>
            <a:endParaRPr dirty="0" sz="1800" lang="en-US"/>
          </a:p>
        </p:txBody>
      </p:sp>
      <p:sp>
        <p:nvSpPr>
          <p:cNvPr id="1048618" name="Text 7"/>
          <p:cNvSpPr/>
          <p:nvPr/>
        </p:nvSpPr>
        <p:spPr>
          <a:xfrm>
            <a:off x="896112" y="4572000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完整的优先级表等你用到的时候再翻，现在够用</a:t>
            </a:r>
            <a:endParaRPr dirty="0" sz="18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15</a:t>
            </a:r>
            <a:endParaRPr dirty="0" sz="1000" lang="en-US"/>
          </a:p>
        </p:txBody>
      </p:sp>
      <p:sp>
        <p:nvSpPr>
          <p:cNvPr id="1048634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板书推演</a:t>
            </a:r>
            <a:endParaRPr dirty="0" sz="1400" lang="en-US"/>
          </a:p>
        </p:txBody>
      </p:sp>
      <p:sp>
        <p:nvSpPr>
          <p:cNvPr id="1048635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从零写：读入一个整数，拆出个位和十位</a:t>
            </a:r>
            <a:endParaRPr dirty="0" sz="2800" lang="en-US"/>
          </a:p>
        </p:txBody>
      </p:sp>
      <p:sp>
        <p:nvSpPr>
          <p:cNvPr id="1048636" name="Text 3"/>
          <p:cNvSpPr/>
          <p:nvPr/>
        </p:nvSpPr>
        <p:spPr>
          <a:xfrm>
            <a:off x="822960" y="2194560"/>
            <a:ext cx="10545775" cy="685800"/>
          </a:xfrm>
          <a:prstGeom prst="rect"/>
          <a:noFill/>
        </p:spPr>
        <p:txBody>
          <a:bodyPr anchor="t" rtlCol="0" wrap="square"/>
          <a:p>
            <a:pPr algn="l" indent="0" marL="0">
              <a:buNone/>
            </a:pPr>
            <a:r>
              <a:rPr dirty="0" sz="16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任务：写一个完整程序，scanf读入一个整数n，用%和/拆出个位（n%10）、十位（n/10%10），分别打印。分六步：头文件 → main开头 → 声明n并scanf读入 → 算个位十位 → printf打印 → return 0 补花括号</a:t>
            </a:r>
            <a:endParaRPr dirty="0" sz="1600" lang="en-US"/>
          </a:p>
        </p:txBody>
      </p:sp>
      <p:sp>
        <p:nvSpPr>
          <p:cNvPr id="1048637" name="Shape 4"/>
          <p:cNvSpPr/>
          <p:nvPr/>
        </p:nvSpPr>
        <p:spPr>
          <a:xfrm>
            <a:off x="822960" y="3017520"/>
            <a:ext cx="10545775" cy="2788920"/>
          </a:xfrm>
          <a:prstGeom prst="rect"/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1048638" name="Text 5"/>
          <p:cNvSpPr/>
          <p:nvPr/>
        </p:nvSpPr>
        <p:spPr>
          <a:xfrm>
            <a:off x="822960" y="5349240"/>
            <a:ext cx="10545775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2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此处板书推演</a:t>
            </a:r>
            <a:endParaRPr dirty="0" sz="12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15</a:t>
            </a:r>
            <a:endParaRPr dirty="0" sz="1000" lang="en-US"/>
          </a:p>
        </p:txBody>
      </p:sp>
      <p:sp>
        <p:nvSpPr>
          <p:cNvPr id="1048707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板书结论</a:t>
            </a:r>
            <a:endParaRPr dirty="0" sz="1400" lang="en-US"/>
          </a:p>
        </p:txBody>
      </p:sp>
      <p:sp>
        <p:nvSpPr>
          <p:cNvPr id="1048708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程序长这样</a:t>
            </a:r>
            <a:endParaRPr dirty="0" sz="2800" lang="en-US"/>
          </a:p>
        </p:txBody>
      </p:sp>
      <p:sp>
        <p:nvSpPr>
          <p:cNvPr id="1048709" name="Shape 3"/>
          <p:cNvSpPr/>
          <p:nvPr/>
        </p:nvSpPr>
        <p:spPr>
          <a:xfrm>
            <a:off x="822960" y="2395728"/>
            <a:ext cx="10545775" cy="2459736"/>
          </a:xfrm>
          <a:prstGeom prst="rect"/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1048710" name="Text 4"/>
          <p:cNvSpPr/>
          <p:nvPr/>
        </p:nvSpPr>
        <p:spPr>
          <a:xfrm>
            <a:off x="1078992" y="2505456"/>
            <a:ext cx="10033711" cy="2240280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
int main(){
    int n;
    scanf("%d", &amp;n);
    printf("个位：%d\n", n % 10);
    printf("十位：%d\n", n / 10 % 10);
    return 0;
}
</a:t>
            </a:r>
            <a:endParaRPr dirty="0" sz="1400" lang="en-US"/>
          </a:p>
        </p:txBody>
      </p:sp>
      <p:sp>
        <p:nvSpPr>
          <p:cNvPr id="1048711" name="Text 5"/>
          <p:cNvSpPr/>
          <p:nvPr/>
        </p:nvSpPr>
        <p:spPr>
          <a:xfrm>
            <a:off x="822960" y="5056632"/>
            <a:ext cx="10545775" cy="358902"/>
          </a:xfrm>
          <a:prstGeom prst="rect"/>
          <a:noFill/>
        </p:spPr>
        <p:txBody>
          <a:bodyPr anchor="t" rtlCol="0" wrap="square"/>
          <a:p>
            <a:pPr algn="l" indent="0" marL="0">
              <a:buNone/>
            </a:pPr>
            <a:r>
              <a:rPr dirty="0" sz="15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输入125，输出：个位5、十位2。%和/配合就是拆数字的组合拳</a:t>
            </a:r>
            <a:endParaRPr dirty="0" sz="15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dirty="0" sz="1000" lang="en-US"/>
          </a:p>
        </p:txBody>
      </p:sp>
      <p:sp>
        <p:nvSpPr>
          <p:cNvPr id="1048716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本节总结</a:t>
            </a:r>
            <a:endParaRPr dirty="0" sz="1400" lang="en-US"/>
          </a:p>
        </p:txBody>
      </p:sp>
      <p:sp>
        <p:nvSpPr>
          <p:cNvPr id="1048717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这节记这四条</a:t>
            </a:r>
            <a:endParaRPr dirty="0" sz="2800" lang="en-US"/>
          </a:p>
        </p:txBody>
      </p:sp>
      <p:sp>
        <p:nvSpPr>
          <p:cNvPr id="1048718" name="Text 3"/>
          <p:cNvSpPr/>
          <p:nvPr/>
        </p:nvSpPr>
        <p:spPr>
          <a:xfrm>
            <a:off x="896112" y="2395728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整数除法丢小数；取余只能对整数用</a:t>
            </a:r>
            <a:endParaRPr dirty="0" sz="1800" lang="en-US"/>
          </a:p>
        </p:txBody>
      </p:sp>
      <p:sp>
        <p:nvSpPr>
          <p:cNvPr id="1048719" name="Text 4"/>
          <p:cNvSpPr/>
          <p:nvPr/>
        </p:nvSpPr>
        <p:spPr>
          <a:xfrm>
            <a:off x="896112" y="286664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x%2判奇偶，x%10取个位，焊死</a:t>
            </a:r>
            <a:endParaRPr dirty="0" sz="1800" lang="en-US"/>
          </a:p>
        </p:txBody>
      </p:sp>
      <p:sp>
        <p:nvSpPr>
          <p:cNvPr id="1048720" name="Text 5"/>
          <p:cNvSpPr/>
          <p:nvPr/>
        </p:nvSpPr>
        <p:spPr>
          <a:xfrm>
            <a:off x="896112" y="3337560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一个=是动作，两个==是问题；范围判断不能连着写</a:t>
            </a:r>
            <a:endParaRPr dirty="0" sz="1800" lang="en-US"/>
          </a:p>
        </p:txBody>
      </p:sp>
      <p:sp>
        <p:nvSpPr>
          <p:cNvPr id="1048721" name="Text 6"/>
          <p:cNvSpPr/>
          <p:nvPr/>
        </p:nvSpPr>
        <p:spPr>
          <a:xfrm>
            <a:off x="896112" y="3808476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dirty="0" sz="1800" lang="en-US">
                <a:solidFill>
                  <a:srgbClr val="000000"/>
                </a:solidFill>
              </a:rPr>
              <a:t>优先级就一句：括号 &gt; 乘除取余 &gt; 加减</a:t>
            </a:r>
            <a:endParaRPr dirty="0" sz="1800" lang="en-US"/>
          </a:p>
        </p:txBody>
      </p:sp>
      <p:sp>
        <p:nvSpPr>
          <p:cNvPr id="1048722" name="Text 7"/>
          <p:cNvSpPr/>
          <p:nvPr/>
        </p:nvSpPr>
        <p:spPr>
          <a:xfrm>
            <a:off x="822960" y="4370832"/>
            <a:ext cx="10545775" cy="358902"/>
          </a:xfrm>
          <a:prstGeom prst="rect"/>
          <a:noFill/>
        </p:spPr>
        <p:txBody>
          <a:bodyPr anchor="t" rtlCol="0" wrap="square"/>
          <a:p>
            <a:pPr algn="l" indent="0" marL="0">
              <a:buNone/>
            </a:pPr>
            <a:r>
              <a:rPr dirty="0" sz="15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下一节：分支与循环，程序会自己做判断、自己重复</a:t>
            </a:r>
            <a:endParaRPr dirty="0" sz="15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ext 0"/>
          <p:cNvSpPr/>
          <p:nvPr/>
        </p:nvSpPr>
        <p:spPr>
          <a:xfrm>
            <a:off x="10362895" y="6016752"/>
            <a:ext cx="1463040" cy="32004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15</a:t>
            </a:r>
            <a:endParaRPr dirty="0" sz="1000" lang="en-US"/>
          </a:p>
        </p:txBody>
      </p:sp>
      <p:sp>
        <p:nvSpPr>
          <p:cNvPr id="1048727" name="Text 1"/>
          <p:cNvSpPr/>
          <p:nvPr/>
        </p:nvSpPr>
        <p:spPr>
          <a:xfrm>
            <a:off x="822960" y="960120"/>
            <a:ext cx="10545775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dirty="0" sz="1400" lang="en-US"/>
          </a:p>
        </p:txBody>
      </p:sp>
      <p:sp>
        <p:nvSpPr>
          <p:cNvPr id="1048728" name="Text 2"/>
          <p:cNvSpPr/>
          <p:nvPr/>
        </p:nvSpPr>
        <p:spPr>
          <a:xfrm>
            <a:off x="822960" y="1344168"/>
            <a:ext cx="10545775" cy="73152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2800" lang="en-US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1道跟练 ＋ 1道模仿</a:t>
            </a:r>
            <a:endParaRPr dirty="0" sz="2800" lang="en-US"/>
          </a:p>
        </p:txBody>
      </p:sp>
      <p:sp>
        <p:nvSpPr>
          <p:cNvPr id="1048729" name="Text 3"/>
          <p:cNvSpPr/>
          <p:nvPr/>
        </p:nvSpPr>
        <p:spPr>
          <a:xfrm>
            <a:off x="896112" y="2395728"/>
            <a:ext cx="10454335" cy="7406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b="1" dirty="0" sz="1800" lang="en-US">
                <a:solidFill>
                  <a:srgbClr val="000000"/>
                </a:solidFill>
              </a:rPr>
              <a:t>跟练题</a:t>
            </a:r>
            <a:r>
              <a:rPr dirty="0" sz="1800" lang="en-US">
                <a:solidFill>
                  <a:srgbClr val="000000"/>
                </a:solidFill>
              </a:rPr>
              <a:t>：写一个程序，scanf读入一个整数，打印它的个位和十位（就是课上程序，自己从零敲一遍）</a:t>
            </a:r>
            <a:endParaRPr dirty="0" sz="1800" lang="en-US"/>
          </a:p>
        </p:txBody>
      </p:sp>
      <p:sp>
        <p:nvSpPr>
          <p:cNvPr id="1048730" name="Text 4"/>
          <p:cNvSpPr/>
          <p:nvPr/>
        </p:nvSpPr>
        <p:spPr>
          <a:xfrm>
            <a:off x="896112" y="3209544"/>
            <a:ext cx="10454335" cy="397764"/>
          </a:xfrm>
          <a:prstGeom prst="rect"/>
          <a:noFill/>
        </p:spPr>
        <p:txBody>
          <a:bodyPr anchor="t" rtlCol="0" wrap="square"/>
          <a:p>
            <a:pPr algn="l" indent="0" marL="0">
              <a:lnSpc>
                <a:spcPct val="115000"/>
              </a:lnSpc>
              <a:buNone/>
            </a:pPr>
            <a:r>
              <a:rPr b="1" dirty="0" sz="1800" lang="en-US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b="1" dirty="0" sz="1800" lang="en-US">
                <a:solidFill>
                  <a:srgbClr val="000000"/>
                </a:solidFill>
              </a:rPr>
              <a:t>模仿题</a:t>
            </a:r>
            <a:r>
              <a:rPr dirty="0" sz="1800" lang="en-US">
                <a:solidFill>
                  <a:srgbClr val="000000"/>
                </a:solidFill>
              </a:rPr>
              <a:t>：读入一个整数n，打印 n%2 的值，输入奇数看输出什么，输入偶数看输出什么</a:t>
            </a:r>
            <a:endParaRPr dirty="0" sz="1800" lang="en-US"/>
          </a:p>
        </p:txBody>
      </p:sp>
      <p:sp>
        <p:nvSpPr>
          <p:cNvPr id="1048731" name="Text 5"/>
          <p:cNvSpPr/>
          <p:nvPr/>
        </p:nvSpPr>
        <p:spPr>
          <a:xfrm>
            <a:off x="822960" y="3771900"/>
            <a:ext cx="10545775" cy="358902"/>
          </a:xfrm>
          <a:prstGeom prst="rect"/>
          <a:noFill/>
        </p:spPr>
        <p:txBody>
          <a:bodyPr anchor="t" rtlCol="0" wrap="square"/>
          <a:p>
            <a:pPr algn="l" indent="0" marL="0">
              <a:buNone/>
            </a:pPr>
            <a:r>
              <a:rPr dirty="0" sz="1500" lang="en-US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写完对照讲稿附录的参考答案；要求：合上笔记能默写出%的两个用法</a:t>
            </a:r>
            <a:endParaRPr dirty="0" sz="15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Company>PptxGenJS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运算符与表达式</dc:title>
  <dc:creator>牙膏学长</dc:creator>
  <cp:lastModifiedBy>倾殇醉</cp:lastModifiedBy>
  <dcterms:created xsi:type="dcterms:W3CDTF">2026-08-12T02:55:00Z</dcterms:created>
  <dcterms:modified xsi:type="dcterms:W3CDTF">2026-08-17T16:06:31Z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2B8E17933F2643F5A88ECB0743E395EC_12</vt:lpwstr>
  </property>
  <property fmtid="{D5CDD505-2E9C-101B-9397-08002B2CF9AE}" pid="3" name="KSOProductBuildVer">
    <vt:lpwstr>2052-12.1.0.28043</vt:lpwstr>
  </property>
</Properties>
</file>