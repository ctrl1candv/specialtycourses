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C语言基础阶段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第5节 函数与数组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阶段：基础 ｜ 主讲：牙膏学长 ｜ 预计40分钟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 / 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第5节 · 基础阶段收官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先看一个问题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代码越写越长，怎么管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前四节的程序，所有代码都挤在main里，十几行还行，几百行就乱了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802的算法全是</a:t>
            </a:r>
            <a:r>
              <a:rPr lang="en-US" sz="1800" b="1" dirty="0">
                <a:solidFill>
                  <a:srgbClr val="000000"/>
                </a:solidFill>
              </a:rPr>
              <a:t>一个个函数</a:t>
            </a:r>
            <a:r>
              <a:rPr lang="en-US" sz="1800" dirty="0">
                <a:solidFill>
                  <a:srgbClr val="000000"/>
                </a:solidFill>
              </a:rPr>
              <a:t>：InitList、ListInsert、DFS……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本节目标：学完你能</a:t>
            </a:r>
            <a:r>
              <a:rPr lang="en-US" sz="1800" b="1" dirty="0">
                <a:solidFill>
                  <a:srgbClr val="000000"/>
                </a:solidFill>
              </a:rPr>
              <a:t>定义和调用函数，用数组存一批数据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zh-CN" altLang="en-US" sz="1800" dirty="0">
                <a:solidFill>
                  <a:srgbClr val="000000"/>
                </a:solidFill>
              </a:rPr>
              <a:t>(约瑟夫环)有</a:t>
            </a:r>
            <a:r>
              <a:rPr lang="en-US" altLang="zh-CN" sz="1800" dirty="0">
                <a:solidFill>
                  <a:srgbClr val="000000"/>
                </a:solidFill>
              </a:rPr>
              <a:t>n</a:t>
            </a:r>
            <a:r>
              <a:rPr lang="zh-CN" altLang="en-US" sz="1800" dirty="0">
                <a:solidFill>
                  <a:srgbClr val="000000"/>
                </a:solidFill>
              </a:rPr>
              <a:t>个人围成一个圈，他们的编号为1~</a:t>
            </a:r>
            <a:r>
              <a:rPr lang="en-US" altLang="zh-CN" sz="1800" dirty="0">
                <a:solidFill>
                  <a:srgbClr val="000000"/>
                </a:solidFill>
              </a:rPr>
              <a:t>n。</a:t>
            </a:r>
            <a:r>
              <a:rPr lang="zh-CN" altLang="en-US" sz="1800" dirty="0">
                <a:solidFill>
                  <a:srgbClr val="000000"/>
                </a:solidFill>
              </a:rPr>
              <a:t>现在要求从第</a:t>
            </a:r>
            <a:r>
              <a:rPr lang="en-US" altLang="zh-CN" sz="1800" dirty="0">
                <a:solidFill>
                  <a:srgbClr val="000000"/>
                </a:solidFill>
              </a:rPr>
              <a:t>s</a:t>
            </a:r>
            <a:r>
              <a:rPr lang="zh-CN" altLang="en-US" sz="1800" dirty="0">
                <a:solidFill>
                  <a:srgbClr val="000000"/>
                </a:solidFill>
              </a:rPr>
              <a:t>个人开始报数，数到</a:t>
            </a:r>
            <a:r>
              <a:rPr lang="en-US" altLang="zh-CN" sz="1800" dirty="0">
                <a:solidFill>
                  <a:srgbClr val="000000"/>
                </a:solidFill>
              </a:rPr>
              <a:t>m</a:t>
            </a:r>
            <a:r>
              <a:rPr lang="zh-CN" altLang="en-US" sz="1800" dirty="0">
                <a:solidFill>
                  <a:srgbClr val="000000"/>
                </a:solidFill>
              </a:rPr>
              <a:t>的人出列，出列后的下一个人继续从1开始报数，同样数到</a:t>
            </a:r>
            <a:r>
              <a:rPr lang="en-US" altLang="zh-CN" sz="1800" dirty="0">
                <a:solidFill>
                  <a:srgbClr val="000000"/>
                </a:solidFill>
              </a:rPr>
              <a:t>m</a:t>
            </a:r>
            <a:r>
              <a:rPr lang="zh-CN" altLang="en-US" sz="1800" dirty="0">
                <a:solidFill>
                  <a:srgbClr val="000000"/>
                </a:solidFill>
              </a:rPr>
              <a:t>的人出列，一直重复此过程，直到圈中只剩下最后一个人，返回其编号。（8分）</a:t>
            </a:r>
            <a:endParaRPr lang="zh-CN" altLang="en-US" sz="18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函数是什么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函数 = 打包好的干活步骤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822960" y="2395728"/>
          <a:ext cx="10545776" cy="210312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做菜类比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函数对应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菜谱名字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函数名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需要的食材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参数（输入）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做出来的菜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返回值（输出）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做菜步骤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函数体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472744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函数把一段干活步骤</a:t>
            </a:r>
            <a:r>
              <a:rPr lang="en-US" sz="1800" b="1" dirty="0">
                <a:solidFill>
                  <a:srgbClr val="000000"/>
                </a:solidFill>
              </a:rPr>
              <a:t>打包起名</a:t>
            </a:r>
            <a:r>
              <a:rPr lang="en-US" sz="1800" dirty="0">
                <a:solidFill>
                  <a:srgbClr val="000000"/>
                </a:solidFill>
              </a:rPr>
              <a:t>，要用的时候喊名字就行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96112" y="519836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802里每个基本操作都是一个函数，这个结构后面天天见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定义一个函数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函数的四部分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int max(int a, int b){      // 返回类型 函数名(参数)
    if(a &gt; b) return a;
    return b;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b="1" dirty="0">
                <a:solidFill>
                  <a:srgbClr val="000000"/>
                </a:solidFill>
              </a:rPr>
              <a:t>返回类型</a:t>
            </a:r>
            <a:r>
              <a:rPr lang="en-US" sz="1800" dirty="0">
                <a:solidFill>
                  <a:srgbClr val="000000"/>
                </a:solidFill>
              </a:rPr>
              <a:t>：函数干完活，交出来的东西是什么类型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b="1" dirty="0">
                <a:solidFill>
                  <a:srgbClr val="000000"/>
                </a:solidFill>
              </a:rPr>
              <a:t>函数名</a:t>
            </a:r>
            <a:r>
              <a:rPr lang="en-US" sz="1800" dirty="0">
                <a:solidFill>
                  <a:srgbClr val="000000"/>
                </a:solidFill>
              </a:rPr>
              <a:t>：</a:t>
            </a:r>
            <a:r>
              <a:rPr lang="zh-CN" altLang="en-US" sz="1800" dirty="0">
                <a:solidFill>
                  <a:srgbClr val="000000"/>
                </a:solidFill>
              </a:rPr>
              <a:t>函数的名称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b="1" dirty="0">
                <a:solidFill>
                  <a:srgbClr val="000000"/>
                </a:solidFill>
              </a:rPr>
              <a:t>参数</a:t>
            </a:r>
            <a:r>
              <a:rPr lang="en-US" sz="1800" dirty="0">
                <a:solidFill>
                  <a:srgbClr val="000000"/>
                </a:solidFill>
              </a:rPr>
              <a:t>：干活需要的原料，写在括号里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51840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b="1" dirty="0">
                <a:solidFill>
                  <a:srgbClr val="000000"/>
                </a:solidFill>
              </a:rPr>
              <a:t>函数体</a:t>
            </a:r>
            <a:r>
              <a:rPr lang="en-US" sz="1800" dirty="0">
                <a:solidFill>
                  <a:srgbClr val="000000"/>
                </a:solidFill>
              </a:rPr>
              <a:t>：花括号里的干活步骤，return 交出结果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调用函数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喊名字，交原料，收结果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int m = max(3, 8);          // 调用：把3和8交给max
printf("%d", m);            // m里是8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调用就是：</a:t>
            </a:r>
            <a:r>
              <a:rPr lang="en-US" sz="1800" b="1" dirty="0">
                <a:solidFill>
                  <a:srgbClr val="000000"/>
                </a:solidFill>
              </a:rPr>
              <a:t>喊函数名，把原料放进括号，拿走返回值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程序执行到调用处，跳进函数里干活，干完带着结果回来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参数和返回值的具体机制，强化阶段讲透；本节先会读会写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返回值的两个细节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return 的两件事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int half(int n){
    if(n &lt; 0) return -1;    // ① 提前结束：不合要求，直接走人
    return n / 2;           // ② 交出结果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return干两件事：</a:t>
            </a:r>
            <a:r>
              <a:rPr lang="en-US" sz="1800" b="1" dirty="0">
                <a:solidFill>
                  <a:srgbClr val="000000"/>
                </a:solidFill>
              </a:rPr>
              <a:t>交出结果</a:t>
            </a:r>
            <a:r>
              <a:rPr lang="en-US" sz="1800" dirty="0">
                <a:solidFill>
                  <a:srgbClr val="000000"/>
                </a:solidFill>
              </a:rPr>
              <a:t>，并且</a:t>
            </a:r>
            <a:r>
              <a:rPr lang="en-US" sz="1800" b="1" dirty="0">
                <a:solidFill>
                  <a:srgbClr val="000000"/>
                </a:solidFill>
              </a:rPr>
              <a:t>立刻结束函数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一个函数里可以有多个return，但</a:t>
            </a:r>
            <a:r>
              <a:rPr lang="en-US" sz="1800" b="1" dirty="0">
                <a:solidFill>
                  <a:srgbClr val="000000"/>
                </a:solidFill>
              </a:rPr>
              <a:t>每次执行只会走一个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返回类型写void的函数，不交结果，只管干活（如打印、遍历）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数组登场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一批同类型的数据，放一排盒子里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int score[5];               // 一排5个int盒子，编号0到4
score[0] = 85;
score[1] = 92;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要存5个分数，难道声明5个变量？数组就是</a:t>
            </a:r>
            <a:r>
              <a:rPr lang="en-US" sz="1800" b="1" dirty="0">
                <a:solidFill>
                  <a:srgbClr val="000000"/>
                </a:solidFill>
              </a:rPr>
              <a:t>一排带编号的盒子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编号叫</a:t>
            </a:r>
            <a:r>
              <a:rPr lang="en-US" sz="1800" b="1" dirty="0">
                <a:solidFill>
                  <a:srgbClr val="000000"/>
                </a:solidFill>
              </a:rPr>
              <a:t>下标</a:t>
            </a:r>
            <a:r>
              <a:rPr lang="en-US" sz="1800" dirty="0">
                <a:solidFill>
                  <a:srgbClr val="000000"/>
                </a:solidFill>
              </a:rPr>
              <a:t>，从0开始：5个盒子的下标是 0、1、2、3、4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802的顺序表、栈、队列，底层全是数组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 / 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int a[5]，最大下标是几？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int a[5];
a[5] = 10;                  // 这一行，越界了！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a[5]是5个盒子，下标是 </a:t>
            </a:r>
            <a:r>
              <a:rPr lang="en-US" sz="1800" b="1" dirty="0">
                <a:solidFill>
                  <a:srgbClr val="000000"/>
                </a:solidFill>
              </a:rPr>
              <a:t>0、1、2、3、4</a:t>
            </a:r>
            <a:r>
              <a:rPr lang="en-US" sz="1800" dirty="0">
                <a:solidFill>
                  <a:srgbClr val="000000"/>
                </a:solidFill>
              </a:rPr>
              <a:t>，没有a[5]这个盒子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最大下标是 </a:t>
            </a:r>
            <a:r>
              <a:rPr lang="en-US" sz="1800" b="1" dirty="0">
                <a:solidFill>
                  <a:srgbClr val="000000"/>
                </a:solidFill>
              </a:rPr>
              <a:t>长度减1</a:t>
            </a:r>
            <a:r>
              <a:rPr lang="en-US" sz="1800" dirty="0">
                <a:solidFill>
                  <a:srgbClr val="000000"/>
                </a:solidFill>
              </a:rPr>
              <a:t>，写a[5]就是伸手去拿不存在的盒子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越界</a:t>
            </a:r>
            <a:r>
              <a:rPr lang="en-US" sz="1800" b="1" dirty="0">
                <a:solidFill>
                  <a:srgbClr val="000000"/>
                </a:solidFill>
              </a:rPr>
              <a:t>不报错</a:t>
            </a:r>
            <a:r>
              <a:rPr lang="en-US" sz="1800" dirty="0">
                <a:solidFill>
                  <a:srgbClr val="000000"/>
                </a:solidFill>
              </a:rPr>
              <a:t>，但可能踩坏别人的数据——802程序阅读题爱考这个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初始化与遍历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数组的声明、初始化、for遍历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int a[5] = {3, 1, 4, 1, 5};        // 声明的同时装好
for(int i = 0; i &lt; 5; i++){
    printf("%d ", a[i]);           // 挨个访问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花括号一次性装好，叫</a:t>
            </a:r>
            <a:r>
              <a:rPr lang="en-US" sz="1800" b="1" dirty="0">
                <a:solidFill>
                  <a:srgbClr val="000000"/>
                </a:solidFill>
              </a:rPr>
              <a:t>初始化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遍历数组的标准姿势：</a:t>
            </a:r>
            <a:r>
              <a:rPr lang="en-US" sz="1800" b="1" dirty="0">
                <a:solidFill>
                  <a:srgbClr val="000000"/>
                </a:solidFill>
              </a:rPr>
              <a:t>for循环，i从0到长度减1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上一节的for，这一节有了真正的用武之地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数组做函数参数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把数组交给函数处理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int sum(int a[], int n){
    int s = 0;
    for(int i = 0; i &lt; n; i++) s += a[i];
    return s;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数组交给函数，要</a:t>
            </a:r>
            <a:r>
              <a:rPr lang="en-US" sz="1800" b="1" dirty="0">
                <a:solidFill>
                  <a:srgbClr val="000000"/>
                </a:solidFill>
              </a:rPr>
              <a:t>连长度一起交</a:t>
            </a:r>
            <a:r>
              <a:rPr lang="en-US" sz="1800" dirty="0">
                <a:solidFill>
                  <a:srgbClr val="000000"/>
                </a:solidFill>
              </a:rPr>
              <a:t>：int a[], int 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函数里不知道数组多长，所以n必须单独传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802算法函数的参数表，几乎全是"数组+长度"这个搭配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字符数组与字符串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字符串 = 字符数组 + 结尾标记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char s[] = "hello";         // 实际存了6个字符
// h  e  l  l  o  '\0'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字符串本质是</a:t>
            </a:r>
            <a:r>
              <a:rPr lang="en-US" sz="1800" b="1" dirty="0">
                <a:solidFill>
                  <a:srgbClr val="000000"/>
                </a:solidFill>
              </a:rPr>
              <a:t>字符数组</a:t>
            </a:r>
            <a:r>
              <a:rPr lang="en-US" sz="1800" dirty="0">
                <a:solidFill>
                  <a:srgbClr val="000000"/>
                </a:solidFill>
              </a:rPr>
              <a:t>，结尾偷偷多一个 '\0' 作结束标记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'\0'是空字符，标记“字符串到此为止”，strlen、打印全靠它找结尾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这个概念是后面串章节的前置，今天先建立印象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板书推演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从零写：函数求数组最大值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45775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任务：写一个完整程序，定义函数findMax处理数组，在main里声明数组{3,9,2,7}，调用函数求最大值并打印。分六步：头文件 → 定义findMax函数 → main开头 → 声明数组 → 调用并打印 → return 0 补花括号。注意：函数写在main前面；数组传参要带长度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57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0C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此处板书推演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板书结论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程序长这样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341071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3191256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#include &lt;stdio.h&gt;
int findMax(int a[], int n){
    int m = a[0];
    for(int i = 1; i &lt; n; i++)
        if(a[i] &gt; m) m = a[i];
    return m;
}
int main(){
    int a[4] = {3, 9, 2, 7};
    printf("最大值：%d\n", findMax(a, 4));
    return 0;
}
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6007608"/>
            <a:ext cx="10545775" cy="32080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输出：最大值：9。"打擂台"思路：先让第一个当擂主，逐个挑战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14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基础阶段收官总结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五节课，你拿到了什么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822960" y="2395728"/>
          <a:ext cx="10545776" cy="2523744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节次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拿到的能力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第1节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看懂程序骨架：头文件、main、编译运行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第2节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变量与类型，数据进出程序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第3节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五类运算符，让程序会算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第4节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分支与循环，让程序会判断、会重复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第5节（本节）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函数与数组，代码打包、批量存数据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148072"/>
            <a:ext cx="10545775" cy="41605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000000"/>
                </a:solidFill>
              </a:rPr>
              <a:t>下一步：强化阶段讲</a:t>
            </a:r>
            <a:r>
              <a:rPr lang="en-US" b="1" dirty="0">
                <a:solidFill>
                  <a:srgbClr val="000000"/>
                </a:solidFill>
              </a:rPr>
              <a:t>指针与结构体</a:t>
            </a:r>
            <a:r>
              <a:rPr lang="en-US" dirty="0">
                <a:solidFill>
                  <a:srgbClr val="000000"/>
                </a:solidFill>
              </a:rPr>
              <a:t>——前面埋的悬念，全部揭晓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b="1" dirty="0">
                <a:solidFill>
                  <a:srgbClr val="000000"/>
                </a:solidFill>
              </a:rPr>
              <a:t>跟练题</a:t>
            </a:r>
            <a:r>
              <a:rPr lang="en-US" sz="1800" dirty="0">
                <a:solidFill>
                  <a:srgbClr val="000000"/>
                </a:solidFill>
              </a:rPr>
              <a:t>：把板书的findMax程序自己从零敲一遍，别抄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b="1" dirty="0">
                <a:solidFill>
                  <a:srgbClr val="000000"/>
                </a:solidFill>
              </a:rPr>
              <a:t>模仿题</a:t>
            </a:r>
            <a:r>
              <a:rPr lang="en-US" sz="1800" dirty="0">
                <a:solidFill>
                  <a:srgbClr val="000000"/>
                </a:solidFill>
              </a:rPr>
              <a:t>：把findMax改成findMin，求数组最小值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10545775" cy="35890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写完对照讲稿附录的参考答案；要求：合上笔记能默写"函数定义四部分"和"数组遍历的for"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2744</Words>
  <Application>WPS 演示</Application>
  <PresentationFormat>On-screen Show (16:9)</PresentationFormat>
  <Paragraphs>232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7" baseType="lpstr">
      <vt:lpstr>Arial</vt:lpstr>
      <vt:lpstr>宋体</vt:lpstr>
      <vt:lpstr>Wingdings</vt:lpstr>
      <vt:lpstr>微软雅黑</vt:lpstr>
      <vt:lpstr>微软雅黑</vt:lpstr>
      <vt:lpstr>Consolas</vt:lpstr>
      <vt:lpstr>Consolas</vt:lpstr>
      <vt:lpstr>Consolas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函数与数组</dc:title>
  <dc:creator>牙膏学长</dc:creator>
  <dc:subject>PptxGenJS Presentation</dc:subject>
  <cp:lastModifiedBy>倾殇醉</cp:lastModifiedBy>
  <cp:revision>6</cp:revision>
  <dcterms:created xsi:type="dcterms:W3CDTF">2026-08-16T03:32:00Z</dcterms:created>
  <dcterms:modified xsi:type="dcterms:W3CDTF">2026-08-19T02:14:19Z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DAF8C639A83B488281E3407C6752440F_12</vt:lpwstr>
  </property>
  <property fmtid="{D5CDD505-2E9C-101B-9397-08002B2CF9AE}" pid="3" name="KSOProductBuildVer">
    <vt:lpwstr>2052-12.1.0.28043</vt:lpwstr>
  </property>
</Properties>
</file>