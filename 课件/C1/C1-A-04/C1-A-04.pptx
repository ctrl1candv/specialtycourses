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C语言基础阶段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第4节 分支与循环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阶段：基础 ｜ 主讲：牙膏学长 ｜ 预计40分钟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 / 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第4节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先看一个问题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程序不能只会一条路走到黑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scanf("%d", &amp;score);
printf("及格\n");        // 不管考多少分，都打"及格"？
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现在的程序只会</a:t>
            </a:r>
            <a:r>
              <a:rPr lang="en-US" sz="1800" b="1" dirty="0">
                <a:solidFill>
                  <a:srgbClr val="000000"/>
                </a:solidFill>
              </a:rPr>
              <a:t>从上往下</a:t>
            </a:r>
            <a:r>
              <a:rPr lang="en-US" sz="1800" dirty="0">
                <a:solidFill>
                  <a:srgbClr val="000000"/>
                </a:solidFill>
              </a:rPr>
              <a:t>执行，一条路走到黑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但真实问题要</a:t>
            </a:r>
            <a:r>
              <a:rPr lang="en-US" sz="1800" b="1" dirty="0">
                <a:solidFill>
                  <a:srgbClr val="000000"/>
                </a:solidFill>
              </a:rPr>
              <a:t>判断</a:t>
            </a:r>
            <a:r>
              <a:rPr lang="en-US" sz="1800" dirty="0">
                <a:solidFill>
                  <a:srgbClr val="000000"/>
                </a:solidFill>
              </a:rPr>
              <a:t>：及格不及格，走不同的路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还要</a:t>
            </a:r>
            <a:r>
              <a:rPr lang="en-US" sz="1800" b="1" dirty="0">
                <a:solidFill>
                  <a:srgbClr val="000000"/>
                </a:solidFill>
              </a:rPr>
              <a:t>重复</a:t>
            </a:r>
            <a:r>
              <a:rPr lang="en-US" sz="1800" dirty="0">
                <a:solidFill>
                  <a:srgbClr val="000000"/>
                </a:solidFill>
              </a:rPr>
              <a:t>：遍历一张表，每个元素都得看一遍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96112" y="504291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本节目标：学完你能用 </a:t>
            </a:r>
            <a:r>
              <a:rPr lang="en-US" sz="1800" b="1" dirty="0">
                <a:solidFill>
                  <a:srgbClr val="000000"/>
                </a:solidFill>
              </a:rPr>
              <a:t>if/switch 做判断，while/for 做重复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分支：if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最简单的判断：if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if(score &gt;= 60){
    printf("及格\n");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读法：</a:t>
            </a:r>
            <a:r>
              <a:rPr lang="en-US" sz="1800" b="1" dirty="0">
                <a:solidFill>
                  <a:srgbClr val="000000"/>
                </a:solidFill>
              </a:rPr>
              <a:t>如果</a:t>
            </a:r>
            <a:r>
              <a:rPr lang="en-US" sz="1800" dirty="0">
                <a:solidFill>
                  <a:srgbClr val="000000"/>
                </a:solidFill>
              </a:rPr>
              <a:t>条件成立，</a:t>
            </a:r>
            <a:r>
              <a:rPr lang="en-US" sz="1800" b="1" dirty="0">
                <a:solidFill>
                  <a:srgbClr val="000000"/>
                </a:solidFill>
              </a:rPr>
              <a:t>就</a:t>
            </a:r>
            <a:r>
              <a:rPr lang="en-US" sz="1800" dirty="0">
                <a:solidFill>
                  <a:srgbClr val="000000"/>
                </a:solidFill>
              </a:rPr>
              <a:t>执行花括号里的语句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条件就是上一节的关系运算，结果是bool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条件不成立，花括号里的内容</a:t>
            </a:r>
            <a:r>
              <a:rPr lang="en-US" sz="1800" b="1" dirty="0">
                <a:solidFill>
                  <a:srgbClr val="000000"/>
                </a:solidFill>
              </a:rPr>
              <a:t>整个跳过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28066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花括号不能省：哪怕只有一句，也建议写上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分支：if-else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两条路：if-else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if(score &gt;= 60){
    printf("及格\n");
}else{
    printf("不及格\n");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条件成立走if，不成立走else，</a:t>
            </a:r>
            <a:r>
              <a:rPr lang="en-US" sz="1800" b="1" dirty="0">
                <a:solidFill>
                  <a:srgbClr val="000000"/>
                </a:solidFill>
              </a:rPr>
              <a:t>二选一，必走一条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else后面</a:t>
            </a:r>
            <a:r>
              <a:rPr lang="en-US" sz="1800" b="1" dirty="0">
                <a:solidFill>
                  <a:srgbClr val="000000"/>
                </a:solidFill>
              </a:rPr>
              <a:t>不写条件</a:t>
            </a:r>
            <a:r>
              <a:rPr lang="en-US" sz="1800" dirty="0">
                <a:solidFill>
                  <a:srgbClr val="000000"/>
                </a:solidFill>
              </a:rPr>
              <a:t>——它就是"否则"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802伪代码里判断成功失败，全是这个结构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分支：else if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多条路：else if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22199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2002536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if(score &gt;= 90){
    printf("优秀\n");
}else if(score &gt;= 60){
    printf("及格\n");
}else{
    printf("不及格\n");
}
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96112" y="4818888"/>
            <a:ext cx="10454335" cy="37871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700" dirty="0">
                <a:solidFill>
                  <a:srgbClr val="000000"/>
                </a:solidFill>
              </a:rPr>
              <a:t>从上往下逐个判断，</a:t>
            </a:r>
            <a:r>
              <a:rPr lang="en-US" sz="1700" b="1" dirty="0">
                <a:solidFill>
                  <a:srgbClr val="000000"/>
                </a:solidFill>
              </a:rPr>
              <a:t>命中一个就停</a:t>
            </a:r>
            <a:r>
              <a:rPr lang="en-US" sz="1700" dirty="0">
                <a:solidFill>
                  <a:srgbClr val="000000"/>
                </a:solidFill>
              </a:rPr>
              <a:t>，后面不再看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5270754"/>
            <a:ext cx="10454335" cy="37871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700" dirty="0">
                <a:solidFill>
                  <a:srgbClr val="000000"/>
                </a:solidFill>
              </a:rPr>
              <a:t>顺序有讲究：先判90再判60，条件从大到小排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96112" y="5722620"/>
            <a:ext cx="10454335" cy="37871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700" dirty="0">
                <a:solidFill>
                  <a:srgbClr val="000000"/>
                </a:solidFill>
              </a:rPr>
              <a:t>最后的else是兜底，前面都不命中才走它</a:t>
            </a:r>
            <a:r>
              <a:rPr lang="zh-CN" altLang="en-US" sz="1700" dirty="0">
                <a:solidFill>
                  <a:srgbClr val="000000"/>
                </a:solidFill>
              </a:rPr>
              <a:t>，当然也可以</a:t>
            </a:r>
            <a:r>
              <a:rPr lang="zh-CN" altLang="en-US" sz="1700" dirty="0">
                <a:solidFill>
                  <a:srgbClr val="000000"/>
                </a:solidFill>
              </a:rPr>
              <a:t>不写</a:t>
            </a:r>
            <a:r>
              <a:rPr lang="en-US" altLang="zh-CN" sz="1700" dirty="0">
                <a:solidFill>
                  <a:srgbClr val="000000"/>
                </a:solidFill>
              </a:rPr>
              <a:t>else</a:t>
            </a:r>
            <a:endParaRPr lang="en-US" altLang="zh-CN" sz="17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分支：switch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等值多选：switch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switch(level){
    case 1: printf("优秀\n"); break;
    case 2: printf("良好\n"); break;
    default: printf("其他\n");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switch专门处理"</a:t>
            </a:r>
            <a:r>
              <a:rPr lang="en-US" sz="1800" b="1" dirty="0">
                <a:solidFill>
                  <a:srgbClr val="000000"/>
                </a:solidFill>
              </a:rPr>
              <a:t>等于某个值</a:t>
            </a:r>
            <a:r>
              <a:rPr lang="en-US" sz="1800" dirty="0">
                <a:solidFill>
                  <a:srgbClr val="000000"/>
                </a:solidFill>
              </a:rPr>
              <a:t>"的多选，比一串if清爽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每个case后面的 </a:t>
            </a:r>
            <a:r>
              <a:rPr lang="en-US" sz="1800" b="1" dirty="0">
                <a:solidFill>
                  <a:srgbClr val="000000"/>
                </a:solidFill>
              </a:rPr>
              <a:t>break 不能漏</a:t>
            </a:r>
            <a:r>
              <a:rPr lang="en-US" sz="1800" dirty="0">
                <a:solidFill>
                  <a:srgbClr val="000000"/>
                </a:solidFill>
              </a:rPr>
              <a:t>，漏了会"穿透"到下一个case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default是兜底，都不匹配时走它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循环登场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重复的活，交给循环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printf("加油\n");
printf("加油\n");
printf("加油\n");        // 打100遍，难道写100行？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重复写100行：累、容易抄错、改需求就得重写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循环就是让计算机</a:t>
            </a:r>
            <a:r>
              <a:rPr lang="en-US" sz="1800" b="1" dirty="0">
                <a:solidFill>
                  <a:srgbClr val="000000"/>
                </a:solidFill>
              </a:rPr>
              <a:t>重复做同一件事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802里遍历表、数结点、找元素，全是循环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循环：while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while：条件成立就一直做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int i = 1;                  // ① 初始化
while(i &lt;= 100){            // ② 条件
    printf("%d ", i);
    i++;                    // ③ 更新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b="1" dirty="0">
                <a:solidFill>
                  <a:srgbClr val="000000"/>
                </a:solidFill>
              </a:rPr>
              <a:t>循环三要素</a:t>
            </a:r>
            <a:r>
              <a:rPr lang="en-US" sz="1800" dirty="0">
                <a:solidFill>
                  <a:srgbClr val="000000"/>
                </a:solidFill>
              </a:rPr>
              <a:t>：初始化、条件、更新，一个都不能少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每轮先判条件，成立才执行循环体，执行完再回去判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条件早晚要变false，循环才能停下来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本节难忘时刻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忘写更新，就是死循环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int i = 1;
while(i &lt;= 100){
    printf("%d ", i);
    // 忘了写 i++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i永远是1，条件永远成立，</a:t>
            </a:r>
            <a:r>
              <a:rPr lang="en-US" sz="1800" b="1" dirty="0">
                <a:solidFill>
                  <a:srgbClr val="000000"/>
                </a:solidFill>
              </a:rPr>
              <a:t>程序永远停不下来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死循环不报错，程序就那么一直跑，这是最阴的错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写循环先问自己：</a:t>
            </a:r>
            <a:r>
              <a:rPr lang="en-US" sz="1800" b="1" dirty="0">
                <a:solidFill>
                  <a:srgbClr val="000000"/>
                </a:solidFill>
              </a:rPr>
              <a:t>条件靠谁变false？那一行写了没？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循环：for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for：三要素写在一行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for(int i = 1; i &lt;= 100; i++){
    printf("%d ", i);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for把</a:t>
            </a:r>
            <a:r>
              <a:rPr lang="en-US" sz="1800" b="1" dirty="0">
                <a:solidFill>
                  <a:srgbClr val="000000"/>
                </a:solidFill>
              </a:rPr>
              <a:t>初始化、条件、更新</a:t>
            </a:r>
            <a:r>
              <a:rPr lang="en-US" sz="1800" dirty="0">
                <a:solidFill>
                  <a:srgbClr val="000000"/>
                </a:solidFill>
              </a:rPr>
              <a:t>收进一行，专门数数用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读法：从1开始，只要不超过100，每轮加1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数数、遍历下标，用for；条件复杂的，用while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循环控制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break 与 continue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for(int i = 1; i &lt;= 10; i++){
    if(i == 5) break;       // 整个循环到此结束
    if(i % 2 == 0) continue; // 跳过本轮，进下一轮
    printf("%d ", i);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b="1" dirty="0">
                <a:solidFill>
                  <a:srgbClr val="000000"/>
                </a:solidFill>
              </a:rPr>
              <a:t>break</a:t>
            </a:r>
            <a:r>
              <a:rPr lang="en-US" sz="1800" dirty="0">
                <a:solidFill>
                  <a:srgbClr val="000000"/>
                </a:solidFill>
              </a:rPr>
              <a:t>：砸掉整个循环，立刻出去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b="1" dirty="0">
                <a:solidFill>
                  <a:srgbClr val="000000"/>
                </a:solidFill>
              </a:rPr>
              <a:t>continue</a:t>
            </a:r>
            <a:r>
              <a:rPr lang="en-US" sz="1800" dirty="0">
                <a:solidFill>
                  <a:srgbClr val="000000"/>
                </a:solidFill>
              </a:rPr>
              <a:t>：只跳过当前这一轮，循环继续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802里找到目标就break，不满足条件就continue，天天用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嵌套循环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循环里套循环，先知道有这回事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for(int i = 0; i &lt; n; i++){
    for(int j = 0; j &lt; n; j++){
        // 访问 a[i][j]
    }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处理二维数组、矩阵，要用两层循环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这节先知道有这回事，</a:t>
            </a:r>
            <a:r>
              <a:rPr lang="en-US" sz="1800" b="1" dirty="0">
                <a:solidFill>
                  <a:srgbClr val="000000"/>
                </a:solidFill>
              </a:rPr>
              <a:t>用到时再展开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802的邻接矩阵遍历，就是这个结构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从零写：读入分数，判等级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任务：写一个完整程序，scanf读入分数，用if-else if-else输出"优秀/及格/不及格"。分六步：头文件 → main开头 → 声明并读入分数 → 写三段判断 → 打印 → return 0 补花括号。追加：再用for循环打印1到10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10546080" cy="307086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14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板书结论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程序长这样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93522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271576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#include &lt;stdio.h&gt;
int main(){
    int score;
    scanf("%d", &amp;score);
    if(score &gt;= 90) printf("优秀\n");
    else if(score &gt;= 60) printf("及格\n");
    else printf("不及格\n");
    for(int i = 1; i &lt;= 10; i++) printf("%d ", i);
    return 0;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5532120"/>
            <a:ext cx="10545775" cy="3589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输入95，输出"优秀"，然后打印 1 2 3 ... 10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本节总结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这节记这四条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if/else if/else 按顺序判，命中就停；switch管等值多选，break别漏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91490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循环三要素：初始化、条件、更新，</a:t>
            </a:r>
            <a:r>
              <a:rPr lang="en-US" sz="1800" b="1" dirty="0">
                <a:solidFill>
                  <a:srgbClr val="000000"/>
                </a:solidFill>
              </a:rPr>
              <a:t>少一个就可能死循环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8582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数数用for，条件复杂用while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5673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break砸整个循环，continue跳过这一轮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713732"/>
            <a:ext cx="10545775" cy="3589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下一节：函数与数组，本阶段收官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16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b="1" dirty="0">
                <a:solidFill>
                  <a:srgbClr val="000000"/>
                </a:solidFill>
              </a:rPr>
              <a:t>跟练题</a:t>
            </a:r>
            <a:r>
              <a:rPr lang="en-US" sz="1800" dirty="0">
                <a:solidFill>
                  <a:srgbClr val="000000"/>
                </a:solidFill>
              </a:rPr>
              <a:t>：写一个程序，用for循环打印1到100的和（提示：用一个变量累加）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b="1" dirty="0">
                <a:solidFill>
                  <a:srgbClr val="000000"/>
                </a:solidFill>
              </a:rPr>
              <a:t>模仿题</a:t>
            </a:r>
            <a:r>
              <a:rPr lang="en-US" sz="1800" dirty="0">
                <a:solidFill>
                  <a:srgbClr val="000000"/>
                </a:solidFill>
              </a:rPr>
              <a:t>：把课上的判等级程序改一改，读入分数，判它是不是偶数（用上一节的%2）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10545775" cy="3589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写完对照讲稿附录的参考答案；要求：合上笔记能默写循环三要素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2899</Words>
  <Application>WPS 演示</Application>
  <PresentationFormat>On-screen Show (16:9)</PresentationFormat>
  <Paragraphs>218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8" baseType="lpstr">
      <vt:lpstr>Arial</vt:lpstr>
      <vt:lpstr>宋体</vt:lpstr>
      <vt:lpstr>Wingdings</vt:lpstr>
      <vt:lpstr>微软雅黑</vt:lpstr>
      <vt:lpstr>微软雅黑</vt:lpstr>
      <vt:lpstr>Consolas</vt:lpstr>
      <vt:lpstr>Consolas</vt:lpstr>
      <vt:lpstr>Consolas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分支与循环</dc:title>
  <dc:creator>牙膏学长</dc:creator>
  <dc:subject>PptxGenJS Presentation</dc:subject>
  <cp:lastModifiedBy>倾殇醉</cp:lastModifiedBy>
  <cp:revision>4</cp:revision>
  <dcterms:created xsi:type="dcterms:W3CDTF">2026-08-16T03:32:00Z</dcterms:created>
  <dcterms:modified xsi:type="dcterms:W3CDTF">2026-08-18T12:46:33Z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E106FF0C1B304A2B91E92A4FF33F1A38_12</vt:lpwstr>
  </property>
  <property fmtid="{D5CDD505-2E9C-101B-9397-08002B2CF9AE}" pid="3" name="KSOProductBuildVer">
    <vt:lpwstr>2052-12.1.0.28043</vt:lpwstr>
  </property>
</Properties>
</file>