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e360f37eb4a497f" /><Relationship Type="http://schemas.openxmlformats.org/officeDocument/2006/relationships/extended-properties" Target="/docProps/app.xml" Id="Re76d1d2af3c34199" /><Relationship Type="http://schemas.openxmlformats.org/officeDocument/2006/relationships/officeDocument" Target="/ppt/presentation.xml" Id="R8968209f1936462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2521e5b604646aa"/>
  </p:sldMasterIdLst>
  <p:notesMasterIdLst>
    <p:notesMasterId xmlns:r="http://schemas.openxmlformats.org/officeDocument/2006/relationships" r:id="Rd133f69212074705"/>
  </p:notesMasterIdLst>
  <p:sldIdLst>
    <p:sldId xmlns:r="http://schemas.openxmlformats.org/officeDocument/2006/relationships" id="256" r:id="R0486ae615b16479d"/>
    <p:sldId xmlns:r="http://schemas.openxmlformats.org/officeDocument/2006/relationships" id="257" r:id="R856f2cff1c9c4252"/>
    <p:sldId xmlns:r="http://schemas.openxmlformats.org/officeDocument/2006/relationships" id="258" r:id="Re48042af7f414631"/>
    <p:sldId xmlns:r="http://schemas.openxmlformats.org/officeDocument/2006/relationships" id="259" r:id="Ra52f9018b1cc419f"/>
    <p:sldId xmlns:r="http://schemas.openxmlformats.org/officeDocument/2006/relationships" id="260" r:id="R4501f633d97c414c"/>
    <p:sldId xmlns:r="http://schemas.openxmlformats.org/officeDocument/2006/relationships" id="261" r:id="R999c1e0d79b3432f"/>
    <p:sldId xmlns:r="http://schemas.openxmlformats.org/officeDocument/2006/relationships" id="262" r:id="R2b63bbaec67e4528"/>
    <p:sldId xmlns:r="http://schemas.openxmlformats.org/officeDocument/2006/relationships" id="263" r:id="R3544d84f5e474edb"/>
    <p:sldId xmlns:r="http://schemas.openxmlformats.org/officeDocument/2006/relationships" id="264" r:id="Rde08bc11d40f4993"/>
    <p:sldId xmlns:r="http://schemas.openxmlformats.org/officeDocument/2006/relationships" id="265" r:id="R3728952ac2b34465"/>
    <p:sldId xmlns:r="http://schemas.openxmlformats.org/officeDocument/2006/relationships" id="266" r:id="Rd9a8b8c75f894135"/>
    <p:sldId xmlns:r="http://schemas.openxmlformats.org/officeDocument/2006/relationships" id="267" r:id="Rca0b6ae0b3ce452c"/>
    <p:sldId xmlns:r="http://schemas.openxmlformats.org/officeDocument/2006/relationships" id="268" r:id="R4180ee30604a41eb"/>
    <p:sldId xmlns:r="http://schemas.openxmlformats.org/officeDocument/2006/relationships" id="269" r:id="R5f1797e70b874eec"/>
    <p:sldId xmlns:r="http://schemas.openxmlformats.org/officeDocument/2006/relationships" id="270" r:id="R566501872c2249b1"/>
    <p:sldId xmlns:r="http://schemas.openxmlformats.org/officeDocument/2006/relationships" id="271" r:id="Rac83654c0582434c"/>
    <p:sldId xmlns:r="http://schemas.openxmlformats.org/officeDocument/2006/relationships" id="272" r:id="R6d1f3b5315f2479a"/>
    <p:sldId xmlns:r="http://schemas.openxmlformats.org/officeDocument/2006/relationships" id="273" r:id="R1e4950d34c6b4f68"/>
    <p:sldId xmlns:r="http://schemas.openxmlformats.org/officeDocument/2006/relationships" id="274" r:id="R25a7006a069a474b"/>
    <p:sldId xmlns:r="http://schemas.openxmlformats.org/officeDocument/2006/relationships" id="275" r:id="Rd426588af6124607"/>
    <p:sldId xmlns:r="http://schemas.openxmlformats.org/officeDocument/2006/relationships" id="276" r:id="Ree0179be969f40fb"/>
    <p:sldId xmlns:r="http://schemas.openxmlformats.org/officeDocument/2006/relationships" id="277" r:id="Ra5d33d887cd043fb"/>
    <p:sldId xmlns:r="http://schemas.openxmlformats.org/officeDocument/2006/relationships" id="278" r:id="R6d7ac4efb3d8475f"/>
    <p:sldId xmlns:r="http://schemas.openxmlformats.org/officeDocument/2006/relationships" id="279" r:id="R24f4b16c829e4c57"/>
    <p:sldId xmlns:r="http://schemas.openxmlformats.org/officeDocument/2006/relationships" id="280" r:id="R90895b11038a4381"/>
    <p:sldId xmlns:r="http://schemas.openxmlformats.org/officeDocument/2006/relationships" id="281" r:id="R4f7a67d7a67f4241"/>
    <p:sldId xmlns:r="http://schemas.openxmlformats.org/officeDocument/2006/relationships" id="282" r:id="R19052cf100f2411d"/>
    <p:sldId xmlns:r="http://schemas.openxmlformats.org/officeDocument/2006/relationships" id="283" r:id="Rece3d334c5324a0b"/>
    <p:sldId xmlns:r="http://schemas.openxmlformats.org/officeDocument/2006/relationships" id="284" r:id="R5da117733e45489e"/>
    <p:sldId xmlns:r="http://schemas.openxmlformats.org/officeDocument/2006/relationships" id="285" r:id="R49e70011fe3b4a7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3131b04ca5b4da7" /><Relationship Type="http://schemas.openxmlformats.org/officeDocument/2006/relationships/slideMaster" Target="/ppt/slideMasters/slideMaster1.xml" Id="R42521e5b604646aa" /><Relationship Type="http://schemas.openxmlformats.org/officeDocument/2006/relationships/notesMaster" Target="/ppt/notesMasters/notesMaster1.xml" Id="Rd133f69212074705" /><Relationship Type="http://schemas.openxmlformats.org/officeDocument/2006/relationships/presProps" Target="/ppt/presProps.xml" Id="Rb87ea7ea18554001" /><Relationship Type="http://schemas.openxmlformats.org/officeDocument/2006/relationships/tableStyles" Target="/ppt/tableStyles.xml" Id="Ra00b83795bd244cc" /><Relationship Type="http://schemas.openxmlformats.org/officeDocument/2006/relationships/slide" Target="/ppt/slides/slide1.xml" Id="R0486ae615b16479d" /><Relationship Type="http://schemas.openxmlformats.org/officeDocument/2006/relationships/slide" Target="/ppt/slides/slide2.xml" Id="R856f2cff1c9c4252" /><Relationship Type="http://schemas.openxmlformats.org/officeDocument/2006/relationships/slide" Target="/ppt/slides/slide3.xml" Id="Re48042af7f414631" /><Relationship Type="http://schemas.openxmlformats.org/officeDocument/2006/relationships/slide" Target="/ppt/slides/slide4.xml" Id="Ra52f9018b1cc419f" /><Relationship Type="http://schemas.openxmlformats.org/officeDocument/2006/relationships/slide" Target="/ppt/slides/slide5.xml" Id="R4501f633d97c414c" /><Relationship Type="http://schemas.openxmlformats.org/officeDocument/2006/relationships/slide" Target="/ppt/slides/slide6.xml" Id="R999c1e0d79b3432f" /><Relationship Type="http://schemas.openxmlformats.org/officeDocument/2006/relationships/slide" Target="/ppt/slides/slide7.xml" Id="R2b63bbaec67e4528" /><Relationship Type="http://schemas.openxmlformats.org/officeDocument/2006/relationships/slide" Target="/ppt/slides/slide8.xml" Id="R3544d84f5e474edb" /><Relationship Type="http://schemas.openxmlformats.org/officeDocument/2006/relationships/slide" Target="/ppt/slides/slide9.xml" Id="Rde08bc11d40f4993" /><Relationship Type="http://schemas.openxmlformats.org/officeDocument/2006/relationships/slide" Target="/ppt/slides/slide10.xml" Id="R3728952ac2b34465" /><Relationship Type="http://schemas.openxmlformats.org/officeDocument/2006/relationships/slide" Target="/ppt/slides/slide11.xml" Id="Rd9a8b8c75f894135" /><Relationship Type="http://schemas.openxmlformats.org/officeDocument/2006/relationships/slide" Target="/ppt/slides/slide12.xml" Id="Rca0b6ae0b3ce452c" /><Relationship Type="http://schemas.openxmlformats.org/officeDocument/2006/relationships/slide" Target="/ppt/slides/slide13.xml" Id="R4180ee30604a41eb" /><Relationship Type="http://schemas.openxmlformats.org/officeDocument/2006/relationships/slide" Target="/ppt/slides/slide14.xml" Id="R5f1797e70b874eec" /><Relationship Type="http://schemas.openxmlformats.org/officeDocument/2006/relationships/slide" Target="/ppt/slides/slide15.xml" Id="R566501872c2249b1" /><Relationship Type="http://schemas.openxmlformats.org/officeDocument/2006/relationships/slide" Target="/ppt/slides/slide16.xml" Id="Rac83654c0582434c" /><Relationship Type="http://schemas.openxmlformats.org/officeDocument/2006/relationships/slide" Target="/ppt/slides/slide17.xml" Id="R6d1f3b5315f2479a" /><Relationship Type="http://schemas.openxmlformats.org/officeDocument/2006/relationships/slide" Target="/ppt/slides/slide18.xml" Id="R1e4950d34c6b4f68" /><Relationship Type="http://schemas.openxmlformats.org/officeDocument/2006/relationships/slide" Target="/ppt/slides/slide19.xml" Id="R25a7006a069a474b" /><Relationship Type="http://schemas.openxmlformats.org/officeDocument/2006/relationships/slide" Target="/ppt/slides/slide20.xml" Id="Rd426588af6124607" /><Relationship Type="http://schemas.openxmlformats.org/officeDocument/2006/relationships/slide" Target="/ppt/slides/slide21.xml" Id="Ree0179be969f40fb" /><Relationship Type="http://schemas.openxmlformats.org/officeDocument/2006/relationships/slide" Target="/ppt/slides/slide22.xml" Id="Ra5d33d887cd043fb" /><Relationship Type="http://schemas.openxmlformats.org/officeDocument/2006/relationships/slide" Target="/ppt/slides/slide23.xml" Id="R6d7ac4efb3d8475f" /><Relationship Type="http://schemas.openxmlformats.org/officeDocument/2006/relationships/slide" Target="/ppt/slides/slide24.xml" Id="R24f4b16c829e4c57" /><Relationship Type="http://schemas.openxmlformats.org/officeDocument/2006/relationships/slide" Target="/ppt/slides/slide25.xml" Id="R90895b11038a4381" /><Relationship Type="http://schemas.openxmlformats.org/officeDocument/2006/relationships/slide" Target="/ppt/slides/slide26.xml" Id="R4f7a67d7a67f4241" /><Relationship Type="http://schemas.openxmlformats.org/officeDocument/2006/relationships/slide" Target="/ppt/slides/slide27.xml" Id="R19052cf100f2411d" /><Relationship Type="http://schemas.openxmlformats.org/officeDocument/2006/relationships/slide" Target="/ppt/slides/slide28.xml" Id="Rece3d334c5324a0b" /><Relationship Type="http://schemas.openxmlformats.org/officeDocument/2006/relationships/slide" Target="/ppt/slides/slide29.xml" Id="R5da117733e45489e" /><Relationship Type="http://schemas.openxmlformats.org/officeDocument/2006/relationships/slide" Target="/ppt/slides/slide30.xml" Id="R49e70011fe3b4a7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c4a8b7aa3ab4dd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e683c4f75da4fbf" /><Relationship Type="http://schemas.openxmlformats.org/officeDocument/2006/relationships/notesMaster" Target="/ppt/notesMasters/notesMaster1.xml" Id="R436dce314bed4b0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b490f7d8f774d14" /><Relationship Type="http://schemas.openxmlformats.org/officeDocument/2006/relationships/notesMaster" Target="/ppt/notesMasters/notesMaster1.xml" Id="R31b382bf06214dd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fe0f638706b4b4f" /><Relationship Type="http://schemas.openxmlformats.org/officeDocument/2006/relationships/notesMaster" Target="/ppt/notesMasters/notesMaster1.xml" Id="R16ce8d216b014fe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ea5330a60304dd2" /><Relationship Type="http://schemas.openxmlformats.org/officeDocument/2006/relationships/notesMaster" Target="/ppt/notesMasters/notesMaster1.xml" Id="R752462495ab1442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e781f25e87d4fbc" /><Relationship Type="http://schemas.openxmlformats.org/officeDocument/2006/relationships/notesMaster" Target="/ppt/notesMasters/notesMaster1.xml" Id="R4eb95ab561b34cf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4d63fc130014ed3" /><Relationship Type="http://schemas.openxmlformats.org/officeDocument/2006/relationships/notesMaster" Target="/ppt/notesMasters/notesMaster1.xml" Id="R6f965121daa741e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ef4c358326b4627" /><Relationship Type="http://schemas.openxmlformats.org/officeDocument/2006/relationships/notesMaster" Target="/ppt/notesMasters/notesMaster1.xml" Id="R97332183d445486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3359fd709f14eeb" /><Relationship Type="http://schemas.openxmlformats.org/officeDocument/2006/relationships/notesMaster" Target="/ppt/notesMasters/notesMaster1.xml" Id="Rcfbfbe3186d24c0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8179510271d4f9e" /><Relationship Type="http://schemas.openxmlformats.org/officeDocument/2006/relationships/notesMaster" Target="/ppt/notesMasters/notesMaster1.xml" Id="Re6dbab4ed7944ae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bfdae2e07244091" /><Relationship Type="http://schemas.openxmlformats.org/officeDocument/2006/relationships/notesMaster" Target="/ppt/notesMasters/notesMaster1.xml" Id="R2747743f0417416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63227f407b34730" /><Relationship Type="http://schemas.openxmlformats.org/officeDocument/2006/relationships/notesMaster" Target="/ppt/notesMasters/notesMaster1.xml" Id="R6c8571faf3634a6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0e9c6b042a64a98" /><Relationship Type="http://schemas.openxmlformats.org/officeDocument/2006/relationships/notesMaster" Target="/ppt/notesMasters/notesMaster1.xml" Id="Rf6d419bdba3e44f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367f68c56354a81" /><Relationship Type="http://schemas.openxmlformats.org/officeDocument/2006/relationships/notesMaster" Target="/ppt/notesMasters/notesMaster1.xml" Id="R323906cbaa33405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2cef5abd0964549" /><Relationship Type="http://schemas.openxmlformats.org/officeDocument/2006/relationships/notesMaster" Target="/ppt/notesMasters/notesMaster1.xml" Id="R0ab37dc570c74b0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62acd280ad74cba" /><Relationship Type="http://schemas.openxmlformats.org/officeDocument/2006/relationships/notesMaster" Target="/ppt/notesMasters/notesMaster1.xml" Id="Re6b7646d3bdf42c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88308d129f54040" /><Relationship Type="http://schemas.openxmlformats.org/officeDocument/2006/relationships/notesMaster" Target="/ppt/notesMasters/notesMaster1.xml" Id="Rbd071fed1368467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ce3883ce0e84d01" /><Relationship Type="http://schemas.openxmlformats.org/officeDocument/2006/relationships/notesMaster" Target="/ppt/notesMasters/notesMaster1.xml" Id="R76c9b3cebbe045f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625ea1debd646c9" /><Relationship Type="http://schemas.openxmlformats.org/officeDocument/2006/relationships/notesMaster" Target="/ppt/notesMasters/notesMaster1.xml" Id="Re6cccb8c480f493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3437e4db1154829" /><Relationship Type="http://schemas.openxmlformats.org/officeDocument/2006/relationships/notesMaster" Target="/ppt/notesMasters/notesMaster1.xml" Id="R010ee717a2c74bb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8951d6c197149a2" /><Relationship Type="http://schemas.openxmlformats.org/officeDocument/2006/relationships/notesMaster" Target="/ppt/notesMasters/notesMaster1.xml" Id="R1b264157ade84f7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30631a8d00f456e" /><Relationship Type="http://schemas.openxmlformats.org/officeDocument/2006/relationships/notesMaster" Target="/ppt/notesMasters/notesMaster1.xml" Id="R35f68494e1e742a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91347139ca648cf" /><Relationship Type="http://schemas.openxmlformats.org/officeDocument/2006/relationships/notesMaster" Target="/ppt/notesMasters/notesMaster1.xml" Id="R3383a86c3918415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5ddca9530da4feb" /><Relationship Type="http://schemas.openxmlformats.org/officeDocument/2006/relationships/notesMaster" Target="/ppt/notesMasters/notesMaster1.xml" Id="R9acd35ec5c8f492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e3de61c00f084a78" /><Relationship Type="http://schemas.openxmlformats.org/officeDocument/2006/relationships/notesMaster" Target="/ppt/notesMasters/notesMaster1.xml" Id="R8b6d89f6a5274f19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4ecb2d1d90d41ea" /><Relationship Type="http://schemas.openxmlformats.org/officeDocument/2006/relationships/notesMaster" Target="/ppt/notesMasters/notesMaster1.xml" Id="R14023017edd14ec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7703028e015841d3" /><Relationship Type="http://schemas.openxmlformats.org/officeDocument/2006/relationships/notesMaster" Target="/ppt/notesMasters/notesMaster1.xml" Id="Rfa495be488044a0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011526cafde463a" /><Relationship Type="http://schemas.openxmlformats.org/officeDocument/2006/relationships/notesMaster" Target="/ppt/notesMasters/notesMaster1.xml" Id="R8cdb7ebf73ca4263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c4183fcac6b94435" /><Relationship Type="http://schemas.openxmlformats.org/officeDocument/2006/relationships/notesMaster" Target="/ppt/notesMasters/notesMaster1.xml" Id="R9632343fb9d14a2a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f496c7a5f6134669" /><Relationship Type="http://schemas.openxmlformats.org/officeDocument/2006/relationships/notesMaster" Target="/ppt/notesMasters/notesMaster1.xml" Id="R1d539a16981746cb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d13bc2d5017e4ab3" /><Relationship Type="http://schemas.openxmlformats.org/officeDocument/2006/relationships/notesMaster" Target="/ppt/notesMasters/notesMaster1.xml" Id="Rc54c7c746598482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同学们好。这节选两道机构模拟题，把已有代码知识组织成一份完整答案。第一题要利用有序性确定删除范围，第二题要保证最终表达式准确体现树的运算顺序。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在开始之前先简单介绍一下，伴梦研途是专门做重邮考研的机构，想要获取更多课程资料、答疑以及后续的课程安排，都可以在伴梦研途的QQ群里获取，需要的同学可以加一下。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用的是项目中的机构模拟题解。课堂题面把原材料未展开的条件补齐，方便直接推演。先从任务倒推必须保留的信息，再决定套用哪一段已有模板。两题都要求思想、代码和实际复杂度，最终输出是否符合题意要单独检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圈出非递减和闭区间。非递减允许重复，因此二分找到任意一个等于x的元素并不够；闭区间要求等于两个端点的元素也删除。函数既更新长度又返回删除数，是两个输出。数组尾部旧值不必清零，长度n才决定有效范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停顿】先请学生只标要删的下标，不写代码。这里三个2和两个6都在删除范围内。剩余元素原来已经有序，任务只需要把9向前补到下标2。若逐个删除并每次移动后缀，会重复移动同一批元素；整段删除可以把这些重复工作合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注意第二个边界用大于y。这样after落在第一个必须保留的后缀元素上，用半开区间表示能直接相减得长度。n是合法的边界位置，但不是合法的数组访问下标；后面的二分代码必须保证不读取A[n]。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数组长度9，第一次mid=4，刚好找到一个2。若立即返回4，删除区间便从第三个2开始，前面两个本应删除的元素会留下。题目允许重复，决定了我们需要边界查找而不是查找任意相等位置。也可能根本没有等于x的元素，例如x=3时仍应从4所在位置开始删除；所以正确目标是第一个大于等于x的位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初始右界是9，不是8，因为这里使用半开区间。遇到2仍要向左找，不能立即返回mid。A[mid]小于目标时，mid以及更左位置都不能成为答案，所以下界变成mid+1；否则mid还有可能是第一个满足条件的位置，右界只能收缩到mid。让学生分别解释这两次排除范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因为x≤y，第一个大于y的位置一定不会在first左边，所以第二次搜索可以沿用lo=first。这里遇到6时仍须右移，因为所有6都应删除。两个循环形状相同，比较符号不同；用重复端点值走一遍，最容易发现把小于等于写错的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段遇到小于x的元素，可以把mid及其左侧排除，lo更新到mid+1；遇到大于等于x，mid仍可能是首个满足条件的位置，所以保留为新hi。第二段只是把满足条件改成严格大于y，于是等于y时仍应向右推进。第二次从first开始合法，因为x≤y，first左边都小于x，也必定不大于y。最后lo和hi相遇在边界上，允许等于n，但任何实际读取A[mid]的时刻mid都小于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段代码的返回目标是一个边界位置，可能等于n；不要求目标x本身存在。mid使用lo加差值一半，避免直接相加的溢出风险。n通过指针传入，用来更新调用者的长度。先处理空表和非法值域，可以让后面的区间语义保持一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恢复hi到原长度，lo保持第一次找到的位置。没有命中元素时first和after相同，直接返回可以避免把整个后缀原地自赋值。这会影响特殊情况下的实际运行量，也使复杂度分析更准确。不要在搬移之前先减n，否则循环将过早终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读取位置始终大于写入位置，因此从左向右搬移不会覆盖尚未读取的数据。原尾部还留着2、4或6都没有关系，函数更新后只承诺A[0…n−1]是有效顺序表。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增加一个保留后缀长于一项的例子，才能真正检验搬移方向。写入下标总比读取下标小removed，因此正向循环不会覆盖后面还没读的源元素。若从末尾向前，先做A[3]=A[5]，原来A[3]的4立刻丢失，后面再读它就得到6。这个推导说明了for为什么递增，而不是只说“向前移动”。全部搬移结束后再减n，保证循环仍按原数组的有效末端读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思想段要写出两个边界的比较关系和整段搬移，单说使用二分没有覆盖删除动作。对于n≥1，两次查找与搬移合计可写O(log n+n−after)；若removed为0，则实际省略搬移，只需查找。空表在入口常数时间返回。题目没有要求必须二分时，线性稳定压缩也是最坏O(n)的正确方案，本讲二分的增量是充分利用有序性定位区间。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停顿】请学生给出四个小输入，并检查两个边界是否符合表中的描述。若x恰好等于某个重复值，第一次二分向左收缩，第二次二分在等于时向右推进，两者合起来才能删除整组。这里没有要求清除数组物理尾部，不额外增加清零循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次任务是输出表达式字符，而不只是列出中序结点序列。叶子的data可以是一个多字符标识符或非负整数，需要按字符串输出；负值由单目负号结点表示，叶子不直接存带符号的字符串。这样不会把二元减法和负操作数连写成a--2。单目负号的位置已经在题面说明，不能把只有一个孩子的结点错误地当作不完整的二元运算。允许多一层正确括号，会显著简化可靠实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树根加号的左子树是a乘b，右子树先计算c减d，再取负。图中两个减号的孩子数量不同，决定了它们的输出次序。让学生分别指认两个减号所表示的子表达式，再口头说出整棵树的运算顺序。不要先套一段遍历代码再猜它输出什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类问题要求保留括号，第二类问题要求按运算符元数决定访问顺序。不能因为某一张图单目孩子恰好在右侧，就认为普通中序可以覆盖所有题面。最后一行说明同一优先级也可能需要括号，因此本题直接给所有非根运算子树加外括号，比临时推最少括号规则稳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学生可能认为只在乘法下面出现加法时需要括号，这个反例可以纠正那种过窄判断。根的右孩子是一棵减法子树，必须先算b−c，再从a中减去结果。去掉括号后，通常的左结合规则会先算a−b。题目允许可省括号，因此直接对所有非根运算子树加一对括号，能够统一覆盖优先级、结合方向和单目嵌套，避免临时设计最少括号规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写函数的任务：完整输出以t为根的这一棵子表达式。叶子是递归终止情形；对运算结点，函数返回时应已经把该子表达式的所有字符和所需外括号输出完。单目分支可以选择非空孩子，因此与左右指针约定兼容。这里不会输出中间字符串对象，减少额外复制和存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构中的data存放以空字符结束的字符串，left、right保存两个孩子。isRoot表示当前调用是否处理整棵表达式树，不能拿来表示当前结点是否只有一个孩子。第一次调用后，所有递归调用传0；因此右边的单目表达式和它内部的减法表达式各有自己的括号。这种括号策略保证语义，题目没有要求省到最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这一页只跟踪右子树，暂时不把左边a乘b混进来。每次左括号都对应一个尚未结束的非根运算调用，返回时由同一层补右括号。让学生用手指指出最后两次右括号分别由哪一层输出。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进入非根负号结点先输出左括号，再输出负号。进入减法孩子时，它也先输出自己的左括号，依次输出c、减号和d，返回前补上它的右括号。最后负号这一层再补外层右括号。叶结点在加括号逻辑之前返回，所以不产生多余叶括号。若只在二元分支末尾补右括号，单目分支就会留下未配对括号；把右括号放在两种运算分支之后，才能与同一层入口对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叶子分支在加括号之前结束，保证输出的是操作数字符串本身。不是只输出data[0]，因为data可以为ab或123。空树不输出，也无需为它制造一对括号。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前一页已经排除了两孩子均空的叶子，因此这里的或条件准确表示只剩一个孩子。单目分支先输出负号，再处理唯一子树；三目表达式只负责取那个非空指针。二元分支才使用左—根—右的次序。让学生把唯一孩子换到左指针，确认结果仍正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右括号由当前调用自己补齐；不能把它只放到二元分支末尾，否则单目子表达式的左括号没有匹配。包装函数统一指定根调用，学生最终答案应包含入口，避免调用时忘记传isRoot。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题data数组固定为10个字符，所以每次输出字符串的代价可视为常数；加上括号仍是O(n)输出量。若题面改为任意长字符串，时间更准确写O(n+L)。调用栈看同一时刻的递归深度，不把所有递归调用次数当成同时分配的空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段思想说明覆盖了题面给出的每类结点，后面的代码可直接按照三种情况组织。不要只写“中序遍历”，因为单目孩子在左时那样会输出x−。最后补时间与空间：字符串长度有常数上界时每个结点只处理一次，时间O(n)，调用栈O(h)；若题目允许任意长操作数字符串，再加实际输出字符数L，写O(n+L)。输出本身是题目要求，不需要把整条表达式先拼成中间大字符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停顿】这四问分别检验重复值边界、越界、单目访问顺序和输出代价。让学生先写结论，再指出依据的是哪一段代码。前两问不要只说删除正确，要给出两个实际边界值；后两问说明条件改变会影响哪个分支或复杂度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此页供学生核对，不口播。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832baa2b414c8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fdfa5d8b6a4a6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2a7bf4fc954cf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83805a2487422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4590bcbe1e443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ab88fd239d408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D858468-E881-4E59-B35F-FF3F627B2A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53CB0BA-C486-464D-8D0C-E13F8A47771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D01F517-6D98-47EC-B89D-3A6B4C7774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091C7DE-9B93-441A-B20C-708AE1D4E7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5365F81-1BC3-43DC-B533-F6DA8E6F45C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25C7E7C-B6AF-44CF-B3A1-B7EF453081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D68DEBC-20D1-451B-BC73-CA29E29FA88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6DE2DA0-11CD-4B90-837C-A8E5EBA9F09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8151F3C-2C9D-4978-B02A-B0926BEAB0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6B61F1A-4F77-4152-AEF8-38D7F30D02D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4872f42ca3f4dff" /><Relationship Type="http://schemas.openxmlformats.org/officeDocument/2006/relationships/slideLayout" Target="/ppt/slideLayouts/slideLayout1.xml" Id="Rd4541e1537a54051" /><Relationship Type="http://schemas.openxmlformats.org/officeDocument/2006/relationships/slideLayout" Target="/ppt/slideLayouts/slideLayout2.xml" Id="R250077f9ab7f4c4c" /><Relationship Type="http://schemas.openxmlformats.org/officeDocument/2006/relationships/slideLayout" Target="/ppt/slideLayouts/slideLayout3.xml" Id="Rfd4b3ddab98e4598" /><Relationship Type="http://schemas.openxmlformats.org/officeDocument/2006/relationships/slideLayout" Target="/ppt/slideLayouts/slideLayout4.xml" Id="R236635c440a842e5" /><Relationship Type="http://schemas.openxmlformats.org/officeDocument/2006/relationships/slideLayout" Target="/ppt/slideLayouts/slideLayout5.xml" Id="R639052b82be14a21" /><Relationship Type="http://schemas.openxmlformats.org/officeDocument/2006/relationships/slideLayout" Target="/ppt/slideLayouts/slideLayout6.xml" Id="Rd13ffedb66ed462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4541e1537a54051"/>
    <p:sldLayoutId xmlns:r="http://schemas.openxmlformats.org/officeDocument/2006/relationships" id="2147483650" r:id="R250077f9ab7f4c4c"/>
    <p:sldLayoutId xmlns:r="http://schemas.openxmlformats.org/officeDocument/2006/relationships" id="2147483651" r:id="Rfd4b3ddab98e4598"/>
    <p:sldLayoutId xmlns:r="http://schemas.openxmlformats.org/officeDocument/2006/relationships" id="2147483652" r:id="R236635c440a842e5"/>
    <p:sldLayoutId xmlns:r="http://schemas.openxmlformats.org/officeDocument/2006/relationships" id="2147483653" r:id="R639052b82be14a21"/>
    <p:sldLayoutId xmlns:r="http://schemas.openxmlformats.org/officeDocument/2006/relationships" id="2147483654" r:id="Rd13ffedb66ed462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4e8c8cf8f243bc" /><Relationship Type="http://schemas.openxmlformats.org/officeDocument/2006/relationships/image" Target="/ppt/media/image.jpeg" Id="R605f9f5c4ca3449d" /><Relationship Type="http://schemas.openxmlformats.org/officeDocument/2006/relationships/notesSlide" Target="/ppt/notesSlides/notesSlide1.xml" Id="R7e9ff59bdbfa4d5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b87b5235a24655" /><Relationship Type="http://schemas.openxmlformats.org/officeDocument/2006/relationships/image" Target="/ppt/media/image2.jpeg" Id="R24f7d54c6f104b20" /><Relationship Type="http://schemas.openxmlformats.org/officeDocument/2006/relationships/notesSlide" Target="/ppt/notesSlides/notesSlide2.xml" Id="Rc17fa0ee213746e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5da1373a7d4d78" /><Relationship Type="http://schemas.openxmlformats.org/officeDocument/2006/relationships/image" Target="/ppt/media/image3.jpeg" Id="R2b800acb435a46c5" /><Relationship Type="http://schemas.openxmlformats.org/officeDocument/2006/relationships/notesSlide" Target="/ppt/notesSlides/notesSlide3.xml" Id="R1938d24e2e3c468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4dc496a7df467f" /><Relationship Type="http://schemas.openxmlformats.org/officeDocument/2006/relationships/image" Target="/ppt/media/image4.jpeg" Id="R4800d33d1cb24af7" /><Relationship Type="http://schemas.openxmlformats.org/officeDocument/2006/relationships/notesSlide" Target="/ppt/notesSlides/notesSlide4.xml" Id="R66a8d09bf4a6418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43fe3c51674d80" /><Relationship Type="http://schemas.openxmlformats.org/officeDocument/2006/relationships/image" Target="/ppt/media/image5.jpeg" Id="Rfc584be35ef84b4e" /><Relationship Type="http://schemas.openxmlformats.org/officeDocument/2006/relationships/notesSlide" Target="/ppt/notesSlides/notesSlide5.xml" Id="Re60c161a21754b9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4975217f154423" /><Relationship Type="http://schemas.openxmlformats.org/officeDocument/2006/relationships/image" Target="/ppt/media/image6.jpeg" Id="R1db2a868d9404a11" /><Relationship Type="http://schemas.openxmlformats.org/officeDocument/2006/relationships/notesSlide" Target="/ppt/notesSlides/notesSlide6.xml" Id="R04c74a8235e44f5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ff82d8cc854130" /><Relationship Type="http://schemas.openxmlformats.org/officeDocument/2006/relationships/image" Target="/ppt/media/image7.jpeg" Id="R7821ecf118044629" /><Relationship Type="http://schemas.openxmlformats.org/officeDocument/2006/relationships/notesSlide" Target="/ppt/notesSlides/notesSlide7.xml" Id="R09e61fc898ed4a9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7ca51e93444438" /><Relationship Type="http://schemas.openxmlformats.org/officeDocument/2006/relationships/image" Target="/ppt/media/image8.jpeg" Id="Rde2fc1e0c28c486c" /><Relationship Type="http://schemas.openxmlformats.org/officeDocument/2006/relationships/notesSlide" Target="/ppt/notesSlides/notesSlide8.xml" Id="R882c153f2136456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bbb39e5f214f08" /><Relationship Type="http://schemas.openxmlformats.org/officeDocument/2006/relationships/image" Target="/ppt/media/image9.jpeg" Id="Rb67baec445094b67" /><Relationship Type="http://schemas.openxmlformats.org/officeDocument/2006/relationships/notesSlide" Target="/ppt/notesSlides/notesSlide9.xml" Id="Re01a9b180a174f6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0a4f2047c3497e" /><Relationship Type="http://schemas.openxmlformats.org/officeDocument/2006/relationships/image" Target="/ppt/media/image10.jpeg" Id="R656114b424ff44a8" /><Relationship Type="http://schemas.openxmlformats.org/officeDocument/2006/relationships/notesSlide" Target="/ppt/notesSlides/notesSlide10.xml" Id="R75696f6deeda4c1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ee1ca45137484a" /><Relationship Type="http://schemas.openxmlformats.org/officeDocument/2006/relationships/image" Target="/ppt/media/image11.jpeg" Id="R719c3737464e4d2f" /><Relationship Type="http://schemas.openxmlformats.org/officeDocument/2006/relationships/notesSlide" Target="/ppt/notesSlides/notesSlide11.xml" Id="R7d51538e72d64db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197bedbc1c465c" /><Relationship Type="http://schemas.openxmlformats.org/officeDocument/2006/relationships/image" Target="/ppt/media/image12.jpeg" Id="R094514d1bd8e4988" /><Relationship Type="http://schemas.openxmlformats.org/officeDocument/2006/relationships/notesSlide" Target="/ppt/notesSlides/notesSlide12.xml" Id="R6412e4bc500d4cf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f5120e6c154f36" /><Relationship Type="http://schemas.openxmlformats.org/officeDocument/2006/relationships/image" Target="/ppt/media/image13.jpeg" Id="Rb3af5ad2e1d84b3d" /><Relationship Type="http://schemas.openxmlformats.org/officeDocument/2006/relationships/notesSlide" Target="/ppt/notesSlides/notesSlide13.xml" Id="Rd8e67cf80db347a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f67133f8f7416a" /><Relationship Type="http://schemas.openxmlformats.org/officeDocument/2006/relationships/image" Target="/ppt/media/image14.jpeg" Id="R7215f526cccf4190" /><Relationship Type="http://schemas.openxmlformats.org/officeDocument/2006/relationships/notesSlide" Target="/ppt/notesSlides/notesSlide14.xml" Id="R42e479ef51204b7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929bdf36464759" /><Relationship Type="http://schemas.openxmlformats.org/officeDocument/2006/relationships/image" Target="/ppt/media/image15.jpeg" Id="R9d4ce1eeae7b45cc" /><Relationship Type="http://schemas.openxmlformats.org/officeDocument/2006/relationships/notesSlide" Target="/ppt/notesSlides/notesSlide15.xml" Id="R8f0357a4748f436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4f29e20b1c41d4" /><Relationship Type="http://schemas.openxmlformats.org/officeDocument/2006/relationships/image" Target="/ppt/media/image16.jpeg" Id="R588f5a2d94ba4fb1" /><Relationship Type="http://schemas.openxmlformats.org/officeDocument/2006/relationships/notesSlide" Target="/ppt/notesSlides/notesSlide16.xml" Id="R5f938a4e2339405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9180df2cce405d" /><Relationship Type="http://schemas.openxmlformats.org/officeDocument/2006/relationships/image" Target="/ppt/media/image17.jpeg" Id="R408ea21dfa5c4b5a" /><Relationship Type="http://schemas.openxmlformats.org/officeDocument/2006/relationships/notesSlide" Target="/ppt/notesSlides/notesSlide17.xml" Id="R3c49678493ef42c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f70a1edc8d4760" /><Relationship Type="http://schemas.openxmlformats.org/officeDocument/2006/relationships/image" Target="/ppt/media/image18.jpeg" Id="R0df2947a44f04297" /><Relationship Type="http://schemas.openxmlformats.org/officeDocument/2006/relationships/notesSlide" Target="/ppt/notesSlides/notesSlide18.xml" Id="Ra235fd53568f434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8a844ffa5c48de" /><Relationship Type="http://schemas.openxmlformats.org/officeDocument/2006/relationships/image" Target="/ppt/media/image19.jpeg" Id="Rc82842360d2d4510" /><Relationship Type="http://schemas.openxmlformats.org/officeDocument/2006/relationships/notesSlide" Target="/ppt/notesSlides/notesSlide19.xml" Id="R4e6d513158c34f0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d88ee81d6049dd" /><Relationship Type="http://schemas.openxmlformats.org/officeDocument/2006/relationships/image" Target="/ppt/media/image20.jpeg" Id="R16ef8626f2814e0d" /><Relationship Type="http://schemas.openxmlformats.org/officeDocument/2006/relationships/notesSlide" Target="/ppt/notesSlides/notesSlide20.xml" Id="R7fd9988c04eb482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2b65f13a5d43d5" /><Relationship Type="http://schemas.openxmlformats.org/officeDocument/2006/relationships/image" Target="/ppt/media/image21.jpeg" Id="Rfc16ccfe5e5d4b82" /><Relationship Type="http://schemas.openxmlformats.org/officeDocument/2006/relationships/notesSlide" Target="/ppt/notesSlides/notesSlide21.xml" Id="Rbc56b545c55d449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a80aa672414a2d" /><Relationship Type="http://schemas.openxmlformats.org/officeDocument/2006/relationships/image" Target="/ppt/media/image22.jpeg" Id="R1054a8a433f347d5" /><Relationship Type="http://schemas.openxmlformats.org/officeDocument/2006/relationships/notesSlide" Target="/ppt/notesSlides/notesSlide22.xml" Id="Ra9d2985d959c4c0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2a4599ea69453d" /><Relationship Type="http://schemas.openxmlformats.org/officeDocument/2006/relationships/image" Target="/ppt/media/image23.jpeg" Id="R107626e89368478d" /><Relationship Type="http://schemas.openxmlformats.org/officeDocument/2006/relationships/notesSlide" Target="/ppt/notesSlides/notesSlide23.xml" Id="Rfdf88dcf43204fa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34d052a4374ff5" /><Relationship Type="http://schemas.openxmlformats.org/officeDocument/2006/relationships/image" Target="/ppt/media/image24.jpeg" Id="Rd4d24471fdbe4fbd" /><Relationship Type="http://schemas.openxmlformats.org/officeDocument/2006/relationships/notesSlide" Target="/ppt/notesSlides/notesSlide24.xml" Id="Ra570fabbc35b4ef9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ab45c924454b79" /><Relationship Type="http://schemas.openxmlformats.org/officeDocument/2006/relationships/image" Target="/ppt/media/image25.jpeg" Id="R1dc0f7b3d17241d1" /><Relationship Type="http://schemas.openxmlformats.org/officeDocument/2006/relationships/notesSlide" Target="/ppt/notesSlides/notesSlide25.xml" Id="R25151c5bd91b484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943854dddc4d5c" /><Relationship Type="http://schemas.openxmlformats.org/officeDocument/2006/relationships/image" Target="/ppt/media/image26.jpeg" Id="Rc564e4031e494286" /><Relationship Type="http://schemas.openxmlformats.org/officeDocument/2006/relationships/notesSlide" Target="/ppt/notesSlides/notesSlide26.xml" Id="R687003b093f74a15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5eb2a5ee174178" /><Relationship Type="http://schemas.openxmlformats.org/officeDocument/2006/relationships/image" Target="/ppt/media/image27.jpeg" Id="R9827188cdcd44b39" /><Relationship Type="http://schemas.openxmlformats.org/officeDocument/2006/relationships/notesSlide" Target="/ppt/notesSlides/notesSlide27.xml" Id="R6dbfac3777d844f8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b32167e8c54c0d" /><Relationship Type="http://schemas.openxmlformats.org/officeDocument/2006/relationships/image" Target="/ppt/media/image28.jpeg" Id="Rf560d208c0bd4862" /><Relationship Type="http://schemas.openxmlformats.org/officeDocument/2006/relationships/notesSlide" Target="/ppt/notesSlides/notesSlide28.xml" Id="Rb223c14138d14149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d2ab6637984467" /><Relationship Type="http://schemas.openxmlformats.org/officeDocument/2006/relationships/image" Target="/ppt/media/image29.jpeg" Id="R780173b044f34aea" /><Relationship Type="http://schemas.openxmlformats.org/officeDocument/2006/relationships/notesSlide" Target="/ppt/notesSlides/notesSlide29.xml" Id="R6588ea284c22429c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25aabf0c6c47bb" /><Relationship Type="http://schemas.openxmlformats.org/officeDocument/2006/relationships/image" Target="/ppt/media/image30.jpeg" Id="Ra3778d3575064fdd" /><Relationship Type="http://schemas.openxmlformats.org/officeDocument/2006/relationships/notesSlide" Target="/ppt/notesSlides/notesSlide30.xml" Id="R5fc4c7c86688449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E13A9B-C6D8-4613-A7D2-21691DED78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5f9f5c4ca3449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C1BA0A8A-4CC6-40F9-BBB4-AA8F6A199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71625"/>
            <a:ext cx="10744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72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重邮802 数据结构代码课程</a:t>
            </a:r>
          </a:p>
        </p:txBody>
      </p:sp>
      <p:sp>
        <p:nvSpPr>
          <p:cNvPr id="3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13C4042D-9EE5-471C-BCBB-DC1FB5E07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10744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00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00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00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00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00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00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00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00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00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600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数据结构冲刺阶段</a:t>
            </a:r>
          </a:p>
        </p:txBody>
      </p:sp>
      <p:sp>
        <p:nvSpPr>
          <p:cNvPr id="4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EF0C939C-ADC4-45A9-A1AB-15CF9C69E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9925"/>
            <a:ext cx="107442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7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机构模拟题的完整解题过程</a:t>
            </a:r>
          </a:p>
        </p:txBody>
      </p:sp>
      <p:sp>
        <p:nvSpPr>
          <p:cNvPr id="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2ED53C76-A705-46E2-A4ED-5E1E6503D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0"/>
            <a:ext cx="10744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800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主讲：牙膏学长 ｜ 资料答疑：伴梦研途QQ群</a:t>
            </a:r>
          </a:p>
        </p:txBody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881199C7-88BC-4AD6-9708-EE236066A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7485882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E69937-DD64-4C5D-9DDA-6AE0CD0C8E0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f7d54c6f104b2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FB2684F6-56EC-4508-9706-A481F028A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解题过程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47EC1871-76C2-4DDE-A54F-1D07D83CE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两道题各自需要解决什么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3200FD-A4E2-4FD4-88C5-33AEE0753344}"/>
              </a:ext>
            </a:extLst>
          </p:cNvPr>
          <p:cNvGraphicFramePr/>
          <p:nvPr/>
        </p:nvGraphicFramePr>
        <p:xfrm>
          <a:off xmlns:a="http://schemas.openxmlformats.org/drawingml/2006/main" x="723900" y="1943100"/>
          <a:ext xmlns:a="http://schemas.openxmlformats.org/drawingml/2006/main" cx="10744200" cy="14573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79333"/>
                <a:gridCol w="6764867"/>
              </a:tblGrid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题目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读题后要做的决定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有序顺序表闭区间删除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如何确定重复值边界；哪些元素要搬移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表达式树输出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单目与二元如何区分；括号写在何处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D1329ED2-EF7F-48A5-B320-345EFA652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12594"/>
            <a:ext cx="10744200" cy="4405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据机构模拟卷二、卷一题解整理并明确条件。</a:t>
            </a:r>
          </a:p>
        </p:txBody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5E39B2AA-1114-4F69-B46F-7CF12FDF9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09525981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04F28D-0F04-4C3E-95A6-F4A917F6D4A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800acb435a46c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8FB52859-0EA0-4911-9C3B-572DBAB18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解题过程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060EB799-B643-4C14-A401-699047C32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题一：删除所有落在闭区间内的元素</a:t>
            </a:r>
          </a:p>
        </p:txBody>
      </p:sp>
      <p:sp>
        <p:nvSpPr>
          <p:cNvPr id="4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20323AC4-68A2-47BE-AAC3-2224DAD86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A[0…n−1]为非递减整数顺序表，允许重复值和空表。</a:t>
            </a:r>
          </a:p>
        </p:txBody>
      </p:sp>
      <p:sp>
        <p:nvSpPr>
          <p:cNvPr id="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27EA26F6-2084-4A0B-A72D-C043BDA01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5069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删除所有满足x≤A[i]≤y的元素，保留其余元素的相对顺序。</a:t>
            </a:r>
          </a:p>
        </p:txBody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178D99B0-4AE7-4F8D-A437-FA58898D2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67038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原地更新n并返回删除个数；x&gt;y时不作修改、返回0。</a:t>
            </a:r>
          </a:p>
        </p:txBody>
      </p:sp>
      <p:sp>
        <p:nvSpPr>
          <p:cNvPr id="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04D1FE60-1035-47E8-B512-B91AFE7C9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9006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请设计算法，写出思想、代码及时间、辅助空间复杂度。</a:t>
            </a:r>
          </a:p>
        </p:txBody>
      </p:sp>
      <p:sp>
        <p:nvSpPr>
          <p:cNvPr id="8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562F8F9F-86AE-46B3-B40E-EFAAEC97C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24325"/>
            <a:ext cx="10744200" cy="4405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据机构模拟卷二算法第1题题解整理；本讲以两次二分定位为重点。</a:t>
            </a:r>
          </a:p>
        </p:txBody>
      </p:sp>
      <p:sp>
        <p:nvSpPr>
          <p:cNvPr id="9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DDF81975-B17F-48FA-8E53-CD7091202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60282196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697BA6-6B14-4C8E-A7CC-AD583489ED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00d33d1cb24af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2586368B-E0B7-4AE2-9B98-806F0FD00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解题过程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E321C253-7F2E-4B4F-87F8-BC047642E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先在一个例子里圈出删除区段</a:t>
            </a:r>
          </a:p>
        </p:txBody>
      </p:sp>
      <p:sp>
        <p:nvSpPr>
          <p:cNvPr id="4" name="Diagram node prefix">
            <a:extLst xmlns:a="http://schemas.openxmlformats.org/drawingml/2006/main">
              <a:ext uri="{FF2B5EF4-FFF2-40B4-BE49-F238E27FC236}">
                <a16:creationId xmlns:a16="http://schemas.microsoft.com/office/drawing/2014/main" id="{5C6BE844-E4E6-435B-8333-39F2327D2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2299" y="2881789"/>
            <a:ext cx="1085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2329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保留前缀</a:t>
            </a:r>
          </a:p>
        </p:txBody>
      </p:sp>
      <p:sp>
        <p:nvSpPr>
          <p:cNvPr id="5" name="Diagram node remove">
            <a:extLst xmlns:a="http://schemas.openxmlformats.org/drawingml/2006/main">
              <a:ext uri="{FF2B5EF4-FFF2-40B4-BE49-F238E27FC236}">
                <a16:creationId xmlns:a16="http://schemas.microsoft.com/office/drawing/2014/main" id="{BA525140-E23D-46EC-8238-6B4819B02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8128" y="2881789"/>
            <a:ext cx="995743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9C"/>
          </a:solidFill>
          <a:ln xmlns:a="http://schemas.openxmlformats.org/drawingml/2006/main" w="16193">
            <a:solidFill>
              <a:srgbClr val="1F4E9C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删除6项</a:t>
            </a:r>
          </a:p>
        </p:txBody>
      </p:sp>
      <p:sp>
        <p:nvSpPr>
          <p:cNvPr id="6" name="Diagram node suffix">
            <a:extLst xmlns:a="http://schemas.openxmlformats.org/drawingml/2006/main">
              <a:ext uri="{FF2B5EF4-FFF2-40B4-BE49-F238E27FC236}">
                <a16:creationId xmlns:a16="http://schemas.microsoft.com/office/drawing/2014/main" id="{352F9E44-84C6-4F7E-932B-C5E4274A8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3851" y="2881789"/>
            <a:ext cx="1085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2329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保留后缀</a:t>
            </a:r>
          </a:p>
        </p:txBody>
      </p:sp>
      <p:sp>
        <p:nvSpPr>
          <p:cNvPr id="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ABA5C41A-6937-4C0E-A2BE-EC47BD6AE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1349" y="3688652"/>
            <a:ext cx="1047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A[0…1]</a:t>
            </a:r>
          </a:p>
        </p:txBody>
      </p:sp>
      <p:sp>
        <p:nvSpPr>
          <p:cNvPr id="8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C6BD87A1-1894-4EA5-965D-F3235A105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688652"/>
            <a:ext cx="1047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A[2…7]</a:t>
            </a:r>
          </a:p>
        </p:txBody>
      </p:sp>
      <p:sp>
        <p:nvSpPr>
          <p:cNvPr id="9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97DF34A8-7D97-415A-A24E-4FA34FBB9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901" y="3688652"/>
            <a:ext cx="1047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A[8]</a:t>
            </a:r>
          </a:p>
        </p:txBody>
      </p:sp>
      <p:sp>
        <p:nvSpPr>
          <p:cNvPr id="10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2917B084-0C93-4B23-8F99-3E98F5B71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1349" y="4312730"/>
            <a:ext cx="1047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−3  −1</a:t>
            </a:r>
          </a:p>
        </p:txBody>
      </p:sp>
      <p:sp>
        <p:nvSpPr>
          <p:cNvPr id="11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0E6AEEC6-BD14-4F1D-9DC6-706C79B93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7739" y="4312730"/>
            <a:ext cx="1136523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2 2 2 4 6 6</a:t>
            </a:r>
          </a:p>
        </p:txBody>
      </p:sp>
      <p:sp>
        <p:nvSpPr>
          <p:cNvPr id="1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5AED5671-BC58-4FF0-90A4-AA43186E9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901" y="4312730"/>
            <a:ext cx="1047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13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95DF6C7A-7932-4666-AFDB-EA4078B4E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67300"/>
            <a:ext cx="10744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原数组为−3、−1、2、2、2、4、6、6、9，删除值域[2,6]。</a:t>
            </a:r>
          </a:p>
        </p:txBody>
      </p:sp>
      <p:sp>
        <p:nvSpPr>
          <p:cNvPr id="14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FD78EDD7-05AF-45BC-8C98-4C9A9E98E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76875"/>
            <a:ext cx="10744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只需移动最后的9，不需逐个删除命中元素。</a:t>
            </a:r>
          </a:p>
        </p:txBody>
      </p:sp>
      <p:sp>
        <p:nvSpPr>
          <p:cNvPr id="1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21F70BC1-FF29-49A2-B571-DB1465410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39050313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160B64-4D3F-4998-8211-B40CA19B2D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584be35ef84b4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25C00CDE-80E6-40B7-88D2-C3CAAC9FF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解题过程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FA53F1ED-4162-4499-9CB6-82A2ACBDF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把闭区间转换成两个位置</a:t>
            </a:r>
          </a:p>
        </p:txBody>
      </p:sp>
      <p:sp>
        <p:nvSpPr>
          <p:cNvPr id="4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FC7FDC69-FE22-4648-AEF3-FAB79E2A5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first：第一个满足A[i]≥x的位置。</a:t>
            </a:r>
          </a:p>
        </p:txBody>
      </p:sp>
      <p:sp>
        <p:nvSpPr>
          <p:cNvPr id="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EA401374-A4A8-4DB2-8454-E7B9AD74D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5069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after：第一个满足A[i]&gt;y的位置。</a:t>
            </a:r>
          </a:p>
        </p:txBody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F6A01DFF-D818-454E-8FCF-B860813B3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67038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删除下标区间[first，after)，删除数为after−first。</a:t>
            </a:r>
          </a:p>
        </p:txBody>
      </p:sp>
      <p:sp>
        <p:nvSpPr>
          <p:cNvPr id="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680AC33E-179B-484C-92D6-587DDF36E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9006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不存在这样的元素时，相应位置取n。</a:t>
            </a:r>
          </a:p>
        </p:txBody>
      </p:sp>
      <p:sp>
        <p:nvSpPr>
          <p:cNvPr id="8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A77BE1B0-BB0E-4BA9-AF71-6E4B87691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37081490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1C26FB-B172-4446-A7C2-AD33A4AA59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b2a868d9404a1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40D39FD8-E1BE-4AEB-A0FE-C6DCCDE44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解题过程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8B0528E1-07A2-4241-9049-A4635FDD1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找到某个相等元素不足以确定删除边界</a:t>
            </a:r>
          </a:p>
        </p:txBody>
      </p:sp>
      <p:sp>
        <p:nvSpPr>
          <p:cNvPr id="4" name="Diagram node p2">
            <a:extLst xmlns:a="http://schemas.openxmlformats.org/drawingml/2006/main">
              <a:ext uri="{FF2B5EF4-FFF2-40B4-BE49-F238E27FC236}">
                <a16:creationId xmlns:a16="http://schemas.microsoft.com/office/drawing/2014/main" id="{3F125E85-B226-420B-A3F6-1CF61D3F8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9405" y="2863786"/>
            <a:ext cx="895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9C"/>
          </a:solidFill>
          <a:ln xmlns:a="http://schemas.openxmlformats.org/drawingml/2006/main" w="16193">
            <a:solidFill>
              <a:srgbClr val="1F4E9C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5" name="Diagram node p3">
            <a:extLst xmlns:a="http://schemas.openxmlformats.org/drawingml/2006/main">
              <a:ext uri="{FF2B5EF4-FFF2-40B4-BE49-F238E27FC236}">
                <a16:creationId xmlns:a16="http://schemas.microsoft.com/office/drawing/2014/main" id="{A3FE7548-FA7A-4ECA-8F09-C6ADC76D3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2863786"/>
            <a:ext cx="895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2329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" name="Diagram node p4">
            <a:extLst xmlns:a="http://schemas.openxmlformats.org/drawingml/2006/main">
              <a:ext uri="{FF2B5EF4-FFF2-40B4-BE49-F238E27FC236}">
                <a16:creationId xmlns:a16="http://schemas.microsoft.com/office/drawing/2014/main" id="{49603099-9151-43B5-9E8A-80FBAED4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7245" y="2863786"/>
            <a:ext cx="895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2329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8BDB5573-558E-472A-96CB-8680B6100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3205" y="3690747"/>
            <a:ext cx="1047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下标2</a:t>
            </a:r>
          </a:p>
        </p:txBody>
      </p:sp>
      <p:sp>
        <p:nvSpPr>
          <p:cNvPr id="8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7A6049C6-C8EE-4471-9F60-6A27EB524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690747"/>
            <a:ext cx="1047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下标3</a:t>
            </a:r>
          </a:p>
        </p:txBody>
      </p:sp>
      <p:sp>
        <p:nvSpPr>
          <p:cNvPr id="9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6170EEB1-1261-4DD0-BB47-86F08EA89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1045" y="3690747"/>
            <a:ext cx="1047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下标4</a:t>
            </a:r>
          </a:p>
        </p:txBody>
      </p:sp>
      <p:sp>
        <p:nvSpPr>
          <p:cNvPr id="10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F505EBA8-7655-4512-9838-4ABC01FF8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91050"/>
            <a:ext cx="10744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原例的重复组位于下标2、3、4。普通折半首次可能命中下标4。</a:t>
            </a:r>
          </a:p>
        </p:txBody>
      </p:sp>
      <p:sp>
        <p:nvSpPr>
          <p:cNvPr id="11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D02046C2-5742-48F9-811F-46956A2D7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00625"/>
            <a:ext cx="10744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若把首次命中位置当first，就会漏删前面的两个2。</a:t>
            </a:r>
          </a:p>
        </p:txBody>
      </p:sp>
      <p:sp>
        <p:nvSpPr>
          <p:cNvPr id="1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78D7D328-5241-477E-9A4A-D13152B87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76875"/>
            <a:ext cx="10744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左边界要求最先满足A[i]≥x的位置，命中后仍需向左收缩。</a:t>
            </a:r>
          </a:p>
        </p:txBody>
      </p:sp>
      <p:sp>
        <p:nvSpPr>
          <p:cNvPr id="13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9536689C-1596-4D05-810A-34F96C831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62120211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260083-C81C-41D5-A4C6-B0383E590DC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21ecf11804462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1A88CF46-8BAF-49C4-AD0A-D35E5BEEE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解题过程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58E92822-F2DE-4297-8A70-03671A3C9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第一次二分找第一个大于等于2的位置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F0F242-7D12-437A-AB54-2BB3B84A7ECD}"/>
              </a:ext>
            </a:extLst>
          </p:cNvPr>
          <p:cNvGraphicFramePr/>
          <p:nvPr/>
        </p:nvGraphicFramePr>
        <p:xfrm>
          <a:off xmlns:a="http://schemas.openxmlformats.org/drawingml/2006/main" x="723900" y="1943100"/>
          <a:ext xmlns:a="http://schemas.openxmlformats.org/drawingml/2006/main" cx="10744200" cy="2428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48840"/>
                <a:gridCol w="2148840"/>
                <a:gridCol w="2148840"/>
                <a:gridCol w="2148840"/>
                <a:gridCol w="2148840"/>
              </a:tblGrid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lo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hi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mid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A[mid]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更新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hi=4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hi=2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lo=2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结束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first=2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A5D76734-EE08-4D08-B062-A3E8734A7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12594"/>
            <a:ext cx="10744200" cy="4405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搜索区间采用[lo，hi)，初始hi=n；mid始终小于hi。</a:t>
            </a:r>
          </a:p>
        </p:txBody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F9E4756A-0E5A-416D-A09C-34812A77D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45303572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DE01F8-36C4-44EF-81B6-BDAC7EF531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2fc1e0c28c486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5FAF9D1C-5389-4443-BB18-EE60F6394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解题过程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0CFC1244-86DB-489B-B857-22412D6D4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第二次二分找第一个大于6的位置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FA9CDD-D27C-4786-8858-3FEF26E247FF}"/>
              </a:ext>
            </a:extLst>
          </p:cNvPr>
          <p:cNvGraphicFramePr/>
          <p:nvPr/>
        </p:nvGraphicFramePr>
        <p:xfrm>
          <a:off xmlns:a="http://schemas.openxmlformats.org/drawingml/2006/main" x="723900" y="1943100"/>
          <a:ext xmlns:a="http://schemas.openxmlformats.org/drawingml/2006/main" cx="10744200" cy="2428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48840"/>
                <a:gridCol w="2148840"/>
                <a:gridCol w="2148840"/>
                <a:gridCol w="2148840"/>
                <a:gridCol w="2148840"/>
              </a:tblGrid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lo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hi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mid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A[mid]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更新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lo=6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lo=8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hi=8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结束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after=8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3BAD606F-2DF8-4222-A7AD-A7906E8E5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12594"/>
            <a:ext cx="10744200" cy="4405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继续从first开始搜索；判断条件改为A[mid]≤y。</a:t>
            </a:r>
          </a:p>
        </p:txBody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B48DBAF1-56FA-4C16-A08B-2548BDCCF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82935809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2D1851-E583-4DF7-849D-FF56B0D0D3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7baec445094b6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B635F23E-754B-4B5D-96D7-4B94E6E91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解题过程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49772380-3D72-4A80-9D7B-48E3C210F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两个二分循环分别维护哪条边界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4597C6-48A2-4C0F-A56A-EBFF11BABA7F}"/>
              </a:ext>
            </a:extLst>
          </p:cNvPr>
          <p:cNvGraphicFramePr/>
          <p:nvPr/>
        </p:nvGraphicFramePr>
        <p:xfrm>
          <a:off xmlns:a="http://schemas.openxmlformats.org/drawingml/2006/main" x="723900" y="1943100"/>
          <a:ext xmlns:a="http://schemas.openxmlformats.org/drawingml/2006/main" cx="10744200" cy="1943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31405"/>
                <a:gridCol w="3632430"/>
                <a:gridCol w="3980364"/>
              </a:tblGrid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查找目标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已排除的左侧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已确定的右侧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first：首个A[i]≥x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下标小于lo处均小于x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下标不小于hi处均不小于x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after：首个A[i]&gt;y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下标小于lo处均不大于y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下标不小于hi处均大于y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lo==hi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待搜索区间为空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交界位置即答案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2FF4A307-4204-46B1-98CA-0940DB7CA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41156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mid只在lo&lt;hi时计算，因此始终有mid&lt;n。</a:t>
            </a:r>
          </a:p>
        </p:txBody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0CF226CD-F53D-4869-A0CE-C255D9430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50130661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7F204C-C49F-4D7D-A731-D0A7386E753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6114b424ff44a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1D39560B-6D60-41A6-98D6-573E1CBBF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答案代码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C57C7EEB-9EF1-45C1-BAA3-5773C0CF8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删除函数：定位左边界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A04C70-4956-4C80-9755-83D225169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0744200" cy="3495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EB0B80-868E-4A3F-84C8-7529F6FD6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38100" cy="3495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9C"/>
          </a:solidFill>
          <a:ln xmlns:a="http://schemas.openxmlformats.org/drawingml/2006/main" w="0">
            <a:noFill/>
          </a:ln>
        </p:spPr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D612765E-A1F3-4867-9E41-0F475E881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76450"/>
            <a:ext cx="10287000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defPPr>
            <a:lvl1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1pPr>
            <a:lvl2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2pPr>
            <a:lvl3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3pPr>
            <a:lvl4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4pPr>
            <a:lvl5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5pPr>
            <a:lvl6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6pPr>
            <a:lvl7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7pPr>
            <a:lvl8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8pPr>
            <a:lvl9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int DeleteRange(int A[], int *n, int x, int y) {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if (*n == 0 || x &gt; y) return 0;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int lo = 0, hi = *n;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while (lo &lt; hi) {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    int mid = lo + (hi - lo) / 2;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    if (A[mid] &lt; x) lo = mid + 1;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    else hi = mid;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int first = lo;</a:t>
            </a:r>
          </a:p>
        </p:txBody>
      </p:sp>
      <p:sp>
        <p:nvSpPr>
          <p:cNvPr id="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7BA7B966-EF58-443B-A38A-AF6072285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110537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836C11-B169-45BC-A82D-A88EEDF1526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9c3737464e4d2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445F5887-07B7-4CA2-A3CD-EE7550874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答案代码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858022D4-D96A-4C45-BDFB-9C0B55F04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删除函数：定位右边界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6C4FFE-9677-4248-80A8-DC8DE02EC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0744200" cy="3495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833B98-FDD6-4CE9-B884-BFE288301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38100" cy="3495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9C"/>
          </a:solidFill>
          <a:ln xmlns:a="http://schemas.openxmlformats.org/drawingml/2006/main" w="0">
            <a:noFill/>
          </a:ln>
        </p:spPr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B6C108BF-BD50-4A70-B4CE-3613AC125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76450"/>
            <a:ext cx="10287000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defPPr>
            <a:lvl1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1pPr>
            <a:lvl2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2pPr>
            <a:lvl3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3pPr>
            <a:lvl4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4pPr>
            <a:lvl5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5pPr>
            <a:lvl6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6pPr>
            <a:lvl7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7pPr>
            <a:lvl8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8pPr>
            <a:lvl9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hi = *n;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while (lo &lt; hi) {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    int mid = lo + (hi - lo) / 2;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    if (A[mid] &lt;= y) lo = mid + 1;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    else hi = mid;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int after = lo;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int removed = after - first;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if (removed == 0) return 0;</a:t>
            </a:r>
          </a:p>
        </p:txBody>
      </p:sp>
      <p:sp>
        <p:nvSpPr>
          <p:cNvPr id="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3F3C51A2-1F89-402F-A3F1-AC2009262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38318658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195D3E-C2B7-4780-BD01-6402652D96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4514d1bd8e498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6473EE62-6A3D-4A05-B3CA-F336D9D45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答案代码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071E5A51-105A-4DF8-9904-EE4B1B4EF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删除函数：一次搬移并更新长度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5C7D13-0188-4BDE-BD2F-54D69557A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0744200" cy="2085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F28959-22A5-4774-805D-A7328144E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38100" cy="2085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9C"/>
          </a:solidFill>
          <a:ln xmlns:a="http://schemas.openxmlformats.org/drawingml/2006/main" w="0">
            <a:noFill/>
          </a:ln>
        </p:spPr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48E37558-98AF-4CB9-8D09-3E250527F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76450"/>
            <a:ext cx="10287000" cy="1876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defPPr>
            <a:lvl1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1pPr>
            <a:lvl2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2pPr>
            <a:lvl3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3pPr>
            <a:lvl4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4pPr>
            <a:lvl5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5pPr>
            <a:lvl6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6pPr>
            <a:lvl7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7pPr>
            <a:lvl8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8pPr>
            <a:lvl9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for (int k = after; k &lt; *n; ++k)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    A[k - removed] = A[k];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*n -= removed;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return removed;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E3E3AC4C-28A7-4F07-A66D-8D49088C2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62425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例中removed=6，只把A[8]写到A[2]。</a:t>
            </a:r>
          </a:p>
        </p:txBody>
      </p:sp>
      <p:sp>
        <p:nvSpPr>
          <p:cNvPr id="8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D2BA4BD3-65B6-4662-98A2-C996EF372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74394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新长度为3，有效数组是−3，−1，9。</a:t>
            </a:r>
          </a:p>
        </p:txBody>
      </p:sp>
      <p:sp>
        <p:nvSpPr>
          <p:cNvPr id="9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BC27CCA8-6477-493D-B1FF-9351790B0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212709937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940143-EACA-4243-B606-65F8DF24074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af5ad2e1d84b3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E9DD3327-F9B3-4904-A81B-201ED145E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解题过程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D95267A3-8E5C-4499-B4F7-1E565EF1F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后缀向左搬移时应从左向右读取</a:t>
            </a:r>
          </a:p>
        </p:txBody>
      </p:sp>
      <p:sp>
        <p:nvSpPr>
          <p:cNvPr id="4" name="Diagram node r3">
            <a:extLst xmlns:a="http://schemas.openxmlformats.org/drawingml/2006/main">
              <a:ext uri="{FF2B5EF4-FFF2-40B4-BE49-F238E27FC236}">
                <a16:creationId xmlns:a16="http://schemas.microsoft.com/office/drawing/2014/main" id="{188D6317-9534-4F3F-8293-44C44DB3B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997" y="2438972"/>
            <a:ext cx="964311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2329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A[3]=4</a:t>
            </a:r>
          </a:p>
        </p:txBody>
      </p:sp>
      <p:sp>
        <p:nvSpPr>
          <p:cNvPr id="5" name="Diagram node r4">
            <a:extLst xmlns:a="http://schemas.openxmlformats.org/drawingml/2006/main">
              <a:ext uri="{FF2B5EF4-FFF2-40B4-BE49-F238E27FC236}">
                <a16:creationId xmlns:a16="http://schemas.microsoft.com/office/drawing/2014/main" id="{6375BA27-E367-4312-9196-7445DF735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3845" y="2438972"/>
            <a:ext cx="964311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2329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A[4]=5</a:t>
            </a:r>
          </a:p>
        </p:txBody>
      </p:sp>
      <p:sp>
        <p:nvSpPr>
          <p:cNvPr id="6" name="Diagram node r5">
            <a:extLst xmlns:a="http://schemas.openxmlformats.org/drawingml/2006/main">
              <a:ext uri="{FF2B5EF4-FFF2-40B4-BE49-F238E27FC236}">
                <a16:creationId xmlns:a16="http://schemas.microsoft.com/office/drawing/2014/main" id="{B7E0221F-DF10-4240-8944-6F27C11E3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8693" y="2438972"/>
            <a:ext cx="964311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2329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A[5]=6</a:t>
            </a:r>
          </a:p>
        </p:txBody>
      </p:sp>
      <p:sp>
        <p:nvSpPr>
          <p:cNvPr id="7" name="Diagram node w1">
            <a:extLst xmlns:a="http://schemas.openxmlformats.org/drawingml/2006/main">
              <a:ext uri="{FF2B5EF4-FFF2-40B4-BE49-F238E27FC236}">
                <a16:creationId xmlns:a16="http://schemas.microsoft.com/office/drawing/2014/main" id="{65D4218F-724C-4A5C-BDC2-B07FF57C0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997" y="3585972"/>
            <a:ext cx="964311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9C"/>
          </a:solidFill>
          <a:ln xmlns:a="http://schemas.openxmlformats.org/drawingml/2006/main" w="16193">
            <a:solidFill>
              <a:srgbClr val="1F4E9C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A[1]=4</a:t>
            </a:r>
          </a:p>
        </p:txBody>
      </p:sp>
      <p:sp>
        <p:nvSpPr>
          <p:cNvPr id="8" name="Diagram node w2">
            <a:extLst xmlns:a="http://schemas.openxmlformats.org/drawingml/2006/main">
              <a:ext uri="{FF2B5EF4-FFF2-40B4-BE49-F238E27FC236}">
                <a16:creationId xmlns:a16="http://schemas.microsoft.com/office/drawing/2014/main" id="{8EEEEA38-D0B0-42E5-A674-CB7CCC022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3845" y="3585972"/>
            <a:ext cx="964311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9C"/>
          </a:solidFill>
          <a:ln xmlns:a="http://schemas.openxmlformats.org/drawingml/2006/main" w="16193">
            <a:solidFill>
              <a:srgbClr val="1F4E9C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A[2]=5</a:t>
            </a:r>
          </a:p>
        </p:txBody>
      </p:sp>
      <p:sp>
        <p:nvSpPr>
          <p:cNvPr id="9" name="Diagram node w3">
            <a:extLst xmlns:a="http://schemas.openxmlformats.org/drawingml/2006/main">
              <a:ext uri="{FF2B5EF4-FFF2-40B4-BE49-F238E27FC236}">
                <a16:creationId xmlns:a16="http://schemas.microsoft.com/office/drawing/2014/main" id="{02D4FB77-BF38-4FB1-BB32-42A2BC03E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8693" y="3585972"/>
            <a:ext cx="964311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9C"/>
          </a:solidFill>
          <a:ln xmlns:a="http://schemas.openxmlformats.org/drawingml/2006/main" w="16193">
            <a:solidFill>
              <a:srgbClr val="1F4E9C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A[3]=6</a:t>
            </a:r>
          </a:p>
        </p:txBody>
      </p: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3B1480-6491-4DA1-8CE7-76F8D40855F1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3121153" y="2915222"/>
            <a:ext cx="0" cy="670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808B"/>
            </a:solidFill>
            <a:tailEnd type="triangle" w="med" len="med"/>
          </a:ln>
        </p:spPr>
      </p:cxnSp>
      <p:sp>
        <p:nvSpPr>
          <p:cNvPr id="11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C3F04DEE-BF40-4ADF-A653-3386852CF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5452" y="3117247"/>
            <a:ext cx="62293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第1步</a:t>
            </a:r>
          </a:p>
        </p:txBody>
      </p: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54005C-2B9C-44AA-B32C-FAA4C8A9A2B7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6096001" y="2915222"/>
            <a:ext cx="0" cy="670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808B"/>
            </a:solidFill>
            <a:tailEnd type="triangle" w="med" len="med"/>
          </a:ln>
        </p:spPr>
      </p:cxnSp>
      <p:sp>
        <p:nvSpPr>
          <p:cNvPr id="13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26F6E78D-1176-410C-85C2-11F5CAB8C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17247"/>
            <a:ext cx="62293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第2步</a:t>
            </a:r>
          </a:p>
        </p:txBody>
      </p: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4CEFF8-9292-4329-AC6D-CF509AA051F9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9070849" y="2915222"/>
            <a:ext cx="0" cy="670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808B"/>
            </a:solidFill>
            <a:tailEnd type="triangle" w="med" len="med"/>
          </a:ln>
        </p:spPr>
      </p:cxnSp>
      <p:sp>
        <p:nvSpPr>
          <p:cNvPr id="1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46EC8876-BFEE-45CE-A1E6-CE9CC9874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5148" y="3117247"/>
            <a:ext cx="62293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第3步</a:t>
            </a:r>
          </a:p>
        </p:txBody>
      </p:sp>
      <p:sp>
        <p:nvSpPr>
          <p:cNvPr id="1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E5145FD6-9E45-4664-9C2D-783375BDA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91050"/>
            <a:ext cx="10744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另例：A=[1,2,3,4,5,6]删除[2,3]，removed=2。</a:t>
            </a:r>
          </a:p>
        </p:txBody>
      </p:sp>
      <p:sp>
        <p:nvSpPr>
          <p:cNvPr id="1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7AE53F67-1756-4D11-AE0B-7E75D509C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00625"/>
            <a:ext cx="10744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先读A[3]的4，最后才把6写入A[3]。</a:t>
            </a:r>
          </a:p>
        </p:txBody>
      </p:sp>
      <p:sp>
        <p:nvSpPr>
          <p:cNvPr id="18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8CCBCAD8-36C8-48D3-9F9E-265520AAE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76875"/>
            <a:ext cx="10744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若逆向搬移，先覆盖A[3]会破坏尚未读取的4。</a:t>
            </a:r>
          </a:p>
        </p:txBody>
      </p:sp>
      <p:sp>
        <p:nvSpPr>
          <p:cNvPr id="19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594F52BE-17F3-4627-BEDC-3B4757B54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90478806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61EA4D-3B39-47F2-80F2-1A8A82CD2C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15f526cccf419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9F370680-9B58-40DC-9952-FC9FBFE6C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解题过程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39AE9DCA-8E0F-421F-97DA-517C983BB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题一的思想段与复杂度</a:t>
            </a:r>
          </a:p>
        </p:txBody>
      </p:sp>
      <p:sp>
        <p:nvSpPr>
          <p:cNvPr id="4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AE9725CD-5029-486E-9579-077A153A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思想：利用有序性二分定位两个边界，再将保留后缀一次性前移。</a:t>
            </a:r>
          </a:p>
        </p:txBody>
      </p:sp>
      <p:sp>
        <p:nvSpPr>
          <p:cNvPr id="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3AA660E0-23A5-42CA-9AA8-B60863570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5069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两次边界查找合计O(log n)。</a:t>
            </a:r>
          </a:p>
        </p:txBody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E40FE026-8E0E-490D-BEF0-7274C1427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67038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命中区间时搬移n−after个元素；最坏时间O(n)。</a:t>
            </a:r>
          </a:p>
        </p:txBody>
      </p:sp>
      <p:sp>
        <p:nvSpPr>
          <p:cNvPr id="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D3D4A8B9-0AE5-4F2D-845E-593CA4E9B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9006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辅助空间O(1)；没有命中时不搬移。</a:t>
            </a:r>
          </a:p>
        </p:txBody>
      </p:sp>
      <p:sp>
        <p:nvSpPr>
          <p:cNvPr id="8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D28D540D-21D1-469F-930E-8EA1CE6BC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071200900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1F15B6-3E98-452C-B78C-069EFA9EFB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4ce1eeae7b45c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FD3E7A8F-05F2-4432-BB61-962CCEA1B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解题过程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35D331D9-9F63-4EF2-8F99-9AD9E6B43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边界检查：先判断位置再判断值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4B98D0-2B3D-404E-8866-D2A0A712C209}"/>
              </a:ext>
            </a:extLst>
          </p:cNvPr>
          <p:cNvGraphicFramePr/>
          <p:nvPr/>
        </p:nvGraphicFramePr>
        <p:xfrm>
          <a:off xmlns:a="http://schemas.openxmlformats.org/drawingml/2006/main" x="723900" y="1943100"/>
          <a:ext xmlns:a="http://schemas.openxmlformats.org/drawingml/2006/main" cx="10744200" cy="2428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827046"/>
                <a:gridCol w="3503631"/>
                <a:gridCol w="2413523"/>
              </a:tblGrid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输入情况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first与after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删除值域位于全部元素左侧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两者均为0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删除0个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删除值域位于全部元素右侧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两者均为n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删除0个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全部元素命中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first=0，after=n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新n=0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x=y且该值重复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包住全部重复值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一次删除整组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1CA8F57E-E0CF-4B71-8D30-6C98BF117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077211362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D38345-577A-4782-A48A-3D87CEC8120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8f5a2d94ba4fb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27984360-9411-43BD-8D55-A0B07D1A7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解题过程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610EB1E7-D9A4-4294-810C-BB9A6D3C0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题二：输出保持运算次序的中缀表达式</a:t>
            </a:r>
          </a:p>
        </p:txBody>
      </p:sp>
      <p:sp>
        <p:nvSpPr>
          <p:cNvPr id="4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351F795F-2B3E-4BE6-9642-555129761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叶结点存放标识符或非负整数字符串；二元结点存放+、−、*、/。</a:t>
            </a:r>
          </a:p>
        </p:txBody>
      </p:sp>
      <p:sp>
        <p:nvSpPr>
          <p:cNvPr id="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EB72BA62-6FD6-40E7-8153-F843A688E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5069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负值由单目负号结点表示；唯一孩子可在左指针或右指针。</a:t>
            </a:r>
          </a:p>
        </p:txBody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FFE86856-979C-49AA-99BE-B42772EF8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67038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按树的语义输出等价中缀表达式；允许保留可省括号。</a:t>
            </a:r>
          </a:p>
        </p:txBody>
      </p:sp>
      <p:sp>
        <p:nvSpPr>
          <p:cNvPr id="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035719EF-AA1E-45E3-ACE3-149E20273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9006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空树不输出；结点字符串至多9字符，以\0结尾。</a:t>
            </a:r>
          </a:p>
        </p:txBody>
      </p:sp>
      <p:sp>
        <p:nvSpPr>
          <p:cNvPr id="8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8A9245C6-69F7-4E58-8BF7-7EE8FED5A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90975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写出思想、完整代码及时间、辅助空间复杂度。</a:t>
            </a:r>
          </a:p>
        </p:txBody>
      </p:sp>
      <p:sp>
        <p:nvSpPr>
          <p:cNvPr id="9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F611DB41-0D77-4247-8E43-6BD5F5D86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36294"/>
            <a:ext cx="10744200" cy="4405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据机构模拟卷一算法第1题题解整理；不要求最少括号。</a:t>
            </a:r>
          </a:p>
        </p:txBody>
      </p:sp>
      <p:sp>
        <p:nvSpPr>
          <p:cNvPr id="10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6F0E6B4A-C49E-4DDB-971B-E289F5FE4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85210014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BEEADA-1E5F-42A5-87D1-4B7AB9AD77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8ea21dfa5c4b5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5F6D804A-11DE-4BCB-9664-BCAC43998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解题过程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80CAF65A-D9BB-429B-9A38-00B851BDA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先辨认单目负号与二元减法</a:t>
            </a:r>
          </a:p>
        </p:txBody>
      </p:sp>
      <p:sp>
        <p:nvSpPr>
          <p:cNvPr id="4" name="Diagram node plus">
            <a:extLst xmlns:a="http://schemas.openxmlformats.org/drawingml/2006/main">
              <a:ext uri="{FF2B5EF4-FFF2-40B4-BE49-F238E27FC236}">
                <a16:creationId xmlns:a16="http://schemas.microsoft.com/office/drawing/2014/main" id="{E3D12CF4-CFFB-48A5-ADF9-BEBAB446E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170176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2329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+</a:t>
            </a:r>
          </a:p>
        </p:txBody>
      </p:sp>
      <p:sp>
        <p:nvSpPr>
          <p:cNvPr id="5" name="Diagram node mul">
            <a:extLst xmlns:a="http://schemas.openxmlformats.org/drawingml/2006/main">
              <a:ext uri="{FF2B5EF4-FFF2-40B4-BE49-F238E27FC236}">
                <a16:creationId xmlns:a16="http://schemas.microsoft.com/office/drawing/2014/main" id="{1C44598D-6955-474E-B680-81844131D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72264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2329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*</a:t>
            </a:r>
          </a:p>
        </p:txBody>
      </p:sp>
      <p:sp>
        <p:nvSpPr>
          <p:cNvPr id="6" name="Diagram node neg">
            <a:extLst xmlns:a="http://schemas.openxmlformats.org/drawingml/2006/main">
              <a:ext uri="{FF2B5EF4-FFF2-40B4-BE49-F238E27FC236}">
                <a16:creationId xmlns:a16="http://schemas.microsoft.com/office/drawing/2014/main" id="{7D27532D-F077-4ADA-B49B-A873AFC5D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72264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9C"/>
          </a:solidFill>
          <a:ln xmlns:a="http://schemas.openxmlformats.org/drawingml/2006/main" w="16193">
            <a:solidFill>
              <a:srgbClr val="1F4E9C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−</a:t>
            </a:r>
          </a:p>
        </p:txBody>
      </p:sp>
      <p:sp>
        <p:nvSpPr>
          <p:cNvPr id="7" name="Diagram node a">
            <a:extLst xmlns:a="http://schemas.openxmlformats.org/drawingml/2006/main">
              <a:ext uri="{FF2B5EF4-FFF2-40B4-BE49-F238E27FC236}">
                <a16:creationId xmlns:a16="http://schemas.microsoft.com/office/drawing/2014/main" id="{5AABC2FD-B057-452B-87C1-A0234AF4A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5718" y="3574352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2329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8" name="Diagram node b">
            <a:extLst xmlns:a="http://schemas.openxmlformats.org/drawingml/2006/main">
              <a:ext uri="{FF2B5EF4-FFF2-40B4-BE49-F238E27FC236}">
                <a16:creationId xmlns:a16="http://schemas.microsoft.com/office/drawing/2014/main" id="{3B1DEE5D-0F40-4024-A9DF-7184C9ACF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2782" y="3574352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2329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9" name="Diagram node sub">
            <a:extLst xmlns:a="http://schemas.openxmlformats.org/drawingml/2006/main">
              <a:ext uri="{FF2B5EF4-FFF2-40B4-BE49-F238E27FC236}">
                <a16:creationId xmlns:a16="http://schemas.microsoft.com/office/drawing/2014/main" id="{7CC77D25-800A-4559-A406-E595FDD11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74352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9C"/>
          </a:solidFill>
          <a:ln xmlns:a="http://schemas.openxmlformats.org/drawingml/2006/main" w="16193">
            <a:solidFill>
              <a:srgbClr val="1F4E9C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−</a:t>
            </a:r>
          </a:p>
        </p:txBody>
      </p:sp>
      <p:sp>
        <p:nvSpPr>
          <p:cNvPr id="10" name="Diagram node cc">
            <a:extLst xmlns:a="http://schemas.openxmlformats.org/drawingml/2006/main">
              <a:ext uri="{FF2B5EF4-FFF2-40B4-BE49-F238E27FC236}">
                <a16:creationId xmlns:a16="http://schemas.microsoft.com/office/drawing/2014/main" id="{52A9A487-A270-441C-82BC-9EFC632F7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3918" y="4302443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2329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11" name="Diagram node dd">
            <a:extLst xmlns:a="http://schemas.openxmlformats.org/drawingml/2006/main">
              <a:ext uri="{FF2B5EF4-FFF2-40B4-BE49-F238E27FC236}">
                <a16:creationId xmlns:a16="http://schemas.microsoft.com/office/drawing/2014/main" id="{1726B420-C790-4266-9650-2D9687FF9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0982" y="4302443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2329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d</a:t>
            </a:r>
          </a:p>
        </p:txBody>
      </p: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B2B3F1-84FB-44C4-9962-2D1DCD57E73B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5" idx="6"/>
          </p:cNvCxnSpPr>
          <p:nvPr/>
        </p:nvCxnSpPr>
        <p:spPr>
          <a:xfrm xmlns:a="http://schemas.openxmlformats.org/drawingml/2006/main" flipH="1">
            <a:off x="4019550" y="2417826"/>
            <a:ext cx="1828800" cy="70208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808B"/>
            </a:solidFill>
            <a:tailEnd type="triangle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67AE61-DBA5-4CB1-BEA5-DAD462FB9539}"/>
              </a:ext>
            </a:extLst>
          </p:cNvPr>
          <p:cNvCxnSpPr>
            <a:stCxn xmlns:a="http://schemas.openxmlformats.org/drawingml/2006/main" id="4" idx="6"/>
            <a:endCxn xmlns:a="http://schemas.openxmlformats.org/drawingml/2006/main" id="6" idx="2"/>
          </p:cNvCxnSpPr>
          <p:nvPr/>
        </p:nvCxnSpPr>
        <p:spPr>
          <a:xfrm xmlns:a="http://schemas.openxmlformats.org/drawingml/2006/main">
            <a:off x="6343650" y="2417826"/>
            <a:ext cx="1828800" cy="70208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808B"/>
            </a:solidFill>
            <a:tailEnd type="triangle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6CAA21-6C85-4143-A88F-1740DD50D6F2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7" idx="7"/>
          </p:cNvCxnSpPr>
          <p:nvPr/>
        </p:nvCxnSpPr>
        <p:spPr>
          <a:xfrm xmlns:a="http://schemas.openxmlformats.org/drawingml/2006/main" flipH="1">
            <a:off x="2738483" y="3295029"/>
            <a:ext cx="858302" cy="35185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808B"/>
            </a:solidFill>
            <a:tailEnd type="triangle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6F1690-A685-4584-BD8A-6A1608882B39}"/>
              </a:ext>
            </a:extLst>
          </p:cNvPr>
          <p:cNvCxnSpPr>
            <a:stCxn xmlns:a="http://schemas.openxmlformats.org/drawingml/2006/main" id="5" idx="5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947015" y="3295029"/>
            <a:ext cx="858302" cy="35185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808B"/>
            </a:solidFill>
            <a:tailEnd type="triangle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B45B09-6347-423E-A7F6-A4F45AE3FA25}"/>
              </a:ext>
            </a:extLst>
          </p:cNvPr>
          <p:cNvCxnSpPr>
            <a:stCxn xmlns:a="http://schemas.openxmlformats.org/drawingml/2006/main" id="6" idx="4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8420100" y="3367564"/>
            <a:ext cx="0" cy="20678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808B"/>
            </a:solidFill>
            <a:tailEnd type="triangle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6139FB-A37F-48A0-8034-E38F84BE7EBC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7"/>
          </p:cNvCxnSpPr>
          <p:nvPr/>
        </p:nvCxnSpPr>
        <p:spPr>
          <a:xfrm xmlns:a="http://schemas.openxmlformats.org/drawingml/2006/main" flipH="1">
            <a:off x="7386683" y="3997117"/>
            <a:ext cx="858302" cy="377861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808B"/>
            </a:solidFill>
            <a:tailEnd type="triangle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8A8B55-B0FF-4FF3-8772-FFF968607085}"/>
              </a:ext>
            </a:extLst>
          </p:cNvPr>
          <p:cNvCxnSpPr>
            <a:stCxn xmlns:a="http://schemas.openxmlformats.org/drawingml/2006/main" id="9" idx="5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8595215" y="3997117"/>
            <a:ext cx="858302" cy="377861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808B"/>
            </a:solidFill>
            <a:tailEnd type="triangle" w="med" len="med"/>
          </a:ln>
        </p:spPr>
      </p:cxnSp>
      <p:sp>
        <p:nvSpPr>
          <p:cNvPr id="19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05E01F40-B6B8-4491-830E-08498AA86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4757" y="2986564"/>
            <a:ext cx="1047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单目负号</a:t>
            </a:r>
          </a:p>
        </p:txBody>
      </p:sp>
      <p:sp>
        <p:nvSpPr>
          <p:cNvPr id="20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576AFFC7-016B-4ACD-9C05-E0A9F67C7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4757" y="3688652"/>
            <a:ext cx="1047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二元减法</a:t>
            </a:r>
          </a:p>
        </p:txBody>
      </p:sp>
      <p:sp>
        <p:nvSpPr>
          <p:cNvPr id="21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5F485575-DF21-404E-8B76-83750EBBC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3621" y="3350609"/>
            <a:ext cx="1047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唯一孩子</a:t>
            </a:r>
          </a:p>
        </p:txBody>
      </p:sp>
      <p:sp>
        <p:nvSpPr>
          <p:cNvPr id="2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5EE3F84F-F617-4FC5-92FD-5EC082C84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67300"/>
            <a:ext cx="10744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先计算a*b与c−d，对后者取负，再做加法。</a:t>
            </a:r>
          </a:p>
        </p:txBody>
      </p:sp>
      <p:sp>
        <p:nvSpPr>
          <p:cNvPr id="23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7B85675C-4215-448F-B9B6-A042EE20A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76875"/>
            <a:ext cx="10744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孩子数量区分单目负号和二元减法。</a:t>
            </a:r>
          </a:p>
        </p:txBody>
      </p:sp>
      <p:sp>
        <p:nvSpPr>
          <p:cNvPr id="24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E9BD9765-7CCD-4BA5-B154-A43DF3FEF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876285501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8887C2-3CE7-4F32-B856-9BC09C09375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f2947a44f0429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9544755E-EA68-42C6-9EDE-850BFA001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解题过程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38EF339F-AA12-49CB-AF46-6A28C6E2B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直接中序输出会在哪里失去语义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A8EA75-D03F-4D57-9042-9BA75D0471BD}"/>
              </a:ext>
            </a:extLst>
          </p:cNvPr>
          <p:cNvGraphicFramePr/>
          <p:nvPr/>
        </p:nvGraphicFramePr>
        <p:xfrm>
          <a:off xmlns:a="http://schemas.openxmlformats.org/drawingml/2006/main" x="723900" y="1943100"/>
          <a:ext xmlns:a="http://schemas.openxmlformats.org/drawingml/2006/main" cx="10744200" cy="2428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172263"/>
                <a:gridCol w="5571937"/>
              </a:tblGrid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树中目标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只列中序字符的风险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(a+b)作为乘法左子树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a+b*c改变加法与乘法先后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单目负号孩子在右侧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可能偶然得到−x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单目负号孩子在左侧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直接中序会得到x−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二元减法右子树仍是减法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a−(b−c)不能省成a−b−c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B91B3F04-D3CC-42EC-B82E-DBC730410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760610327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16DD50-822C-450A-8371-9B1BA40D5A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2842360d2d451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F928BF43-176F-424E-8974-2E0B2BEE4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解题过程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D5C16EEE-67F6-42D7-91EE-E7B9F077D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右子树的括号会改变减法结果</a:t>
            </a:r>
          </a:p>
        </p:txBody>
      </p:sp>
      <p:sp>
        <p:nvSpPr>
          <p:cNvPr id="4" name="Diagram node root">
            <a:extLst xmlns:a="http://schemas.openxmlformats.org/drawingml/2006/main">
              <a:ext uri="{FF2B5EF4-FFF2-40B4-BE49-F238E27FC236}">
                <a16:creationId xmlns:a16="http://schemas.microsoft.com/office/drawing/2014/main" id="{E8F0173B-FAF1-42B3-9694-1D30CE2D8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274189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9C"/>
          </a:solidFill>
          <a:ln xmlns:a="http://schemas.openxmlformats.org/drawingml/2006/main" w="16193">
            <a:solidFill>
              <a:srgbClr val="1F4E9C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−</a:t>
            </a:r>
          </a:p>
        </p:txBody>
      </p:sp>
      <p:sp>
        <p:nvSpPr>
          <p:cNvPr id="5" name="Diagram node a">
            <a:extLst xmlns:a="http://schemas.openxmlformats.org/drawingml/2006/main">
              <a:ext uri="{FF2B5EF4-FFF2-40B4-BE49-F238E27FC236}">
                <a16:creationId xmlns:a16="http://schemas.microsoft.com/office/drawing/2014/main" id="{459CDA2F-942C-491D-92C6-D83C324C8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9430" y="3236309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2329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6" name="Diagram node sub">
            <a:extLst xmlns:a="http://schemas.openxmlformats.org/drawingml/2006/main">
              <a:ext uri="{FF2B5EF4-FFF2-40B4-BE49-F238E27FC236}">
                <a16:creationId xmlns:a16="http://schemas.microsoft.com/office/drawing/2014/main" id="{EA1B2B98-098A-4465-86DC-B400B456B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5414" y="3236309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E9C"/>
          </a:solidFill>
          <a:ln xmlns:a="http://schemas.openxmlformats.org/drawingml/2006/main" w="16193">
            <a:solidFill>
              <a:srgbClr val="1F4E9C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−</a:t>
            </a:r>
          </a:p>
        </p:txBody>
      </p:sp>
      <p:sp>
        <p:nvSpPr>
          <p:cNvPr id="7" name="Diagram node b">
            <a:extLst xmlns:a="http://schemas.openxmlformats.org/drawingml/2006/main">
              <a:ext uri="{FF2B5EF4-FFF2-40B4-BE49-F238E27FC236}">
                <a16:creationId xmlns:a16="http://schemas.microsoft.com/office/drawing/2014/main" id="{D6E56D95-3B84-4637-9F43-89F784503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3918" y="4172426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2329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8" name="Diagram node cc">
            <a:extLst xmlns:a="http://schemas.openxmlformats.org/drawingml/2006/main">
              <a:ext uri="{FF2B5EF4-FFF2-40B4-BE49-F238E27FC236}">
                <a16:creationId xmlns:a16="http://schemas.microsoft.com/office/drawing/2014/main" id="{363C8B9E-87B7-47C2-81F9-2244CF0E7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6910" y="4172426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2329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CCB4CE-A1CC-44F0-8692-5CAA79C06AAC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5" idx="6"/>
          </p:cNvCxnSpPr>
          <p:nvPr/>
        </p:nvCxnSpPr>
        <p:spPr>
          <a:xfrm xmlns:a="http://schemas.openxmlformats.org/drawingml/2006/main" flipH="1">
            <a:off x="3554730" y="2521839"/>
            <a:ext cx="2293620" cy="96212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808B"/>
            </a:solidFill>
            <a:tailEnd type="triangle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63B3C0-8919-43FB-83B6-E8488DFA2179}"/>
              </a:ext>
            </a:extLst>
          </p:cNvPr>
          <p:cNvCxnSpPr>
            <a:stCxn xmlns:a="http://schemas.openxmlformats.org/drawingml/2006/main" id="4" idx="5"/>
            <a:endCxn xmlns:a="http://schemas.openxmlformats.org/drawingml/2006/main" id="6" idx="2"/>
          </p:cNvCxnSpPr>
          <p:nvPr/>
        </p:nvCxnSpPr>
        <p:spPr>
          <a:xfrm xmlns:a="http://schemas.openxmlformats.org/drawingml/2006/main">
            <a:off x="6271115" y="2696954"/>
            <a:ext cx="1994299" cy="78700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808B"/>
            </a:solidFill>
            <a:tailEnd type="triangle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398036-C4A2-4529-B170-38E03AB87435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7"/>
          </p:cNvCxnSpPr>
          <p:nvPr/>
        </p:nvCxnSpPr>
        <p:spPr>
          <a:xfrm xmlns:a="http://schemas.openxmlformats.org/drawingml/2006/main" flipH="1">
            <a:off x="7386683" y="3659074"/>
            <a:ext cx="951266" cy="585887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808B"/>
            </a:solidFill>
            <a:tailEnd type="triangle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FC9959-E4C3-4128-8A14-41703B150926}"/>
              </a:ext>
            </a:extLst>
          </p:cNvPr>
          <p:cNvCxnSpPr>
            <a:stCxn xmlns:a="http://schemas.openxmlformats.org/drawingml/2006/main" id="6" idx="5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688179" y="3659074"/>
            <a:ext cx="951266" cy="585887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808B"/>
            </a:solidFill>
            <a:tailEnd type="triangle" w="med" len="med"/>
          </a:ln>
        </p:spPr>
      </p:cxnSp>
      <p:sp>
        <p:nvSpPr>
          <p:cNvPr id="13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45D8E533-50F8-4181-8460-4DBD48101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67300"/>
            <a:ext cx="10744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a=10、b=6、c=2时，a−(b−c)=6，而a−b−c=2。</a:t>
            </a:r>
          </a:p>
        </p:txBody>
      </p:sp>
      <p:sp>
        <p:nvSpPr>
          <p:cNvPr id="14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5E530FEA-951D-4BAF-8537-D5239EB70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76875"/>
            <a:ext cx="10744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相同优先级也可能需要括号，普通中序次序不足以保留语义。</a:t>
            </a:r>
          </a:p>
        </p:txBody>
      </p:sp>
      <p:sp>
        <p:nvSpPr>
          <p:cNvPr id="1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4FFB85F5-40C5-4F4C-B4F6-FD97C23B5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138208751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C68009-909B-4D52-8BA0-3ED3143BE8C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ef8626f2814e0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1FB44A87-5860-4D06-A33C-36ACABD61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解题过程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F16BCA09-A3D8-45A1-BD35-DBB7C8FDB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递归函数处理三类结点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8DC134-54A5-4056-B75B-A4DE5325A906}"/>
              </a:ext>
            </a:extLst>
          </p:cNvPr>
          <p:cNvGraphicFramePr/>
          <p:nvPr/>
        </p:nvGraphicFramePr>
        <p:xfrm>
          <a:off xmlns:a="http://schemas.openxmlformats.org/drawingml/2006/main" x="723900" y="1943100"/>
          <a:ext xmlns:a="http://schemas.openxmlformats.org/drawingml/2006/main" cx="10744200" cy="2428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02835"/>
                <a:gridCol w="7941365"/>
              </a:tblGrid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类型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输出规则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叶结点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直接输出data，不加括号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单目结点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输出负号，再递归唯一孩子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二元结点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递归左子树、输出运算符、递归右子树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非根运算子树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在上述输出前后分别加左、右括号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87C91B22-55A6-4B84-B881-29B4B8D8B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344155141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FDB6F1-8E9A-4489-A61C-253D8B1C987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16ccfe5e5d4b8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6D39F884-06B0-484E-999A-27B288B33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解题过程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FEA295FD-96A3-4D0D-BAE5-C94ACEF5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结构定义与根标志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6A67B6-169C-44FB-B6C3-FC41C4FAB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07442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E4B5ED-1BEB-4FFA-A36D-FE6D4C9F0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381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9C"/>
          </a:solidFill>
          <a:ln xmlns:a="http://schemas.openxmlformats.org/drawingml/2006/main" w="0">
            <a:noFill/>
          </a:ln>
        </p:spPr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1CA2CBF9-449C-47D6-970D-228DC1977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76450"/>
            <a:ext cx="10287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defPPr>
            <a:lvl1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1pPr>
            <a:lvl2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2pPr>
            <a:lvl3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3pPr>
            <a:lvl4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4pPr>
            <a:lvl5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5pPr>
            <a:lvl6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6pPr>
            <a:lvl7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7pPr>
            <a:lvl8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8pPr>
            <a:lvl9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typedef struct node {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char data[10];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struct node *left, *right;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} BTree;</a:t>
            </a:r>
          </a:p>
        </p:txBody>
      </p:sp>
      <p:sp>
        <p:nvSpPr>
          <p:cNvPr id="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9C93045A-79D8-4E21-8F92-247E7205C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0000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首次调用printExpr(root,1)，整式不加最外层括号。</a:t>
            </a:r>
          </a:p>
        </p:txBody>
      </p:sp>
      <p:sp>
        <p:nvSpPr>
          <p:cNvPr id="8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D15B5114-0EE2-4352-9810-260209C16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21969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所有递归子调用传0；非根运算子树加一对外括号。</a:t>
            </a:r>
          </a:p>
        </p:txBody>
      </p:sp>
      <p:sp>
        <p:nvSpPr>
          <p:cNvPr id="9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5DD99840-4B02-4116-AC25-1BB7A668B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2048979490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4B844D-A526-4C31-AAE6-0B0C72BAE8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54a8a433f347d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06E88CEE-9914-442E-B84C-775FC7671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解题过程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1A6EE0E0-0E15-4714-A987-6D0714400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跟踪右侧单目子树的输出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264358-11C4-4749-AD6B-C1E47B905FFF}"/>
              </a:ext>
            </a:extLst>
          </p:cNvPr>
          <p:cNvGraphicFramePr/>
          <p:nvPr/>
        </p:nvGraphicFramePr>
        <p:xfrm>
          <a:off xmlns:a="http://schemas.openxmlformats.org/drawingml/2006/main" x="723900" y="1943100"/>
          <a:ext xmlns:a="http://schemas.openxmlformats.org/drawingml/2006/main" cx="10744200" cy="34004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089358"/>
                <a:gridCol w="2827421"/>
                <a:gridCol w="2827421"/>
              </a:tblGrid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处理位置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本步输出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当前已输出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进入非根单目结点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单目运算符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进入其二元减法孩子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(−(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输出c、−、d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c−d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(−(c−d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退出二元孩子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)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(−(c−d)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退出单目结点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)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(−(c−d))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4D583832-896E-4745-B36F-CD83631DD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714187144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1F256A-4711-4F80-94B8-FA807165284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7626e89368478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B4DF6BE0-B37F-4169-AE72-07FCAC3C7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解题过程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F170490B-7ACE-4502-BED9-26846FE45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每层递归配对自己输出的括号</a:t>
            </a:r>
          </a:p>
        </p:txBody>
      </p:sp>
      <p:sp>
        <p:nvSpPr>
          <p:cNvPr id="4" name="Diagram node neg">
            <a:extLst xmlns:a="http://schemas.openxmlformats.org/drawingml/2006/main">
              <a:ext uri="{FF2B5EF4-FFF2-40B4-BE49-F238E27FC236}">
                <a16:creationId xmlns:a16="http://schemas.microsoft.com/office/drawing/2014/main" id="{1EAC0894-1189-4899-B646-99550A600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227" y="2933795"/>
            <a:ext cx="1085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9C"/>
          </a:solidFill>
          <a:ln xmlns:a="http://schemas.openxmlformats.org/drawingml/2006/main" w="16193">
            <a:solidFill>
              <a:srgbClr val="1F4E9C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负号子树</a:t>
            </a:r>
          </a:p>
        </p:txBody>
      </p:sp>
      <p:sp>
        <p:nvSpPr>
          <p:cNvPr id="5" name="Diagram node sub">
            <a:extLst xmlns:a="http://schemas.openxmlformats.org/drawingml/2006/main">
              <a:ext uri="{FF2B5EF4-FFF2-40B4-BE49-F238E27FC236}">
                <a16:creationId xmlns:a16="http://schemas.microsoft.com/office/drawing/2014/main" id="{07D5E21E-BB2B-4B29-A8EA-11425262A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2933795"/>
            <a:ext cx="1085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9C"/>
          </a:solidFill>
          <a:ln xmlns:a="http://schemas.openxmlformats.org/drawingml/2006/main" w="16193">
            <a:solidFill>
              <a:srgbClr val="1F4E9C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减法子树</a:t>
            </a:r>
          </a:p>
        </p:txBody>
      </p:sp>
      <p:sp>
        <p:nvSpPr>
          <p:cNvPr id="6" name="Diagram node leaf">
            <a:extLst xmlns:a="http://schemas.openxmlformats.org/drawingml/2006/main">
              <a:ext uri="{FF2B5EF4-FFF2-40B4-BE49-F238E27FC236}">
                <a16:creationId xmlns:a16="http://schemas.microsoft.com/office/drawing/2014/main" id="{8ACD14AF-C66F-4E53-8199-4E3CF82B8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8030" y="2933795"/>
            <a:ext cx="905637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2329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叶c、d</a:t>
            </a:r>
          </a:p>
        </p:txBody>
      </p: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FD1E4F-2B40-488B-A499-CF4850824929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664077" y="3171920"/>
            <a:ext cx="1888998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808B"/>
            </a:solidFill>
            <a:tailEnd type="triangle" w="med" len="med"/>
          </a:ln>
        </p:spPr>
      </p:cxnSp>
      <p:sp>
        <p:nvSpPr>
          <p:cNvPr id="8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7B32705E-23D9-4E98-B1F3-8B38BBDD0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1401" y="2867120"/>
            <a:ext cx="514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递归</a:t>
            </a:r>
          </a:p>
        </p:txBody>
      </p: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7E5230-2EFF-459E-AC33-46DEDF0EDCF8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6638925" y="3171920"/>
            <a:ext cx="197910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808B"/>
            </a:solidFill>
            <a:tailEnd type="triangle" w="med" len="med"/>
          </a:ln>
        </p:spPr>
      </p:cxnSp>
      <p:sp>
        <p:nvSpPr>
          <p:cNvPr id="10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DE1DB87F-11BA-4973-A729-00523B342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249" y="2867120"/>
            <a:ext cx="514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递归</a:t>
            </a:r>
          </a:p>
        </p:txBody>
      </p:sp>
      <p:sp>
        <p:nvSpPr>
          <p:cNvPr id="11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2E3A1D52-4F45-421D-9D67-6A5AB4266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0880" y="4104704"/>
            <a:ext cx="1300544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进入(  返回)</a:t>
            </a:r>
          </a:p>
        </p:txBody>
      </p:sp>
      <p:sp>
        <p:nvSpPr>
          <p:cNvPr id="1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1CA30A80-CD04-42D2-AEC6-0C4B463B5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728" y="4104704"/>
            <a:ext cx="1300544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进入(  返回)</a:t>
            </a:r>
          </a:p>
        </p:txBody>
      </p:sp>
      <p:sp>
        <p:nvSpPr>
          <p:cNvPr id="13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0D34FB56-329F-4230-AC40-F69A3C4BF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4560" y="4104704"/>
            <a:ext cx="15525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直接输出操作数</a:t>
            </a:r>
          </a:p>
        </p:txBody>
      </p:sp>
      <p:sp>
        <p:nvSpPr>
          <p:cNvPr id="14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7CF4B177-9EF5-4F39-B646-7752FE05A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67300"/>
            <a:ext cx="10744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右侧子表达式最终输出(−(c−d))。两层非根运算调用各补齐一对括号。</a:t>
            </a:r>
          </a:p>
        </p:txBody>
      </p:sp>
      <p:sp>
        <p:nvSpPr>
          <p:cNvPr id="1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9697F649-13C0-42AC-9ADA-1DE7025C8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76875"/>
            <a:ext cx="10744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子调用只负责自己的完整子表达式，父调用负责外层的运算与括号。</a:t>
            </a:r>
          </a:p>
        </p:txBody>
      </p:sp>
      <p:sp>
        <p:nvSpPr>
          <p:cNvPr id="1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07EE73E6-24DA-42E8-B9AA-C2FE3CAF4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779387252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E2FC69-465D-4E96-8A95-B8A596CFFF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d24471fdbe4fb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8DFD94AE-E5C5-4A88-8DAC-3F0C432D3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答案代码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5F31E1DC-7E69-4F38-8F1B-1933BA638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表达式输出：空树与叶结点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E191EF-7130-4864-B331-62921B15F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0744200" cy="2790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882A0A-5992-4BA5-9E68-66D60A849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38100" cy="2790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9C"/>
          </a:solidFill>
          <a:ln xmlns:a="http://schemas.openxmlformats.org/drawingml/2006/main" w="0">
            <a:noFill/>
          </a:ln>
        </p:spPr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3EC2A870-96D8-4166-B4B1-2818343A1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76450"/>
            <a:ext cx="10287000" cy="2581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defPPr>
            <a:lvl1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1pPr>
            <a:lvl2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2pPr>
            <a:lvl3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3pPr>
            <a:lvl4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4pPr>
            <a:lvl5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5pPr>
            <a:lvl6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6pPr>
            <a:lvl7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7pPr>
            <a:lvl8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8pPr>
            <a:lvl9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void printExpr(const BTree *t, int isRoot) {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if (t == NULL) return;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if (t-&gt;left == NULL &amp;&amp; t-&gt;right == NULL) {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    printf("%s", t-&gt;data);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    return;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if (!isRoot) printf("(");</a:t>
            </a:r>
          </a:p>
        </p:txBody>
      </p:sp>
      <p:sp>
        <p:nvSpPr>
          <p:cNvPr id="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438A3CD0-A145-4D84-B864-BA397A413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92272791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BBC142-B633-434F-80B4-9A2ADECEF4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c0f7b3d17241d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3D2C4440-C316-4CB7-B129-A6ADA528B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答案代码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F7DED3FC-4425-4C82-9B87-BF0A045EB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表达式输出：按孩子数量选择顺序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4828E0-AF76-4D5F-B404-71464800C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07442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96A911-DF8A-40AA-863C-7DB5C3438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381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9C"/>
          </a:solidFill>
          <a:ln xmlns:a="http://schemas.openxmlformats.org/drawingml/2006/main" w="0">
            <a:noFill/>
          </a:ln>
        </p:spPr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D70493F1-8623-4A77-8196-B0AABBD19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76450"/>
            <a:ext cx="10287000" cy="29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defPPr>
            <a:lvl1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1pPr>
            <a:lvl2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2pPr>
            <a:lvl3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3pPr>
            <a:lvl4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4pPr>
            <a:lvl5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5pPr>
            <a:lvl6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6pPr>
            <a:lvl7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7pPr>
            <a:lvl8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8pPr>
            <a:lvl9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if (t-&gt;left == NULL || t-&gt;right == NULL) {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    printf("%s", t-&gt;data);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    printExpr(t-&gt;left ? t-&gt;left : t-&gt;right, 0);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} else {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    printExpr(t-&gt;left, 0);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    printf("%s", t-&gt;data);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    printExpr(t-&gt;right, 0);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}</a:t>
            </a:r>
          </a:p>
        </p:txBody>
      </p:sp>
      <p:sp>
        <p:nvSpPr>
          <p:cNvPr id="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ADCB3115-BE27-49AA-B205-7653B2373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731016597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6FB3FB-DA12-43CC-BB1A-AA44B3F1E83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64e4031e49428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02DA9432-E456-4519-891F-5129C3026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答案代码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CAEEDA71-498B-4985-9EDE-3D5A8370E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表达式输出：配对括号与调用入口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F7AA3C-AE87-4191-A75F-290C3AEA3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0744200" cy="2085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EC088E-3BDA-4498-9938-F4C5B9F4D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38100" cy="2085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9C"/>
          </a:solidFill>
          <a:ln xmlns:a="http://schemas.openxmlformats.org/drawingml/2006/main" w="0">
            <a:noFill/>
          </a:ln>
        </p:spPr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35C1B56F-7D92-4598-8505-BFA0CD63F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76450"/>
            <a:ext cx="10287000" cy="1876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defPPr>
            <a:lvl1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1pPr>
            <a:lvl2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2pPr>
            <a:lvl3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3pPr>
            <a:lvl4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4pPr>
            <a:lvl5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5pPr>
            <a:lvl6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6pPr>
            <a:lvl7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7pPr>
            <a:lvl8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8pPr>
            <a:lvl9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if (!isRoot) printf(")");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}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void Infix(const BTree *root) {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printExpr(root, 1);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F4DF523D-6506-424E-8B1A-D0451F990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62425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示例完整输出：(a*b)+(−(c−d))</a:t>
            </a:r>
          </a:p>
        </p:txBody>
      </p:sp>
      <p:sp>
        <p:nvSpPr>
          <p:cNvPr id="8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70A70423-328B-4C27-B9B2-FA351018A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508797425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B14C1A-340A-49F9-8C27-3D4C44D28AF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27188cdcd44b3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A32541AC-B4C7-4D1A-92A8-FABE05776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解题过程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92C900EB-E803-4AEA-8EA9-9FC32EC94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题二的完整答案与复杂度</a:t>
            </a:r>
          </a:p>
        </p:txBody>
      </p:sp>
      <p:sp>
        <p:nvSpPr>
          <p:cNvPr id="4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4F52D1CF-F8C1-4CE7-9FC6-09F7646E2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思想：按叶、单目、二元分类递归输出，非根运算子树加括号。</a:t>
            </a:r>
          </a:p>
        </p:txBody>
      </p:sp>
      <p:sp>
        <p:nvSpPr>
          <p:cNvPr id="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D593A9DA-A676-49CA-832F-E9B466260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5069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每个结点访问一次；字符串长度有常数上界，时间O(n)。</a:t>
            </a:r>
          </a:p>
        </p:txBody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DB689B0F-39F5-4B4A-A766-5FBAA1E37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67038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递归栈随树高增长，辅助空间O(h)，最坏O(n)。</a:t>
            </a:r>
          </a:p>
        </p:txBody>
      </p:sp>
      <p:sp>
        <p:nvSpPr>
          <p:cNvPr id="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0CD98CC0-2EC4-41C6-8D57-55B892B49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9006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若字符串长度无固定上界，应另计实际输出字符总量L。</a:t>
            </a:r>
          </a:p>
        </p:txBody>
      </p:sp>
      <p:sp>
        <p:nvSpPr>
          <p:cNvPr id="8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A092AD39-41C9-4352-B1B8-3306F571F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050878361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AA020A-CF16-4D58-B113-77CA832DF2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60d208c0bd486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07BFFE0B-B86A-4E0D-8967-D1E08F063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解题过程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EE1F6850-246C-4EE7-B3DD-96623EA28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表达式题的思想段交代输出规则</a:t>
            </a:r>
          </a:p>
        </p:txBody>
      </p:sp>
      <p:sp>
        <p:nvSpPr>
          <p:cNvPr id="4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EF48B97D-972F-4880-8CE7-C2128582F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递归处理当前子树，空树不输出，叶结点输出完整操作数字符串。</a:t>
            </a:r>
          </a:p>
        </p:txBody>
      </p:sp>
      <p:sp>
        <p:nvSpPr>
          <p:cNvPr id="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00D10528-B260-4EBF-AEC6-1E09A6ABB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5069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单目结点先输出运算符，再递归唯一孩子，兼容孩子在左或右。</a:t>
            </a:r>
          </a:p>
        </p:txBody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C27F0633-E7BB-46B3-BD2F-7D7645367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67038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二元结点依次输出左子表达式、运算符和右子表达式。</a:t>
            </a:r>
          </a:p>
        </p:txBody>
      </p:sp>
      <p:sp>
        <p:nvSpPr>
          <p:cNvPr id="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15E6199B-433C-428C-B79B-555470DFE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9006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除整式根外，每个运算子树在进入和退出时配一对括号。</a:t>
            </a:r>
          </a:p>
        </p:txBody>
      </p:sp>
      <p:sp>
        <p:nvSpPr>
          <p:cNvPr id="8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235AB10E-EB48-45A3-8F02-6F5997D7E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730575360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B0553C-668E-49CD-A833-925D6A033CC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0173b044f34ae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B8E08E50-26D3-446C-ADD4-91695135E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解题过程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04E6B18D-00BA-4DFC-852E-B1AC07811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课堂检查：把题目条件落实到答案</a:t>
            </a:r>
          </a:p>
        </p:txBody>
      </p:sp>
      <p:sp>
        <p:nvSpPr>
          <p:cNvPr id="4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7ADBAB7E-EFC7-4E9D-AC60-13226F591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A=[1,2,2,5]，删除[2,2]：first、after、新n分别是多少？</a:t>
            </a:r>
          </a:p>
        </p:txBody>
      </p:sp>
      <p:sp>
        <p:nvSpPr>
          <p:cNvPr id="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A34C88D6-9AB8-44D7-A69C-310C71F68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5069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A=[1,3,5]，删除[6,8]：会不会读取A[n]或搬移元素？</a:t>
            </a:r>
          </a:p>
        </p:txBody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637032DA-2BDD-4635-AA5A-59BE6EE3D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67038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表达式树根为单目负号，唯一左孩子为叶x：输出什么？</a:t>
            </a:r>
          </a:p>
        </p:txBody>
      </p:sp>
      <p:sp>
        <p:nvSpPr>
          <p:cNvPr id="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78BCF741-BEAC-4369-A6F2-D5050FF25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9006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若取消操作数字符串长度上界，复杂度应如何写？</a:t>
            </a:r>
          </a:p>
        </p:txBody>
      </p:sp>
      <p:sp>
        <p:nvSpPr>
          <p:cNvPr id="8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82F419F1-9DA2-48B6-A157-27295B939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906201935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891BA6-4FB4-4B86-8F6C-E1AF02A8349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778d3575064fd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45BE604E-22AB-4582-B787-FA87B962D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参考答案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771B69B7-2C95-4D8A-88C5-39AA4760A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课堂检查参考</a:t>
            </a:r>
          </a:p>
        </p:txBody>
      </p:sp>
      <p:sp>
        <p:nvSpPr>
          <p:cNvPr id="4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84BC91B5-4C4A-4A57-90A7-A5B3169A6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第一问：first=1，after=3，新n=2，删除2个。</a:t>
            </a:r>
          </a:p>
        </p:txBody>
      </p:sp>
      <p:sp>
        <p:nvSpPr>
          <p:cNvPr id="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7C02B540-F803-4EF8-A152-7740D26B1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5069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第二问：first=after=3；不读A[3]，不搬移，返回0。</a:t>
            </a:r>
          </a:p>
        </p:txBody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ECB8C1E7-2EBE-46A1-B10F-E56D362A3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67038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第三问：输出−x；整式根不额外加外括号。</a:t>
            </a:r>
          </a:p>
        </p:txBody>
      </p:sp>
      <p:sp>
        <p:nvSpPr>
          <p:cNvPr id="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92FD5AB1-BE9B-42DD-A4E8-44DF0BB9B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9006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第四问：时间O(n+L)，辅助栈O(h)。</a:t>
            </a:r>
          </a:p>
        </p:txBody>
      </p:sp>
      <p:sp>
        <p:nvSpPr>
          <p:cNvPr id="8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EB6D3EA6-F604-4DD0-B74D-10375EBF7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8228406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2026-10-27T10:06:38.1560000Z</dcterms:created>
  <dcterms:modified xsi:type="dcterms:W3CDTF">2026-10-27T10:06:38.1560000Z</dcterms:modified>
</coreProperties>
</file>