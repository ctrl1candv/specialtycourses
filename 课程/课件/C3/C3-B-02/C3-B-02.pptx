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e6f77fdf244a8b" /><Relationship Type="http://schemas.openxmlformats.org/officeDocument/2006/relationships/extended-properties" Target="/docProps/app.xml" Id="R48f81c6b657c4cb5" /><Relationship Type="http://schemas.openxmlformats.org/officeDocument/2006/relationships/officeDocument" Target="/ppt/presentation.xml" Id="R7fe770b4364f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d121054c443aa"/>
  </p:sldMasterIdLst>
  <p:notesMasterIdLst>
    <p:notesMasterId xmlns:r="http://schemas.openxmlformats.org/officeDocument/2006/relationships" r:id="Rae4815f51a56404c"/>
  </p:notesMasterIdLst>
  <p:sldIdLst>
    <p:sldId xmlns:r="http://schemas.openxmlformats.org/officeDocument/2006/relationships" id="256" r:id="Re2e44a9ce4bd4d59"/>
    <p:sldId xmlns:r="http://schemas.openxmlformats.org/officeDocument/2006/relationships" id="257" r:id="R081503e86c8b481c"/>
    <p:sldId xmlns:r="http://schemas.openxmlformats.org/officeDocument/2006/relationships" id="258" r:id="Rd9cac3734797457d"/>
    <p:sldId xmlns:r="http://schemas.openxmlformats.org/officeDocument/2006/relationships" id="259" r:id="R311da55b91ef47b2"/>
    <p:sldId xmlns:r="http://schemas.openxmlformats.org/officeDocument/2006/relationships" id="260" r:id="R071fca0c6bb443a4"/>
    <p:sldId xmlns:r="http://schemas.openxmlformats.org/officeDocument/2006/relationships" id="261" r:id="R7d25cdfef2544457"/>
    <p:sldId xmlns:r="http://schemas.openxmlformats.org/officeDocument/2006/relationships" id="262" r:id="R925fde29c7994711"/>
    <p:sldId xmlns:r="http://schemas.openxmlformats.org/officeDocument/2006/relationships" id="263" r:id="Re380708e78524f78"/>
    <p:sldId xmlns:r="http://schemas.openxmlformats.org/officeDocument/2006/relationships" id="264" r:id="R32d1f861ff0742c3"/>
    <p:sldId xmlns:r="http://schemas.openxmlformats.org/officeDocument/2006/relationships" id="265" r:id="Rb5f4ce3a72284168"/>
    <p:sldId xmlns:r="http://schemas.openxmlformats.org/officeDocument/2006/relationships" id="266" r:id="Rd856aa5ad8de489c"/>
    <p:sldId xmlns:r="http://schemas.openxmlformats.org/officeDocument/2006/relationships" id="267" r:id="R8a7b828dda4044b0"/>
    <p:sldId xmlns:r="http://schemas.openxmlformats.org/officeDocument/2006/relationships" id="268" r:id="R3d2c7a5b524e44a8"/>
    <p:sldId xmlns:r="http://schemas.openxmlformats.org/officeDocument/2006/relationships" id="269" r:id="Rd70eaed5c9bd435f"/>
    <p:sldId xmlns:r="http://schemas.openxmlformats.org/officeDocument/2006/relationships" id="270" r:id="Re7c4594c0f8843d2"/>
    <p:sldId xmlns:r="http://schemas.openxmlformats.org/officeDocument/2006/relationships" id="271" r:id="Rbbbc4e28b3554707"/>
    <p:sldId xmlns:r="http://schemas.openxmlformats.org/officeDocument/2006/relationships" id="272" r:id="R39b5eb7489194382"/>
    <p:sldId xmlns:r="http://schemas.openxmlformats.org/officeDocument/2006/relationships" id="273" r:id="R22ba2cc40a7a4cf0"/>
    <p:sldId xmlns:r="http://schemas.openxmlformats.org/officeDocument/2006/relationships" id="274" r:id="R29410d42cc494f91"/>
    <p:sldId xmlns:r="http://schemas.openxmlformats.org/officeDocument/2006/relationships" id="275" r:id="Rbabe718afd5a4baf"/>
    <p:sldId xmlns:r="http://schemas.openxmlformats.org/officeDocument/2006/relationships" id="276" r:id="R75b98ffacf3741ed"/>
    <p:sldId xmlns:r="http://schemas.openxmlformats.org/officeDocument/2006/relationships" id="277" r:id="R9595967335cf4181"/>
    <p:sldId xmlns:r="http://schemas.openxmlformats.org/officeDocument/2006/relationships" id="278" r:id="R2e047af36b124773"/>
    <p:sldId xmlns:r="http://schemas.openxmlformats.org/officeDocument/2006/relationships" id="279" r:id="Ra567276dca6346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54a6e5f48484f" /><Relationship Type="http://schemas.openxmlformats.org/officeDocument/2006/relationships/slideMaster" Target="/ppt/slideMasters/slideMaster1.xml" Id="R7ead121054c443aa" /><Relationship Type="http://schemas.openxmlformats.org/officeDocument/2006/relationships/notesMaster" Target="/ppt/notesMasters/notesMaster1.xml" Id="Rae4815f51a56404c" /><Relationship Type="http://schemas.openxmlformats.org/officeDocument/2006/relationships/presProps" Target="/ppt/presProps.xml" Id="R882e8a05c56b4286" /><Relationship Type="http://schemas.openxmlformats.org/officeDocument/2006/relationships/tableStyles" Target="/ppt/tableStyles.xml" Id="R37483dca0ca249f8" /><Relationship Type="http://schemas.openxmlformats.org/officeDocument/2006/relationships/slide" Target="/ppt/slides/slide1.xml" Id="Re2e44a9ce4bd4d59" /><Relationship Type="http://schemas.openxmlformats.org/officeDocument/2006/relationships/slide" Target="/ppt/slides/slide2.xml" Id="R081503e86c8b481c" /><Relationship Type="http://schemas.openxmlformats.org/officeDocument/2006/relationships/slide" Target="/ppt/slides/slide3.xml" Id="Rd9cac3734797457d" /><Relationship Type="http://schemas.openxmlformats.org/officeDocument/2006/relationships/slide" Target="/ppt/slides/slide4.xml" Id="R311da55b91ef47b2" /><Relationship Type="http://schemas.openxmlformats.org/officeDocument/2006/relationships/slide" Target="/ppt/slides/slide5.xml" Id="R071fca0c6bb443a4" /><Relationship Type="http://schemas.openxmlformats.org/officeDocument/2006/relationships/slide" Target="/ppt/slides/slide6.xml" Id="R7d25cdfef2544457" /><Relationship Type="http://schemas.openxmlformats.org/officeDocument/2006/relationships/slide" Target="/ppt/slides/slide7.xml" Id="R925fde29c7994711" /><Relationship Type="http://schemas.openxmlformats.org/officeDocument/2006/relationships/slide" Target="/ppt/slides/slide8.xml" Id="Re380708e78524f78" /><Relationship Type="http://schemas.openxmlformats.org/officeDocument/2006/relationships/slide" Target="/ppt/slides/slide9.xml" Id="R32d1f861ff0742c3" /><Relationship Type="http://schemas.openxmlformats.org/officeDocument/2006/relationships/slide" Target="/ppt/slides/slide10.xml" Id="Rb5f4ce3a72284168" /><Relationship Type="http://schemas.openxmlformats.org/officeDocument/2006/relationships/slide" Target="/ppt/slides/slide11.xml" Id="Rd856aa5ad8de489c" /><Relationship Type="http://schemas.openxmlformats.org/officeDocument/2006/relationships/slide" Target="/ppt/slides/slide12.xml" Id="R8a7b828dda4044b0" /><Relationship Type="http://schemas.openxmlformats.org/officeDocument/2006/relationships/slide" Target="/ppt/slides/slide13.xml" Id="R3d2c7a5b524e44a8" /><Relationship Type="http://schemas.openxmlformats.org/officeDocument/2006/relationships/slide" Target="/ppt/slides/slide14.xml" Id="Rd70eaed5c9bd435f" /><Relationship Type="http://schemas.openxmlformats.org/officeDocument/2006/relationships/slide" Target="/ppt/slides/slide15.xml" Id="Re7c4594c0f8843d2" /><Relationship Type="http://schemas.openxmlformats.org/officeDocument/2006/relationships/slide" Target="/ppt/slides/slide16.xml" Id="Rbbbc4e28b3554707" /><Relationship Type="http://schemas.openxmlformats.org/officeDocument/2006/relationships/slide" Target="/ppt/slides/slide17.xml" Id="R39b5eb7489194382" /><Relationship Type="http://schemas.openxmlformats.org/officeDocument/2006/relationships/slide" Target="/ppt/slides/slide18.xml" Id="R22ba2cc40a7a4cf0" /><Relationship Type="http://schemas.openxmlformats.org/officeDocument/2006/relationships/slide" Target="/ppt/slides/slide19.xml" Id="R29410d42cc494f91" /><Relationship Type="http://schemas.openxmlformats.org/officeDocument/2006/relationships/slide" Target="/ppt/slides/slide20.xml" Id="Rbabe718afd5a4baf" /><Relationship Type="http://schemas.openxmlformats.org/officeDocument/2006/relationships/slide" Target="/ppt/slides/slide21.xml" Id="R75b98ffacf3741ed" /><Relationship Type="http://schemas.openxmlformats.org/officeDocument/2006/relationships/slide" Target="/ppt/slides/slide22.xml" Id="R9595967335cf4181" /><Relationship Type="http://schemas.openxmlformats.org/officeDocument/2006/relationships/slide" Target="/ppt/slides/slide23.xml" Id="R2e047af36b124773" /><Relationship Type="http://schemas.openxmlformats.org/officeDocument/2006/relationships/slide" Target="/ppt/slides/slide24.xml" Id="Ra567276dca63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c825280bbb43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5756af16344d94" /><Relationship Type="http://schemas.openxmlformats.org/officeDocument/2006/relationships/notesMaster" Target="/ppt/notesMasters/notesMaster1.xml" Id="R1c4eb46399b74f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ef40f6aeb4dbc" /><Relationship Type="http://schemas.openxmlformats.org/officeDocument/2006/relationships/notesMaster" Target="/ppt/notesMasters/notesMaster1.xml" Id="R0656352180584a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116e0efe98429e" /><Relationship Type="http://schemas.openxmlformats.org/officeDocument/2006/relationships/notesMaster" Target="/ppt/notesMasters/notesMaster1.xml" Id="R974db5f945c9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44021a02824e7b" /><Relationship Type="http://schemas.openxmlformats.org/officeDocument/2006/relationships/notesMaster" Target="/ppt/notesMasters/notesMaster1.xml" Id="Rb44b95ab609c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86e052ccfa414c" /><Relationship Type="http://schemas.openxmlformats.org/officeDocument/2006/relationships/notesMaster" Target="/ppt/notesMasters/notesMaster1.xml" Id="R0e2a35fc466a43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dadaeef6a24d4a" /><Relationship Type="http://schemas.openxmlformats.org/officeDocument/2006/relationships/notesMaster" Target="/ppt/notesMasters/notesMaster1.xml" Id="R57d772c8c2704f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125cc1acbe4b41" /><Relationship Type="http://schemas.openxmlformats.org/officeDocument/2006/relationships/notesMaster" Target="/ppt/notesMasters/notesMaster1.xml" Id="R1b4847cedbf045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77da7c7748437b" /><Relationship Type="http://schemas.openxmlformats.org/officeDocument/2006/relationships/notesMaster" Target="/ppt/notesMasters/notesMaster1.xml" Id="R9ed701808629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21e0b5c8cf465d" /><Relationship Type="http://schemas.openxmlformats.org/officeDocument/2006/relationships/notesMaster" Target="/ppt/notesMasters/notesMaster1.xml" Id="Rb43bef3af16545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f42270eb394f24" /><Relationship Type="http://schemas.openxmlformats.org/officeDocument/2006/relationships/notesMaster" Target="/ppt/notesMasters/notesMaster1.xml" Id="Rd3192eed60e344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707bf9b0894bb9" /><Relationship Type="http://schemas.openxmlformats.org/officeDocument/2006/relationships/notesMaster" Target="/ppt/notesMasters/notesMaster1.xml" Id="Rfd3ee20c4b3043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844fef1e344c36" /><Relationship Type="http://schemas.openxmlformats.org/officeDocument/2006/relationships/notesMaster" Target="/ppt/notesMasters/notesMaster1.xml" Id="R99b9fb59f2e341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244c367b5f4717" /><Relationship Type="http://schemas.openxmlformats.org/officeDocument/2006/relationships/notesMaster" Target="/ppt/notesMasters/notesMaster1.xml" Id="R34848c88f53341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bba7698530849ca" /><Relationship Type="http://schemas.openxmlformats.org/officeDocument/2006/relationships/notesMaster" Target="/ppt/notesMasters/notesMaster1.xml" Id="R2307c57e4cda4e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ea965e2d394bba" /><Relationship Type="http://schemas.openxmlformats.org/officeDocument/2006/relationships/notesMaster" Target="/ppt/notesMasters/notesMaster1.xml" Id="R56ff132e379f46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95d052cb1844819" /><Relationship Type="http://schemas.openxmlformats.org/officeDocument/2006/relationships/notesMaster" Target="/ppt/notesMasters/notesMaster1.xml" Id="R1c52546b241145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206882236f4785" /><Relationship Type="http://schemas.openxmlformats.org/officeDocument/2006/relationships/notesMaster" Target="/ppt/notesMasters/notesMaster1.xml" Id="Raf64665ae53642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b3398ff2385435f" /><Relationship Type="http://schemas.openxmlformats.org/officeDocument/2006/relationships/notesMaster" Target="/ppt/notesMasters/notesMaster1.xml" Id="R8793600cf00944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45b4fe3b2d4ce7" /><Relationship Type="http://schemas.openxmlformats.org/officeDocument/2006/relationships/notesMaster" Target="/ppt/notesMasters/notesMaster1.xml" Id="Rec4a9d39753c4b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9b041791914992" /><Relationship Type="http://schemas.openxmlformats.org/officeDocument/2006/relationships/notesMaster" Target="/ppt/notesMasters/notesMaster1.xml" Id="Ra92416f1eae345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d685c31bf34e25" /><Relationship Type="http://schemas.openxmlformats.org/officeDocument/2006/relationships/notesMaster" Target="/ppt/notesMasters/notesMaster1.xml" Id="R51b857e41db94f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ff5fec6d3a4a76" /><Relationship Type="http://schemas.openxmlformats.org/officeDocument/2006/relationships/notesMaster" Target="/ppt/notesMasters/notesMaster1.xml" Id="Rb0c8f85e67c34f6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83651e7e35f4d60" /><Relationship Type="http://schemas.openxmlformats.org/officeDocument/2006/relationships/notesMaster" Target="/ppt/notesMasters/notesMaster1.xml" Id="R4ac80e0c1c6c419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034fbfb3af24ecd" /><Relationship Type="http://schemas.openxmlformats.org/officeDocument/2006/relationships/notesMaster" Target="/ppt/notesMasters/notesMaster1.xml" Id="Rb4e288b24bc2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同学们好。这节从完整题目出发，把读题、推演和答案书写连起来。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在开始之前先简单介绍一下，伴梦研途是专门做重邮考研的机构，想要获取更多课程资料、答疑以及后续的课程安排，都可以在伴梦研途的QQ群里获取，需要的同学可以加一下。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指针名不能代替定义。rear在循环链队列里是尾结点指针，顺序循环队列的rear可能是下一次插入位置；直接混用模板会错。共享栈两个top都指已占用位置，只是空时站在数组外。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原题出队返回指针，因此函数内部不能先free再return。虽然队列只存rear，仍可直接通过rear-&gt;next访问队首，这是循环结构节省一个指针的依据。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先看已有的三个next，a到b、b到c、c回到a。新结点d不属于任何一条旧边，题面保证它独立。要把d接到逻辑尾部，最终需要c到d、d到a。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为什么先写d到a？因为a的地址目前保存在旧尾c的next里。若先把c的next改为d，再用rear-&gt;next给d赋后继，取得的已经是d自身。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【停顿】先画队首a、尾结点c和新结点d。要保持原队首不变，新d的next应先指向a，即p-&gt;next=Q-&gt;rear-&gt;next。再让旧尾c指向d，最后把rear移到d。若先改rear-&gt;next，新结点就无法通过这一表达式取得原队首。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用同一组结点检查执行结果：队首仍是a，旧尾c后面多了d，新尾d的后继回到a，循环队列的表示约定恢复。连接操作和更新rear共同完成入队，漏掉最后一步会把新结点误当成下一次出队的队首。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【停顿】让学生从新rear出发先走一次next，再沿队列走一圈，确认逻辑顺序a、b、c、d。这个验证比只看一条赋值的语法更完整。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rear==p说明尾就是队首，即队列只有一个数据结点。此时必须rear=NULL，不能继续留下指向已出队结点的指针。原题不要求清空返回结点的next；调用者也不应把它误当作剩余队列的入口。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多结点删除通过rear-&gt;next=p-&gt;next跳过队首。只有一个结点时，p-&gt;next仍是p，做同一赋值会让rear保持原值，队列看起来仍非空。若调用者随后释放返回结点，队列就留下悬空指针。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因此唯一结点分支必须清空rear。返回的p仍是有效结点，函数没有释放它；“队列为空”与“返回结点已经销毁”不能混为一回事。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步故意连续入队，再删到空，再重新入队。很多程序正常处理多结点，却在空与非空之间转换失败。给学生在每一步画rear-&gt;next指向谁；最后一个e不能指向先前已移除的d。队首逻辑次序和循环中的回边分开表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题面若只问填空，直接给对应语句即可；若另外问复杂度，再给每次操作的量级。不要把调用者以后可能执行的遍历算进当前函数。两空已经由完整操作序列验证。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若阅读题只要求两空，直接按空号写p-&gt;next=Q-&gt;rear-&gt;next和Q-&gt;rear=NULL。若要求说明算法，就用本页的连接顺序组织语言：先说明空状态与非空表示，再说明插入或删除修改哪两条连接，最后交代返回什么。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返回原结点意味着其生命周期由调用者管理，不能在函数中free(p)再把地址交回去。这里的O(1)是单次操作的时间与额外空间，不包括调用者之后遍历或者销毁整个队列的工作。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先约定top表示当前栈顶，不是下一空位。这样左栈入栈要先向右移动，右栈入栈要先向左移动；出栈恰好相反。两个栈分享所有未占空间，不固定各用一半。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让学生用m=6、top0=1、top1=4画六格。中间还空2和3两格，不能只检查top0==top1：那时两侧已经发生覆盖。判满是相邻，碰到同一个数组格之前就应拒绝入栈。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左栈当前栈顶是20，右栈当前栈顶是80。右栈的栈底在5号、栈顶在4号，因此从底到顶是90、80。确认这个方向后，再看出栈为何要让右top增加。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两个top之间严格夹着的格子才是空闲空间，数量为top[1]−top[0]−1。若两者相邻，这个数为零；等到两个top相等才判满，已经允许下一次写入覆盖另一个栈的元素。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【停顿】不要立即把++和--作为口诀填上。要求学生先口述顺序：入栈先移动到空位再写，出栈先读当前元素再退回。②是++top0，③是--top1，④是top0++吗？出栈后左栈应缩短，所以是top0--；右栈则top1++。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拿左栈空状态top0=−1验证入栈：必须先变成0才能访问有效数组，若写成data[top0++]=x会先写−1号。拿右栈空状态top1=m验证，必须先减到m−1。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出栈则先取已经存在的栈顶。图中左top0=1，应读20后退到0；若先减再读就错误返回10。右侧同理先读80，再把top1从4增到5。通过具体下标推导即可消除对自增形式的猜测。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用同一数组画出所有写入位置。最后一次失败必须保持原数组逻辑状态和top不变。数据格里有旧值不代表它仍在栈中，是否属于栈只由top界定。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这就是上一张操作表最后一行的真实数组状态。左栈从底到顶是10、30，右栈从底到顶是90、80、70、60。再压40时先判满，尚未执行任何自增或者数组赋值，因此返回失败但结构保持正确。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统计操作次数时，这仍算一次入栈尝试，却不算成功入栈。后续输出必须沿失败后未变化的状态继续，不能为了“尝试过”就把top推进。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假定1≤m≤CAP，栈号i只取0或1，这是本题调用契约。bot保留空栈时的下标，故出栈可统一判断top[i]==bot[i]。题目若给出另一种top定义，要重新推导表达式，不能强行搬用本页。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把前置自增拆成先改top再访问数组，可以消除符号记忆负担。容量1时也应工作：左栈压入一个元素后top0=0、top1=1，右栈再入就被判满拦住。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出栈读取的是移动之前的格子。空栈直接返回false且不改x，符合输出参数只在成功时有效的约定。每次操作常数时间；存储数组是给定结构，操作的辅助空间为常数。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复杂度的对象应与题目一致。问一次入栈，答案是O(1)；问给定r个操作全部执行，答案是O(r)。数组有m格不意味着每次都要检查m格，判满只读取两个top。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题目统计成功次数时，应按返回值计数；统计输出序列时，只记录成功Pop得到的x。失败Pop保持x旧值，不代表又输出了那个旧元素。这些区别要在读题时确定，不能到最后把调用次数、成功次数和输出个数混在一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【停顿】学生自己画四个格子并跟踪两侧top。题目只统计API调用是否成功，不计内部比较次数。让学生在每一步同时记返回值和结构状态，失败操作不能改变top。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此页供学生核对，不口播。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730b1f4544e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75417369248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8266fb45b40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c34cb94eb4c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282e97a9546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ef0cfdb2c45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2DDAC-7C34-46A1-835F-D714546C8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742A8DB-5AEE-499A-8DED-9442285574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7BBC53-861C-43DD-BA0A-0BC83B7DB7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D89258-9ABA-44A5-A64E-DEB213DA8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1A1CE1-AC05-465D-8582-A37B790644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BD3F17-D059-47BF-ABCA-A91E35C3BE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FE41FE-3F34-4459-8B57-14D5FFCA28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8347D1-6285-484D-9603-D07F94882B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17B5A3-8CF1-40A2-956B-4CA65ACBB7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705202-D1D3-45E7-9A60-87E1C2643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7e56b46bf49af" /><Relationship Type="http://schemas.openxmlformats.org/officeDocument/2006/relationships/slideLayout" Target="/ppt/slideLayouts/slideLayout1.xml" Id="R09deda0dfb8047be" /><Relationship Type="http://schemas.openxmlformats.org/officeDocument/2006/relationships/slideLayout" Target="/ppt/slideLayouts/slideLayout2.xml" Id="R4aad2f87ec834920" /><Relationship Type="http://schemas.openxmlformats.org/officeDocument/2006/relationships/slideLayout" Target="/ppt/slideLayouts/slideLayout3.xml" Id="R7284d05b56fb4aa2" /><Relationship Type="http://schemas.openxmlformats.org/officeDocument/2006/relationships/slideLayout" Target="/ppt/slideLayouts/slideLayout4.xml" Id="R74678344580242ba" /><Relationship Type="http://schemas.openxmlformats.org/officeDocument/2006/relationships/slideLayout" Target="/ppt/slideLayouts/slideLayout5.xml" Id="Rd76a8391ba224a96" /><Relationship Type="http://schemas.openxmlformats.org/officeDocument/2006/relationships/slideLayout" Target="/ppt/slideLayouts/slideLayout6.xml" Id="Rf063e27a17d1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deda0dfb8047be"/>
    <p:sldLayoutId xmlns:r="http://schemas.openxmlformats.org/officeDocument/2006/relationships" id="2147483650" r:id="R4aad2f87ec834920"/>
    <p:sldLayoutId xmlns:r="http://schemas.openxmlformats.org/officeDocument/2006/relationships" id="2147483651" r:id="R7284d05b56fb4aa2"/>
    <p:sldLayoutId xmlns:r="http://schemas.openxmlformats.org/officeDocument/2006/relationships" id="2147483652" r:id="R74678344580242ba"/>
    <p:sldLayoutId xmlns:r="http://schemas.openxmlformats.org/officeDocument/2006/relationships" id="2147483653" r:id="Rd76a8391ba224a96"/>
    <p:sldLayoutId xmlns:r="http://schemas.openxmlformats.org/officeDocument/2006/relationships" id="2147483654" r:id="Rf063e27a17d1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58441428d24751" /><Relationship Type="http://schemas.openxmlformats.org/officeDocument/2006/relationships/image" Target="/ppt/media/image.jpeg" Id="R3da93ceb54bc43ab" /><Relationship Type="http://schemas.openxmlformats.org/officeDocument/2006/relationships/notesSlide" Target="/ppt/notesSlides/notesSlide1.xml" Id="R8e56b952c7c047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ddc27673ce43b7" /><Relationship Type="http://schemas.openxmlformats.org/officeDocument/2006/relationships/image" Target="/ppt/media/image2.jpeg" Id="Rd0b35ab136f4444e" /><Relationship Type="http://schemas.openxmlformats.org/officeDocument/2006/relationships/notesSlide" Target="/ppt/notesSlides/notesSlide2.xml" Id="R6741f6475f454b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ad7492fb19421c" /><Relationship Type="http://schemas.openxmlformats.org/officeDocument/2006/relationships/image" Target="/ppt/media/image3.jpeg" Id="Rdb4c7578c3a44593" /><Relationship Type="http://schemas.openxmlformats.org/officeDocument/2006/relationships/notesSlide" Target="/ppt/notesSlides/notesSlide3.xml" Id="R27e284e391a744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9dc61137d497c" /><Relationship Type="http://schemas.openxmlformats.org/officeDocument/2006/relationships/image" Target="/ppt/media/image4.jpeg" Id="Raa34143907ce451e" /><Relationship Type="http://schemas.openxmlformats.org/officeDocument/2006/relationships/notesSlide" Target="/ppt/notesSlides/notesSlide4.xml" Id="R57f8b34ea8b64c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04a7c5d4c4116" /><Relationship Type="http://schemas.openxmlformats.org/officeDocument/2006/relationships/image" Target="/ppt/media/image5.jpeg" Id="R5c545933753c4aa4" /><Relationship Type="http://schemas.openxmlformats.org/officeDocument/2006/relationships/notesSlide" Target="/ppt/notesSlides/notesSlide5.xml" Id="R7d16745a465c41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775811df8a4955" /><Relationship Type="http://schemas.openxmlformats.org/officeDocument/2006/relationships/image" Target="/ppt/media/image6.jpeg" Id="Rb88e7dd87f9b4f90" /><Relationship Type="http://schemas.openxmlformats.org/officeDocument/2006/relationships/notesSlide" Target="/ppt/notesSlides/notesSlide6.xml" Id="R2545bd5798354f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6e2f7442a45cd" /><Relationship Type="http://schemas.openxmlformats.org/officeDocument/2006/relationships/image" Target="/ppt/media/image7.jpeg" Id="R4a564a293458477c" /><Relationship Type="http://schemas.openxmlformats.org/officeDocument/2006/relationships/notesSlide" Target="/ppt/notesSlides/notesSlide7.xml" Id="Redadb8535b72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68c39c17c4680" /><Relationship Type="http://schemas.openxmlformats.org/officeDocument/2006/relationships/image" Target="/ppt/media/image8.jpeg" Id="Rccd0d43b0ce24589" /><Relationship Type="http://schemas.openxmlformats.org/officeDocument/2006/relationships/notesSlide" Target="/ppt/notesSlides/notesSlide8.xml" Id="Re79cc32d518545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3b34fb9944e64" /><Relationship Type="http://schemas.openxmlformats.org/officeDocument/2006/relationships/image" Target="/ppt/media/image9.jpeg" Id="R787da2cb8af04215" /><Relationship Type="http://schemas.openxmlformats.org/officeDocument/2006/relationships/notesSlide" Target="/ppt/notesSlides/notesSlide9.xml" Id="R9bf1dbdbd7cb46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0f6404ae8b4f07" /><Relationship Type="http://schemas.openxmlformats.org/officeDocument/2006/relationships/image" Target="/ppt/media/image10.jpeg" Id="R37923478995b4866" /><Relationship Type="http://schemas.openxmlformats.org/officeDocument/2006/relationships/notesSlide" Target="/ppt/notesSlides/notesSlide10.xml" Id="R103cadce1e9c4d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1f19a26174ae6" /><Relationship Type="http://schemas.openxmlformats.org/officeDocument/2006/relationships/image" Target="/ppt/media/image11.jpeg" Id="R172c1c84f7ec46c0" /><Relationship Type="http://schemas.openxmlformats.org/officeDocument/2006/relationships/notesSlide" Target="/ppt/notesSlides/notesSlide11.xml" Id="Rea911e37e34a46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37cb464d245f4" /><Relationship Type="http://schemas.openxmlformats.org/officeDocument/2006/relationships/image" Target="/ppt/media/image12.jpeg" Id="Rfab244a33a0243d8" /><Relationship Type="http://schemas.openxmlformats.org/officeDocument/2006/relationships/notesSlide" Target="/ppt/notesSlides/notesSlide12.xml" Id="Re572dffe43c748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00ff59cd4e41e7" /><Relationship Type="http://schemas.openxmlformats.org/officeDocument/2006/relationships/image" Target="/ppt/media/image13.jpeg" Id="R7790e21b24ec4607" /><Relationship Type="http://schemas.openxmlformats.org/officeDocument/2006/relationships/notesSlide" Target="/ppt/notesSlides/notesSlide13.xml" Id="R89c74e3d4d2b44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e8137de404334" /><Relationship Type="http://schemas.openxmlformats.org/officeDocument/2006/relationships/image" Target="/ppt/media/image14.jpeg" Id="Rece1feaca363466a" /><Relationship Type="http://schemas.openxmlformats.org/officeDocument/2006/relationships/notesSlide" Target="/ppt/notesSlides/notesSlide14.xml" Id="R1987ccd7b1264a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06b4de5ebe4e4f" /><Relationship Type="http://schemas.openxmlformats.org/officeDocument/2006/relationships/image" Target="/ppt/media/image15.jpeg" Id="R4bcaff6a15bc46ec" /><Relationship Type="http://schemas.openxmlformats.org/officeDocument/2006/relationships/notesSlide" Target="/ppt/notesSlides/notesSlide15.xml" Id="Rd8e9e801173340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f32adb75a4720" /><Relationship Type="http://schemas.openxmlformats.org/officeDocument/2006/relationships/image" Target="/ppt/media/image16.jpeg" Id="R3239e2bf9ac64c35" /><Relationship Type="http://schemas.openxmlformats.org/officeDocument/2006/relationships/notesSlide" Target="/ppt/notesSlides/notesSlide16.xml" Id="R70385837dd874c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0563ad37c44088" /><Relationship Type="http://schemas.openxmlformats.org/officeDocument/2006/relationships/image" Target="/ppt/media/image17.jpeg" Id="Rc214ec09b7d2471e" /><Relationship Type="http://schemas.openxmlformats.org/officeDocument/2006/relationships/notesSlide" Target="/ppt/notesSlides/notesSlide17.xml" Id="Rd0a6206cf32d40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10fee7a624773" /><Relationship Type="http://schemas.openxmlformats.org/officeDocument/2006/relationships/image" Target="/ppt/media/image18.jpeg" Id="R4a5cedcfbecb40c4" /><Relationship Type="http://schemas.openxmlformats.org/officeDocument/2006/relationships/notesSlide" Target="/ppt/notesSlides/notesSlide18.xml" Id="R0551abf0b9f141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7c2b82f2a46b4" /><Relationship Type="http://schemas.openxmlformats.org/officeDocument/2006/relationships/image" Target="/ppt/media/image19.jpeg" Id="Raff0bcab69914d13" /><Relationship Type="http://schemas.openxmlformats.org/officeDocument/2006/relationships/notesSlide" Target="/ppt/notesSlides/notesSlide19.xml" Id="R321086582d9449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c960ca2ff4848" /><Relationship Type="http://schemas.openxmlformats.org/officeDocument/2006/relationships/image" Target="/ppt/media/image20.jpeg" Id="Rba927fb8e9624690" /><Relationship Type="http://schemas.openxmlformats.org/officeDocument/2006/relationships/notesSlide" Target="/ppt/notesSlides/notesSlide20.xml" Id="Ra793f943313743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709a9cd02405b" /><Relationship Type="http://schemas.openxmlformats.org/officeDocument/2006/relationships/image" Target="/ppt/media/image21.jpeg" Id="R7cbdf90cecf84542" /><Relationship Type="http://schemas.openxmlformats.org/officeDocument/2006/relationships/notesSlide" Target="/ppt/notesSlides/notesSlide21.xml" Id="R9304158c5ec54d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46deff9cf4dd0" /><Relationship Type="http://schemas.openxmlformats.org/officeDocument/2006/relationships/image" Target="/ppt/media/image22.jpeg" Id="Rfc843ec6e98a491c" /><Relationship Type="http://schemas.openxmlformats.org/officeDocument/2006/relationships/notesSlide" Target="/ppt/notesSlides/notesSlide22.xml" Id="Ra7ea7de8620d44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34bb62da1041ff" /><Relationship Type="http://schemas.openxmlformats.org/officeDocument/2006/relationships/image" Target="/ppt/media/image23.jpeg" Id="R6193ca65d7d74c43" /><Relationship Type="http://schemas.openxmlformats.org/officeDocument/2006/relationships/notesSlide" Target="/ppt/notesSlides/notesSlide23.xml" Id="Ree76054d158b4a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0f10e0c5654e51" /><Relationship Type="http://schemas.openxmlformats.org/officeDocument/2006/relationships/image" Target="/ppt/media/image24.jpeg" Id="R0b684f74288d4cfe" /><Relationship Type="http://schemas.openxmlformats.org/officeDocument/2006/relationships/notesSlide" Target="/ppt/notesSlides/notesSlide24.xml" Id="Rb9c83a42bfc947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86E8A-B59C-4433-875F-76A916CC0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93ceb54bc43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53DB535-111B-48EA-BD97-F56DF755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重邮802 数据结构代码课程</a:t>
            </a:r>
          </a:p>
        </p:txBody>
      </p:sp>
      <p:sp>
        <p:nvSpPr>
          <p:cNvPr id="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CFB1222-33BC-4D70-933B-AFD7C68A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数据结构冲刺阶段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F3A74A8-1D66-4C72-AD3F-671BF66C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7442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栈和队列的程序阅读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6E29692-3E9E-47C5-9F73-DCF22796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主讲：牙膏学长 ｜ 资料答疑：伴梦研途QQ群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290CB5-DA9C-4CE1-BEAC-3C1064302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22988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3B4ED-BFED-4003-9212-238A1F72E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35ab136f444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1DC929E-FD3F-4A4C-91E0-3B1AD5C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75C449F6-A778-48D1-85EA-D1DCA67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先给指针和下标写清含义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3D4CA-B035-4BFB-B9C8-0F0880D7CD66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1396"/>
                <a:gridCol w="2352443"/>
                <a:gridCol w="5640361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空状态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循环单链队列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rear=NULL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非空时 rear-&gt;next 为队首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共享栈0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top[0]=−1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已有元素最右侧下标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共享栈1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top[1]=m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已有元素最左侧下标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198EA63-BEDA-4EE9-B346-2E7A040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403222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F0568-D190-4F08-848E-4C8238B7AF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c7578c3a4459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7299118-1840-40BC-83DF-AEC0AAE0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64C8610D-9B83-40D9-8BD0-2C1AB545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2025 阅读题：只保留尾指针的队列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2EF11CB-5EBC-4C50-9015-588CC22F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无额外头结点的循环单链队列；空队列 rear=NULL。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212378A-7640-43CE-A902-D5BF4661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入队结点 p 已分配、尚未在队列中；出队返回原结点。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3B830F0-0D57-45F9-BEC0-3C0FF464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补全非空入队时 p 的后继；补全唯一结点出队后的状态。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94B8533-A37F-40E2-B895-AEE6440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函数只负责接链，返回结点由调用者使用和释放。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4CF2DE3-91F1-40D7-AFC7-EDA62A5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69498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17C98-D739-4740-93C7-39A6047C08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4143907ce45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6F76710-DD43-4772-B616-91A1A29D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C18B40D-C94C-4A63-B0D0-5AA77DF1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新结点入队前，rear的后继仍是原队首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DDA4C20B-7F29-46C5-948C-31CE8213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2502694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66111EB8-C11F-4E09-8446-44594329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502694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" name="Diagram node c">
            <a:extLst xmlns:a="http://schemas.openxmlformats.org/drawingml/2006/main">
              <a:ext uri="{FF2B5EF4-FFF2-40B4-BE49-F238E27FC236}">
                <a16:creationId xmlns:a16="http://schemas.microsoft.com/office/drawing/2014/main" id="{CD061956-A640-4E54-ABBE-A21381E5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56473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" name="Diagram node d">
            <a:extLst xmlns:a="http://schemas.openxmlformats.org/drawingml/2006/main">
              <a:ext uri="{FF2B5EF4-FFF2-40B4-BE49-F238E27FC236}">
                <a16:creationId xmlns:a16="http://schemas.microsoft.com/office/drawing/2014/main" id="{5ED862A2-AE6B-4841-BC2C-9F3AB00B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356473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6F510-3CA4-481B-838D-2D6B08D8603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54755" y="2740819"/>
            <a:ext cx="46824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85301-15A2-44CB-B6CA-46120B0FE25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884920" y="2978944"/>
            <a:ext cx="0" cy="5857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7959A-6226-46AF-B6F0-EA2EFDF91659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3754755" y="2740819"/>
            <a:ext cx="4682490" cy="10620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8440E9-3B1A-44F5-9792-38B243F9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205" y="215979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原队首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DE918BA-962D-4839-A633-52E18114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045" y="4094321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rear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1F61D49-913E-44F8-A83A-99319235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810" y="4094321"/>
            <a:ext cx="126653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p，尚未接入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9202DD5-F992-4766-AB2C-4D46472B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原队列逻辑次序为a、b、c，新结点为d。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804B47F-E5E9-4590-BAD9-BC85106C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p的next必须保存原队首a。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9AFEFAF-7FC2-4D9F-A595-62588130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原队首地址当前可由Q-&gt;rear-&gt;next取得。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97D6910-40F6-46F0-9978-AD647CAA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346915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2985F9-0E65-4C7D-9CF4-A4B5FB7479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45933753c4a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C05663B-9E8D-4969-ADD2-28829A38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53020E1-4EFB-47E8-BA01-DBF4A271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入队时保存原队首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EC259-F179-437C-B6CA-F4121CD0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68273-534F-48FB-88D0-39C07F0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6E54A3C-19D5-4270-A4E0-B31468D9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EnQueue(LinkQueue *Q, LinkNode *p)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(Q-&gt;rear == NULL)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Q-&gt;rear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p-&gt;next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①;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Q-&gt;rear-&gt;next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Q-&gt;rear =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6E400D2-8BFE-469F-997B-61FFBA8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47921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DD84C-D789-46E0-B950-19433DE897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e7dd87f9b4f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38958BB-2B11-4F2F-BC0A-F02630F2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E892BA5-D739-4736-903E-C4994D1A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入队完成后，回边从新尾d指向a</a:t>
            </a:r>
          </a:p>
        </p:txBody>
      </p:sp>
      <p:sp>
        <p:nvSpPr>
          <p:cNvPr id="4" name="Diagram node a">
            <a:extLst xmlns:a="http://schemas.openxmlformats.org/drawingml/2006/main">
              <a:ext uri="{FF2B5EF4-FFF2-40B4-BE49-F238E27FC236}">
                <a16:creationId xmlns:a16="http://schemas.microsoft.com/office/drawing/2014/main" id="{B5087BA2-7B57-4DD7-91E1-28DFE46D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2502694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" name="Diagram node b">
            <a:extLst xmlns:a="http://schemas.openxmlformats.org/drawingml/2006/main">
              <a:ext uri="{FF2B5EF4-FFF2-40B4-BE49-F238E27FC236}">
                <a16:creationId xmlns:a16="http://schemas.microsoft.com/office/drawing/2014/main" id="{7110A35E-B214-43DF-8E74-F708688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2502694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" name="Diagram node c">
            <a:extLst xmlns:a="http://schemas.openxmlformats.org/drawingml/2006/main">
              <a:ext uri="{FF2B5EF4-FFF2-40B4-BE49-F238E27FC236}">
                <a16:creationId xmlns:a16="http://schemas.microsoft.com/office/drawing/2014/main" id="{12D76947-FE6D-4965-9A5D-860889E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245" y="356473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7" name="Diagram node d">
            <a:extLst xmlns:a="http://schemas.openxmlformats.org/drawingml/2006/main">
              <a:ext uri="{FF2B5EF4-FFF2-40B4-BE49-F238E27FC236}">
                <a16:creationId xmlns:a16="http://schemas.microsoft.com/office/drawing/2014/main" id="{04A1A52A-EE8F-4798-B633-5553D694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05" y="3564731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C4CC2-DD33-4347-9E89-CFA815A4BE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54755" y="2740819"/>
            <a:ext cx="46824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46DFE-58C8-4A2A-B39F-F8CCDC1FD63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884920" y="2978944"/>
            <a:ext cx="0" cy="5857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83BD9-9F99-43EA-AFFE-14FF717ADB06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54755" y="3802856"/>
            <a:ext cx="468249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BA45E-F630-4620-A9B0-6C8EBC7ABA06}"/>
              </a:ext>
            </a:extLst>
          </p:cNvPr>
          <p:cNvCxnSpPr>
            <a:stCxn xmlns:a="http://schemas.openxmlformats.org/drawingml/2006/main" id="7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307080" y="2978944"/>
            <a:ext cx="0" cy="58578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08B"/>
            </a:solidFill>
            <a:tailEnd type="triangle" w="med" len="med"/>
          </a:ln>
        </p:spPr>
      </p:cxn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B01A227-20EB-4078-876C-62390446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205" y="2159794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队首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90A7296-CE77-446A-98FE-5A664AE6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3205" y="4094321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rear、p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EA2CF4A-89BC-481B-9D6B-1DF232A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顺序为p-&gt;next=旧队首，再接旧尾，最后更新rear。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2ED4A4B-46E4-4244-87DA-0AB593A2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rear改到d后，rear-&gt;next仍指队首a。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CDED6DB-5347-48ED-B9BA-3A2C3852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每一步只改固定个指针，不扫描整个队列。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98E884-65D9-4499-9690-4E01186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341740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06150-3D88-4A03-B31B-EE1F561AE3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64a293458477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76F28B7-3DDA-4A27-914E-F823334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D17034B-A3B6-4AED-AC89-DF015971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出队时区分一结点和多结点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96B84-D498-4059-92CF-0C509914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E154F-1B05-4EA8-8178-704E896A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8DF1F91-E8D5-4732-9B78-37BE0B1E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LinkNode *DeQueue(LinkQueue *Q)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(Q-&gt;rear == NULL) return NULL;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LinkNode *p = Q-&gt;rear-&gt;next;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(Q-&gt;rear == p)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②;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    Q-&gt;rear-&gt;next = p-&gt;next;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p;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514B7E1-7797-4C34-A520-F1C3B32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200911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3BD23-EA91-4945-98B2-D5C1DFB5B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0d43b0ce245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14C0C7F-BBEB-4C97-A62C-CF980DB9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6CB9C05-B97E-4408-AA48-0F793A8E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最后一个结点出队后，rear必须为空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05BD8-DD67-409E-8A27-FE9145C4C721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1943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8336"/>
                <a:gridCol w="3694053"/>
                <a:gridCol w="4281811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出队前状态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继续按多结点处理的后果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rear和p指同一结点e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rear=NULL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rear仍指向已出队的e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e-&gt;next=e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返回e，由调用者使用和释放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再次出队会重复返回e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重新入队新结点f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f-&gt;next=f，rear=f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若旧e已释放，还会访问悬空地址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28A3E0E-0EC7-4E9F-BF29-3EABDACD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115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用rear==p判断唯一结点，空队列只由rear=NULL表示。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D16F2C8-792D-4228-B3EF-CD6072FA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13710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3DC20-BBC5-4008-BDB5-5E17A35DC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da2cb8af042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F631A7F-2747-4795-80C1-C06F098A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8001843-0416-4D98-84DF-6174F0E3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沿操作序列检查状态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1A7D3-CB1D-4338-89F3-E37EDCB3F4FB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83589"/>
                <a:gridCol w="4474678"/>
                <a:gridCol w="2485932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队列逻辑次序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 a、入 b、入 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→ b → 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→ c，返回 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 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→ c → 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连续出 b、c、d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再次入 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只有 e，e-&gt;next=e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7882DCA-878A-4FF6-95FD-5BD6B6C0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628785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0DD2F-C6F9-41A9-839A-F1BE9028D1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23478995b48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3ACAA12-A9FE-4121-AAAE-28E141E9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76C2C01-CCFC-4E03-B76B-08466043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队列题的完整作答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A3A9A74-806A-4347-9FBB-CE002A56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① p-&gt;next = Q-&gt;rear-&gt;next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65FEB18-8B66-4AAE-B2AF-17759068D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② Q-&gt;rear = NULL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6CDF33A-B3CE-489D-98AC-724F3E14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每次入队、出队均为 O(1) 时间、O(1) 辅助空间。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D35D04A-93C8-4344-8603-57AB6C18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入队前结点必须独立；出队后由调用者管理其生命周期。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920499F-3A0A-411F-B300-1EB4563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591332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4F14B-E6D9-4C87-95AF-C804718F8F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c1c84f7ec46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960199C-5EE4-402F-9E04-ED4C763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76E7EB0-2722-402F-9EAD-B4090A87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循环队列题的作答依据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B813D2D-DD62-4353-BF0E-B86E8A95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非空入队先让新结点连原队首，再让原尾连新结点，最后更新rear。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5146CC9-EC70-40BC-960E-15171F25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出队先保存rear-&gt;next。若它就是rear，删除后将rear置空。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419D16E-9C9C-4ED9-B9DC-EB39F933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否则使尾结点越过旧队首，返回保存的结点。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CC329550-4B6C-4F54-8A01-B58A475A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操作只修改固定条连接，入队和出队各为O(1)。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AB0CD35-9D2B-402B-AED6-DC0B740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1215986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4EC08-BC06-4A7B-8DF5-B01E8E72DD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244a33a0243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C9A5391-8560-4494-BF1F-07420A70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15322D2-5A20-4551-B13F-88FD13E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2026 阅读题：两个栈共用一个数组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28D817C-ADFA-4DEE-8EB9-13C37757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数组有效下标 0…m−1，栈0向右增长，栈1向左增长。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BD7F34F-D10B-46D3-AECC-ECC68661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top[0] 初值 −1，top[1] 初值 m；top 指已入栈的栈顶。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EAF90F3-B823-4439-B618-A1E0B528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入栈失败返回 false；出栈成功通过引用 x 返回元素。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B3333F7-4D72-4999-8750-2368A524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补全判满、两侧入栈和两侧出栈的五处表达式。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B1F71A0-F252-4F96-A41D-DB6C2AA6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86819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58BA1-6064-4D62-9D91-1D411A3A42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0e21b24ec460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A0B1966-AC57-4418-A801-C7DD64C8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D1A189F-6E35-4DA6-863D-3B2EE9E2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从占用区间推导判满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03575-493F-4F27-9B49-80C6E9FAF014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6237"/>
                <a:gridCol w="4372587"/>
                <a:gridCol w="411537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占用范围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栈0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0…top[0]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top[0]+1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top[0]+1…top[1]−1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top[1]−top[0]−1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栈1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top[1]…m−1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m−top[1]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空位数为0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top[0]+1==top[1]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9A66D33-1134-4D14-A011-C5CB2C95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1387239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03A62-E53B-4AD4-A991-4CF966984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1feaca36346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B504B7D-1BFB-4AD7-8D70-E55038D4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2FABEFC-29AA-4B26-BD66-6A441BE8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共享栈的空闲格正好位于两个top之间</a:t>
            </a:r>
          </a:p>
        </p:txBody>
      </p:sp>
      <p:sp>
        <p:nvSpPr>
          <p:cNvPr id="4" name="Diagram node a0">
            <a:extLst xmlns:a="http://schemas.openxmlformats.org/drawingml/2006/main">
              <a:ext uri="{FF2B5EF4-FFF2-40B4-BE49-F238E27FC236}">
                <a16:creationId xmlns:a16="http://schemas.microsoft.com/office/drawing/2014/main" id="{9534B2E5-FEE2-46CA-A585-05FB4C5A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Diagram node a1">
            <a:extLst xmlns:a="http://schemas.openxmlformats.org/drawingml/2006/main">
              <a:ext uri="{FF2B5EF4-FFF2-40B4-BE49-F238E27FC236}">
                <a16:creationId xmlns:a16="http://schemas.microsoft.com/office/drawing/2014/main" id="{621D3B4B-677E-435C-A015-BDC2D9EE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18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Diagram node a2">
            <a:extLst xmlns:a="http://schemas.openxmlformats.org/drawingml/2006/main">
              <a:ext uri="{FF2B5EF4-FFF2-40B4-BE49-F238E27FC236}">
                <a16:creationId xmlns:a16="http://schemas.microsoft.com/office/drawing/2014/main" id="{3B3F6837-4BAB-413C-A5F0-DDB6BB57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61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空</a:t>
            </a:r>
          </a:p>
        </p:txBody>
      </p:sp>
      <p:sp>
        <p:nvSpPr>
          <p:cNvPr id="7" name="Diagram node a3">
            <a:extLst xmlns:a="http://schemas.openxmlformats.org/drawingml/2006/main">
              <a:ext uri="{FF2B5EF4-FFF2-40B4-BE49-F238E27FC236}">
                <a16:creationId xmlns:a16="http://schemas.microsoft.com/office/drawing/2014/main" id="{BB7E820A-DB63-4B9F-93D3-D09673A3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空</a:t>
            </a:r>
          </a:p>
        </p:txBody>
      </p:sp>
      <p:sp>
        <p:nvSpPr>
          <p:cNvPr id="8" name="Diagram node a4">
            <a:extLst xmlns:a="http://schemas.openxmlformats.org/drawingml/2006/main">
              <a:ext uri="{FF2B5EF4-FFF2-40B4-BE49-F238E27FC236}">
                <a16:creationId xmlns:a16="http://schemas.microsoft.com/office/drawing/2014/main" id="{E125C63D-6A9A-4BAC-8837-363E08EF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9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DEF9F3A0-C019-467B-ADFF-43AC4F1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00D0C03-DF40-4C35-9D7D-13A9C04E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565" y="377571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下标0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A75D52-D459-430B-9D2A-B7A9489D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607" y="2458784"/>
            <a:ext cx="10645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top[0]=1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9ADD6A9-6D1A-4A32-A903-E1F6A16D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413" y="377571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85E2828-8DF7-46AA-B02C-2E7C5850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837" y="377571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D36110F-DBAF-4C97-B712-87BFFB4D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879" y="2458784"/>
            <a:ext cx="10645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top[1]=4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94C08E4-5DFA-4E5A-A6AC-3ABDD1FC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685" y="3775710"/>
            <a:ext cx="1047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下标5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3623275-C308-4589-9A52-D2934C8E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m=6，两个栈占用下标0、1与4、5。</a:t>
            </a:r>
          </a:p>
        </p:txBody>
      </p:sp>
      <p:sp>
        <p:nvSpPr>
          <p:cNvPr id="1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F4C09C7-B3BF-4210-B90F-CD7FBE9D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空位数为4−1−1=2，下标2与3尚未占用。</a:t>
            </a:r>
          </a:p>
        </p:txBody>
      </p:sp>
      <p:sp>
        <p:nvSpPr>
          <p:cNvPr id="1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CCA5677-010F-43E7-B202-D2B113A8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任一栈均可继续使用中间空位，不固定各占一半。</a:t>
            </a:r>
          </a:p>
        </p:txBody>
      </p:sp>
      <p:sp>
        <p:nvSpPr>
          <p:cNvPr id="19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A1F0F54-5EBA-44DD-A980-BE073BD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397079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CB5F0-C717-42A4-B82A-1E484CE8F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aff6a15bc46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14763BE-8B72-4B52-AB7C-058E27FA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DCCE513-97FD-4EEE-9DB2-95FF9E8E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入栈与出栈的五个空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82622-DC0C-42EF-A19E-A0781168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A90FE-3660-45DC-8B3B-0BC27FDC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5454EFC-6B11-4A5F-B3DD-72F8470B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// Push：满时 return false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(①)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(i == 0) S.data[②] = x;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else S.data[③] = x;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// Pop：空时 return false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(S.top[i] == S.bot[i])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if (i == 0) x = S.data[④];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else x = S.data[⑤];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C4BFF55-C056-401A-A60F-3BBB4CAF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1029728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90806-A47A-46EF-85DE-BB2E14DB3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9e2bf9ac64c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6E5A082-95E0-4D82-949E-9F002360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87BCEC6-47B2-49A9-A3D0-915A7CF7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前置与后置运算由一次操作推导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3D668-4E09-4845-9874-1E6C062DD9A6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6702"/>
                <a:gridCol w="2546741"/>
                <a:gridCol w="2546741"/>
                <a:gridCol w="3474016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先做什么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再做什么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左入栈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top0加1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在新top0写x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data[++top0]=x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右入栈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top1减1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在新top1写x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data[--top1]=x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左出栈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读旧top0给x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top0减1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x=data[top0--]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右出栈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读旧top1给x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top1加1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x=data[top1++]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F266266-598A-468D-8F55-C24CFFF7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2594"/>
            <a:ext cx="10744200" cy="44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前提：入栈已通过判满，出栈已通过本栈判空。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69E761C-5CDA-4EC2-A55C-B32CCC7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428762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FE65F-32C3-4B5B-A871-0714AFD1C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4ec09b7d247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89D7E735-F287-4A3C-BB02-AEDEF437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1E0ADF5-CE76-44F1-9ED2-2207CADB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容量为6的混合操作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DDD0D-A9F6-4051-8D00-86BFD4355AD5}"/>
              </a:ext>
            </a:extLst>
          </p:cNvPr>
          <p:cNvGraphicFramePr/>
          <p:nvPr/>
        </p:nvGraphicFramePr>
        <p:xfrm>
          <a:off xmlns:a="http://schemas.openxmlformats.org/drawingml/2006/main" x="723900" y="1943100"/>
          <a:ext xmlns:a="http://schemas.openxmlformats.org/drawingml/2006/main" cx="107442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71203"/>
                <a:gridCol w="1741926"/>
                <a:gridCol w="1741926"/>
                <a:gridCol w="2989145"/>
              </a:tblGrid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top[0]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top[1]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1">
                          <a:solidFill>
                            <a:srgbClr val="1F4E9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EDF3F8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Push0(10)、Push0(20)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左侧为10,20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Push1(90)、Push1(80)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右侧自栈顶为80,90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Pop0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x=20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Push1(70)、Push0(30)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还剩下标2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Push1(60)，再Push0(40)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sz="18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60成功，40失败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B2A34C4-7C0B-4752-A792-AD5F9B3E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7055682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C16F2-C04D-4FFC-93E1-19E2CA9F5B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cedcfbecb40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3B6EF06D-EB4F-4943-B4CA-314B030F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1205B0C-AC16-4CB9-A2D7-C35266DE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满状态下失败入栈不改变两个top</a:t>
            </a:r>
          </a:p>
        </p:txBody>
      </p:sp>
      <p:sp>
        <p:nvSpPr>
          <p:cNvPr id="4" name="Diagram node a0">
            <a:extLst xmlns:a="http://schemas.openxmlformats.org/drawingml/2006/main">
              <a:ext uri="{FF2B5EF4-FFF2-40B4-BE49-F238E27FC236}">
                <a16:creationId xmlns:a16="http://schemas.microsoft.com/office/drawing/2014/main" id="{4CCE2051-C804-4B72-BE64-EB02972F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76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Diagram node a1">
            <a:extLst xmlns:a="http://schemas.openxmlformats.org/drawingml/2006/main">
              <a:ext uri="{FF2B5EF4-FFF2-40B4-BE49-F238E27FC236}">
                <a16:creationId xmlns:a16="http://schemas.microsoft.com/office/drawing/2014/main" id="{2BA09B5E-4301-4785-87B5-BB48D7A0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189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Diagram node a2">
            <a:extLst xmlns:a="http://schemas.openxmlformats.org/drawingml/2006/main">
              <a:ext uri="{FF2B5EF4-FFF2-40B4-BE49-F238E27FC236}">
                <a16:creationId xmlns:a16="http://schemas.microsoft.com/office/drawing/2014/main" id="{802A1CAC-35F5-4C86-9006-AD9F550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613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16193">
            <a:solidFill>
              <a:srgbClr val="1F4E9C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7" name="Diagram node a3">
            <a:extLst xmlns:a="http://schemas.openxmlformats.org/drawingml/2006/main">
              <a:ext uri="{FF2B5EF4-FFF2-40B4-BE49-F238E27FC236}">
                <a16:creationId xmlns:a16="http://schemas.microsoft.com/office/drawing/2014/main" id="{734F890A-6A20-4628-A7A4-B3DE292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8" name="Diagram node a4">
            <a:extLst xmlns:a="http://schemas.openxmlformats.org/drawingml/2006/main">
              <a:ext uri="{FF2B5EF4-FFF2-40B4-BE49-F238E27FC236}">
                <a16:creationId xmlns:a16="http://schemas.microsoft.com/office/drawing/2014/main" id="{8678F3AF-22FA-40CE-9398-CAD77780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9" name="Diagram node a5">
            <a:extLst xmlns:a="http://schemas.openxmlformats.org/drawingml/2006/main">
              <a:ext uri="{FF2B5EF4-FFF2-40B4-BE49-F238E27FC236}">
                <a16:creationId xmlns:a16="http://schemas.microsoft.com/office/drawing/2014/main" id="{DE76804C-ED7A-498F-AF70-A41378DC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3033713"/>
            <a:ext cx="895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2329"/>
            </a:solidFill>
          </a:ln>
        </p:spPr>
        <p:txBody>
          <a:bodyPr xmlns:a="http://schemas.openxmlformats.org/drawingml/2006/main" wrap="none" lIns="19050" tIns="19050" rIns="19050" bIns="1905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10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3A3B4A-CE40-4993-8A0A-320C74DC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715" y="2458784"/>
            <a:ext cx="10645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top[0]=1</a:t>
            </a:r>
          </a:p>
        </p:txBody>
      </p:sp>
      <p:sp>
        <p:nvSpPr>
          <p:cNvPr id="11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C37C873-57D3-4A75-A08F-ADB47A7C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887" y="3818192"/>
            <a:ext cx="106451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top[1]=2</a:t>
            </a:r>
          </a:p>
        </p:txBody>
      </p:sp>
      <p:sp>
        <p:nvSpPr>
          <p:cNvPr id="1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47CFC59-B894-4BFC-AD23-B92E7653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811" y="2458784"/>
            <a:ext cx="157857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Push0(40)失败</a:t>
            </a:r>
          </a:p>
        </p:txBody>
      </p:sp>
      <p:sp>
        <p:nvSpPr>
          <p:cNvPr id="13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12E1C48-07D8-4CC3-8FB6-65C7ABD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744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混合操作中Push1(60)成功后，所有6格均已占用。</a:t>
            </a:r>
          </a:p>
        </p:txBody>
      </p:sp>
      <p:sp>
        <p:nvSpPr>
          <p:cNvPr id="1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5DB38C0-1391-4B38-A809-B49D1D6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1+1==2，判满成立，直接返回false。</a:t>
            </a:r>
          </a:p>
        </p:txBody>
      </p:sp>
      <p:sp>
        <p:nvSpPr>
          <p:cNvPr id="1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6C93DC6-718C-49BE-8B0D-7877E459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1074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1800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失败前后top均不变，40没有覆盖60。</a:t>
            </a:r>
          </a:p>
        </p:txBody>
      </p:sp>
      <p:sp>
        <p:nvSpPr>
          <p:cNvPr id="1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F03D65D5-B012-4054-AF14-DC649B19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1817798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E3CAA-EFF8-4FE1-A198-0484241AA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0bcab69914d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0C9E977-C606-4DF5-AF13-49E48426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4AE655B8-FC8E-4FFE-8443-D1DF79B7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共享栈的结构和初始化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FCB20-DAE5-426B-A59E-B621126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277F3-84A4-4B53-8545-8F983577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57955E2-8F62-4C28-B941-C02E6C3F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581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const int CAP = 100;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struct TwStack { int data[CAP], top[2], bot[2], m; };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void InitStack(TwStack &amp;S, int m)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S.m = m;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S.bot[0] = S.top[0] = -1;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S.bot[1] = S.top[1] = m;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D1B85D1-BB1D-4BA3-8795-6A9B3E9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149864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EA07A-2E42-47AF-B99C-FE3E78432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27fb8e96246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68A9F68-7477-498A-9C23-C307A1BD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698E264-519C-48B7-8E07-B4FD83A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共享栈操作答案（1/2）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3F5C8-D824-40A5-B415-524A81F1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A4AB6-6032-4DF4-A239-8971A5FA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D77777F6-C04D-4350-A530-D0C135B5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Push(TwStack &amp;S, int i, int x)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(S.top[0] + 1 == S.top[1])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(i == 0) S.data[++S.top[0]] = x;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else S.data[--S.top[1]] = x;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CA7C47D-9D37-4AA9-97AE-9A053E5E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533862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5689F-9925-4350-A856-89C01C7DB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df90cecf845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27BF994-940F-4D2A-A155-E63D84CD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答案代码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1C12D092-90DF-4EE2-B983-C8712847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共享栈操作答案（2/2）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00103-DB39-454D-8631-8B0F4DA8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DE70A-12E6-4760-9C6C-A8FA3BEB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81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9C"/>
          </a:solidFill>
          <a:ln xmlns:a="http://schemas.openxmlformats.org/drawingml/2006/main" w="0">
            <a:noFill/>
          </a:ln>
        </p:spPr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46FF83A-F607-48D5-A4D6-B157E5EC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102870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defPPr>
            <a:lvl1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1pPr>
            <a:lvl2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2pPr>
            <a:lvl3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3pPr>
            <a:lvl4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4pPr>
            <a:lvl5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5pPr>
            <a:lvl6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6pPr>
            <a:lvl7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7pPr>
            <a:lvl8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8pPr>
            <a:lvl9pPr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bool Pop(TwStack &amp;S, int i, int &amp;x) {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(S.top[i] == S.bot[i]) return false;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if (i == 0) x = S.data[S.top[0]--];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else x = S.data[S.top[1]++];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950">
                <a:solidFill>
                  <a:srgbClr val="1F2329"/>
                </a:solidFill>
                <a:latin typeface="Consolas"/>
                <a:ea typeface="Consolas"/>
                <a:cs typeface="Consolas"/>
              </a:defRPr>
            </a:pPr>
            <a:r>
              <a:rPr sz="1950">
                <a:solidFill>
                  <a:srgbClr val="1F2329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676CEE-167C-43D6-8196-0FAC30C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050638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C3E1C-D26E-4C9A-B724-63B66E9C0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43ec6e98a49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26CE107-38A5-4BF7-B6AE-F6F45DB8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B解题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77834F6-9BA7-43D2-A171-196AF6D3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单次操作与整段操作序列的复杂度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06BF413F-D9EE-4E0E-B3F4-3A4CD2E2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Push和Pop各只做固定次判断与读写，单次时间O(1)。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3D3B8AD-2C39-464E-B673-396ABE1E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连续执行r次操作，总时间O(r)，失败操作也有常数开销。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A1927516-8D4D-4224-8F6A-0BD030E3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data是栈的存储结构。单次操作只用固定临时变量，辅助空间O(1)。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BA7A048-4CA0-439D-ADB4-15BFA09A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出栈成功才使用x。失败调用不会产生一个新的输出元素。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CEAF98A-6A26-4AC3-B274-6537EE3C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93147939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47502-1F5D-46B7-BB8B-42EC5F1DB1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3ca65d7d74c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4FF6C6F-79D9-4F26-8FBE-952EC609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解题过程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44CD5C3-95DD-4945-A486-4163AD79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课堂检查：输出和操作次数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173A92E-1234-45A5-81B5-F4F157B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m=4，初始化后执行：Push0(1)、Push1(9)、Push0(2)、Pop1。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E3F6453A-2427-415E-9007-9EC3C23B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接着执行：Push1(8)、Push1(7)、Push0(3)、Pop0、Pop1。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9A8200E3-43A2-4ADE-B361-2B82CB4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按顺序写出三次成功出栈的 x 值。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539CCC7B-0F87-4323-92A0-43F6BE70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9006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统计成功入栈次数和失败入栈次数。</a:t>
            </a:r>
          </a:p>
        </p:txBody>
      </p:sp>
      <p:sp>
        <p:nvSpPr>
          <p:cNvPr id="8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64E00E32-EF8D-43CC-864F-4420E087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01750703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C4987-3D4E-4AF5-8829-0EF6B29ABA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84f74288d4c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438FE174-4923-4C00-BB6C-F4C60769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10744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F4E9C"/>
                </a:solidFill>
                <a:latin typeface="Microsoft YaHei"/>
                <a:ea typeface="Microsoft YaHei"/>
                <a:cs typeface="Microsoft YaHei"/>
              </a:rPr>
              <a:t>检查答案</a:t>
            </a:r>
          </a:p>
        </p:txBody>
      </p:sp>
      <p:sp>
        <p:nvSpPr>
          <p:cNvPr id="3" name="Slide title">
            <a:extLst xmlns:a="http://schemas.openxmlformats.org/drawingml/2006/main">
              <a:ext uri="{FF2B5EF4-FFF2-40B4-BE49-F238E27FC236}">
                <a16:creationId xmlns:a16="http://schemas.microsoft.com/office/drawing/2014/main" id="{E00FEA40-23D6-4996-ABE9-2DE40584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5000"/>
              </a:lnSpc>
              <a:buNone/>
              <a:def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rPr>
              <a:t>课堂检查参考</a:t>
            </a:r>
          </a:p>
        </p:txBody>
      </p:sp>
      <p:sp>
        <p:nvSpPr>
          <p:cNvPr id="4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BE82E06A-4A27-4D24-B309-E5714DD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三次出栈值依次为 9、2、7。</a:t>
            </a:r>
          </a:p>
        </p:txBody>
      </p:sp>
      <p:sp>
        <p:nvSpPr>
          <p:cNvPr id="5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22B751BB-C9B1-4ED8-A66A-CAA69425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5069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成功入栈5次，失败入栈1次；失败的是 Push0(3)。</a:t>
            </a:r>
          </a:p>
        </p:txBody>
      </p:sp>
      <p:sp>
        <p:nvSpPr>
          <p:cNvPr id="6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1AF5C24E-1D64-4A11-B2FE-71BA3D7E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7038"/>
            <a:ext cx="10744200" cy="511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0"/>
              </a:spcAft>
              <a:buChar char="•"/>
              <a:defRPr sz="2025">
                <a:solidFill>
                  <a:srgbClr val="1F2329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最后左栈为 [1]，右栈从底到顶为 [8]。</a:t>
            </a:r>
          </a:p>
        </p:txBody>
      </p:sp>
      <p:sp>
        <p:nvSpPr>
          <p:cNvPr id="7" name="Teaching text">
            <a:extLst xmlns:a="http://schemas.openxmlformats.org/drawingml/2006/main">
              <a:ext uri="{FF2B5EF4-FFF2-40B4-BE49-F238E27FC236}">
                <a16:creationId xmlns:a16="http://schemas.microsoft.com/office/drawing/2014/main" id="{779CDE9D-AFC3-47E6-973D-AC89BE5A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1531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7580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88987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2026-10-27T10:00:19.1310000Z</dcterms:created>
  <dcterms:modified xsi:type="dcterms:W3CDTF">2026-10-27T10:00:19.1310000Z</dcterms:modified>
</coreProperties>
</file>