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5032ca156425f" /><Relationship Type="http://schemas.openxmlformats.org/officeDocument/2006/relationships/extended-properties" Target="/docProps/app.xml" Id="R628e6cc044304c4f" /><Relationship Type="http://schemas.openxmlformats.org/officeDocument/2006/relationships/officeDocument" Target="/ppt/presentation.xml" Id="R5caf47eb5dd1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2a8024d6e84911"/>
  </p:sldMasterIdLst>
  <p:notesMasterIdLst>
    <p:notesMasterId xmlns:r="http://schemas.openxmlformats.org/officeDocument/2006/relationships" r:id="Rf287803e56f14731"/>
  </p:notesMasterIdLst>
  <p:sldIdLst>
    <p:sldId xmlns:r="http://schemas.openxmlformats.org/officeDocument/2006/relationships" id="256" r:id="R58b0ff27660149eb"/>
    <p:sldId xmlns:r="http://schemas.openxmlformats.org/officeDocument/2006/relationships" id="257" r:id="R7efa96301155428e"/>
    <p:sldId xmlns:r="http://schemas.openxmlformats.org/officeDocument/2006/relationships" id="258" r:id="R481a24e74aa64781"/>
    <p:sldId xmlns:r="http://schemas.openxmlformats.org/officeDocument/2006/relationships" id="259" r:id="R7b94e4afcd2e403b"/>
    <p:sldId xmlns:r="http://schemas.openxmlformats.org/officeDocument/2006/relationships" id="260" r:id="Ra9ec4d829fe74572"/>
    <p:sldId xmlns:r="http://schemas.openxmlformats.org/officeDocument/2006/relationships" id="261" r:id="R6c7798b37679426c"/>
    <p:sldId xmlns:r="http://schemas.openxmlformats.org/officeDocument/2006/relationships" id="262" r:id="R44147de66dd94add"/>
    <p:sldId xmlns:r="http://schemas.openxmlformats.org/officeDocument/2006/relationships" id="263" r:id="Rae5e7579e79b4689"/>
    <p:sldId xmlns:r="http://schemas.openxmlformats.org/officeDocument/2006/relationships" id="264" r:id="R12b2c0ea018d4a83"/>
    <p:sldId xmlns:r="http://schemas.openxmlformats.org/officeDocument/2006/relationships" id="265" r:id="Rf0cdf39f803d43a7"/>
    <p:sldId xmlns:r="http://schemas.openxmlformats.org/officeDocument/2006/relationships" id="266" r:id="R322ed910b2bc4e67"/>
    <p:sldId xmlns:r="http://schemas.openxmlformats.org/officeDocument/2006/relationships" id="267" r:id="Rbb0132e5ccf948f7"/>
    <p:sldId xmlns:r="http://schemas.openxmlformats.org/officeDocument/2006/relationships" id="268" r:id="R2c158d2bd2634498"/>
    <p:sldId xmlns:r="http://schemas.openxmlformats.org/officeDocument/2006/relationships" id="269" r:id="Rf6dac77888c7436a"/>
    <p:sldId xmlns:r="http://schemas.openxmlformats.org/officeDocument/2006/relationships" id="270" r:id="R9a26120887574830"/>
    <p:sldId xmlns:r="http://schemas.openxmlformats.org/officeDocument/2006/relationships" id="271" r:id="R8500481dcf924761"/>
    <p:sldId xmlns:r="http://schemas.openxmlformats.org/officeDocument/2006/relationships" id="272" r:id="R8f617e02bcf84e30"/>
    <p:sldId xmlns:r="http://schemas.openxmlformats.org/officeDocument/2006/relationships" id="273" r:id="R364aef8182c84425"/>
    <p:sldId xmlns:r="http://schemas.openxmlformats.org/officeDocument/2006/relationships" id="274" r:id="Rf2eb89d47cde4de7"/>
    <p:sldId xmlns:r="http://schemas.openxmlformats.org/officeDocument/2006/relationships" id="275" r:id="R42f909427524478b"/>
    <p:sldId xmlns:r="http://schemas.openxmlformats.org/officeDocument/2006/relationships" id="276" r:id="R9e1c0d7ca7fd4b07"/>
    <p:sldId xmlns:r="http://schemas.openxmlformats.org/officeDocument/2006/relationships" id="277" r:id="Rf1f5f67858a7454c"/>
    <p:sldId xmlns:r="http://schemas.openxmlformats.org/officeDocument/2006/relationships" id="278" r:id="R110f1b9810674eac"/>
    <p:sldId xmlns:r="http://schemas.openxmlformats.org/officeDocument/2006/relationships" id="279" r:id="R958b9b38a7714193"/>
    <p:sldId xmlns:r="http://schemas.openxmlformats.org/officeDocument/2006/relationships" id="280" r:id="R50066cf5683648ce"/>
    <p:sldId xmlns:r="http://schemas.openxmlformats.org/officeDocument/2006/relationships" id="281" r:id="R6115cd8877784576"/>
    <p:sldId xmlns:r="http://schemas.openxmlformats.org/officeDocument/2006/relationships" id="282" r:id="R0207ba1a1db14cbf"/>
    <p:sldId xmlns:r="http://schemas.openxmlformats.org/officeDocument/2006/relationships" id="283" r:id="R31c3fd345a6449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4bef78337f472b" /><Relationship Type="http://schemas.openxmlformats.org/officeDocument/2006/relationships/slideMaster" Target="/ppt/slideMasters/slideMaster1.xml" Id="R8c2a8024d6e84911" /><Relationship Type="http://schemas.openxmlformats.org/officeDocument/2006/relationships/notesMaster" Target="/ppt/notesMasters/notesMaster1.xml" Id="Rf287803e56f14731" /><Relationship Type="http://schemas.openxmlformats.org/officeDocument/2006/relationships/presProps" Target="/ppt/presProps.xml" Id="Rad009260e6064346" /><Relationship Type="http://schemas.openxmlformats.org/officeDocument/2006/relationships/tableStyles" Target="/ppt/tableStyles.xml" Id="R137858bbf4f847c0" /><Relationship Type="http://schemas.openxmlformats.org/officeDocument/2006/relationships/slide" Target="/ppt/slides/slide1.xml" Id="R58b0ff27660149eb" /><Relationship Type="http://schemas.openxmlformats.org/officeDocument/2006/relationships/slide" Target="/ppt/slides/slide2.xml" Id="R7efa96301155428e" /><Relationship Type="http://schemas.openxmlformats.org/officeDocument/2006/relationships/slide" Target="/ppt/slides/slide3.xml" Id="R481a24e74aa64781" /><Relationship Type="http://schemas.openxmlformats.org/officeDocument/2006/relationships/slide" Target="/ppt/slides/slide4.xml" Id="R7b94e4afcd2e403b" /><Relationship Type="http://schemas.openxmlformats.org/officeDocument/2006/relationships/slide" Target="/ppt/slides/slide5.xml" Id="Ra9ec4d829fe74572" /><Relationship Type="http://schemas.openxmlformats.org/officeDocument/2006/relationships/slide" Target="/ppt/slides/slide6.xml" Id="R6c7798b37679426c" /><Relationship Type="http://schemas.openxmlformats.org/officeDocument/2006/relationships/slide" Target="/ppt/slides/slide7.xml" Id="R44147de66dd94add" /><Relationship Type="http://schemas.openxmlformats.org/officeDocument/2006/relationships/slide" Target="/ppt/slides/slide8.xml" Id="Rae5e7579e79b4689" /><Relationship Type="http://schemas.openxmlformats.org/officeDocument/2006/relationships/slide" Target="/ppt/slides/slide9.xml" Id="R12b2c0ea018d4a83" /><Relationship Type="http://schemas.openxmlformats.org/officeDocument/2006/relationships/slide" Target="/ppt/slides/slide10.xml" Id="Rf0cdf39f803d43a7" /><Relationship Type="http://schemas.openxmlformats.org/officeDocument/2006/relationships/slide" Target="/ppt/slides/slide11.xml" Id="R322ed910b2bc4e67" /><Relationship Type="http://schemas.openxmlformats.org/officeDocument/2006/relationships/slide" Target="/ppt/slides/slide12.xml" Id="Rbb0132e5ccf948f7" /><Relationship Type="http://schemas.openxmlformats.org/officeDocument/2006/relationships/slide" Target="/ppt/slides/slide13.xml" Id="R2c158d2bd2634498" /><Relationship Type="http://schemas.openxmlformats.org/officeDocument/2006/relationships/slide" Target="/ppt/slides/slide14.xml" Id="Rf6dac77888c7436a" /><Relationship Type="http://schemas.openxmlformats.org/officeDocument/2006/relationships/slide" Target="/ppt/slides/slide15.xml" Id="R9a26120887574830" /><Relationship Type="http://schemas.openxmlformats.org/officeDocument/2006/relationships/slide" Target="/ppt/slides/slide16.xml" Id="R8500481dcf924761" /><Relationship Type="http://schemas.openxmlformats.org/officeDocument/2006/relationships/slide" Target="/ppt/slides/slide17.xml" Id="R8f617e02bcf84e30" /><Relationship Type="http://schemas.openxmlformats.org/officeDocument/2006/relationships/slide" Target="/ppt/slides/slide18.xml" Id="R364aef8182c84425" /><Relationship Type="http://schemas.openxmlformats.org/officeDocument/2006/relationships/slide" Target="/ppt/slides/slide19.xml" Id="Rf2eb89d47cde4de7" /><Relationship Type="http://schemas.openxmlformats.org/officeDocument/2006/relationships/slide" Target="/ppt/slides/slide20.xml" Id="R42f909427524478b" /><Relationship Type="http://schemas.openxmlformats.org/officeDocument/2006/relationships/slide" Target="/ppt/slides/slide21.xml" Id="R9e1c0d7ca7fd4b07" /><Relationship Type="http://schemas.openxmlformats.org/officeDocument/2006/relationships/slide" Target="/ppt/slides/slide22.xml" Id="Rf1f5f67858a7454c" /><Relationship Type="http://schemas.openxmlformats.org/officeDocument/2006/relationships/slide" Target="/ppt/slides/slide23.xml" Id="R110f1b9810674eac" /><Relationship Type="http://schemas.openxmlformats.org/officeDocument/2006/relationships/slide" Target="/ppt/slides/slide24.xml" Id="R958b9b38a7714193" /><Relationship Type="http://schemas.openxmlformats.org/officeDocument/2006/relationships/slide" Target="/ppt/slides/slide25.xml" Id="R50066cf5683648ce" /><Relationship Type="http://schemas.openxmlformats.org/officeDocument/2006/relationships/slide" Target="/ppt/slides/slide26.xml" Id="R6115cd8877784576" /><Relationship Type="http://schemas.openxmlformats.org/officeDocument/2006/relationships/slide" Target="/ppt/slides/slide27.xml" Id="R0207ba1a1db14cbf" /><Relationship Type="http://schemas.openxmlformats.org/officeDocument/2006/relationships/slide" Target="/ppt/slides/slide28.xml" Id="R31c3fd345a64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96119db2744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a1fa4f6c4440c5" /><Relationship Type="http://schemas.openxmlformats.org/officeDocument/2006/relationships/notesMaster" Target="/ppt/notesMasters/notesMaster1.xml" Id="Ra4ffee9db90e45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92edd635b245b9" /><Relationship Type="http://schemas.openxmlformats.org/officeDocument/2006/relationships/notesMaster" Target="/ppt/notesMasters/notesMaster1.xml" Id="Re65cb968cefd4f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cbafe7fc3740cc" /><Relationship Type="http://schemas.openxmlformats.org/officeDocument/2006/relationships/notesMaster" Target="/ppt/notesMasters/notesMaster1.xml" Id="R34c3c2b8d58742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58c14aef464648" /><Relationship Type="http://schemas.openxmlformats.org/officeDocument/2006/relationships/notesMaster" Target="/ppt/notesMasters/notesMaster1.xml" Id="R0373b37e3e69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4d13abe5d04c4e" /><Relationship Type="http://schemas.openxmlformats.org/officeDocument/2006/relationships/notesMaster" Target="/ppt/notesMasters/notesMaster1.xml" Id="R5490d762ffc3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d54e7ab3c4f14" /><Relationship Type="http://schemas.openxmlformats.org/officeDocument/2006/relationships/notesMaster" Target="/ppt/notesMasters/notesMaster1.xml" Id="R0cfb9f3ed6f34e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b254a905c849b4" /><Relationship Type="http://schemas.openxmlformats.org/officeDocument/2006/relationships/notesMaster" Target="/ppt/notesMasters/notesMaster1.xml" Id="R48a5e87613dc4a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baac756b964c15" /><Relationship Type="http://schemas.openxmlformats.org/officeDocument/2006/relationships/notesMaster" Target="/ppt/notesMasters/notesMaster1.xml" Id="R8e184282119543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7f6e3671fe477f" /><Relationship Type="http://schemas.openxmlformats.org/officeDocument/2006/relationships/notesMaster" Target="/ppt/notesMasters/notesMaster1.xml" Id="R2c1dfb536fa742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ff6060422c4b02" /><Relationship Type="http://schemas.openxmlformats.org/officeDocument/2006/relationships/notesMaster" Target="/ppt/notesMasters/notesMaster1.xml" Id="R4e55a516b2d744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bcd51924114095" /><Relationship Type="http://schemas.openxmlformats.org/officeDocument/2006/relationships/notesMaster" Target="/ppt/notesMasters/notesMaster1.xml" Id="Rb409fad17daa44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4ef978261148c2" /><Relationship Type="http://schemas.openxmlformats.org/officeDocument/2006/relationships/notesMaster" Target="/ppt/notesMasters/notesMaster1.xml" Id="R40f086e064704a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b7db51873b4e50" /><Relationship Type="http://schemas.openxmlformats.org/officeDocument/2006/relationships/notesMaster" Target="/ppt/notesMasters/notesMaster1.xml" Id="Rfb3573e137834c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a9ce905ca74fce" /><Relationship Type="http://schemas.openxmlformats.org/officeDocument/2006/relationships/notesMaster" Target="/ppt/notesMasters/notesMaster1.xml" Id="R3aa3e784ca2940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cccff28dd94232" /><Relationship Type="http://schemas.openxmlformats.org/officeDocument/2006/relationships/notesMaster" Target="/ppt/notesMasters/notesMaster1.xml" Id="Rddb85be7534a4e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91ffc0d01947d4" /><Relationship Type="http://schemas.openxmlformats.org/officeDocument/2006/relationships/notesMaster" Target="/ppt/notesMasters/notesMaster1.xml" Id="R51745bea50f24c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71e1ab70ce4ba4" /><Relationship Type="http://schemas.openxmlformats.org/officeDocument/2006/relationships/notesMaster" Target="/ppt/notesMasters/notesMaster1.xml" Id="Rd628ddf9a7de45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5ee7ab41b84b64" /><Relationship Type="http://schemas.openxmlformats.org/officeDocument/2006/relationships/notesMaster" Target="/ppt/notesMasters/notesMaster1.xml" Id="R2c06d569897947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76d7e44c144e26" /><Relationship Type="http://schemas.openxmlformats.org/officeDocument/2006/relationships/notesMaster" Target="/ppt/notesMasters/notesMaster1.xml" Id="R70ad958c351b40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c6c2656bd34fef" /><Relationship Type="http://schemas.openxmlformats.org/officeDocument/2006/relationships/notesMaster" Target="/ppt/notesMasters/notesMaster1.xml" Id="Ra6bc63bc15c44e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9d59dc7da34b59" /><Relationship Type="http://schemas.openxmlformats.org/officeDocument/2006/relationships/notesMaster" Target="/ppt/notesMasters/notesMaster1.xml" Id="Rb3daeedec61241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7e7b2fe5af4261" /><Relationship Type="http://schemas.openxmlformats.org/officeDocument/2006/relationships/notesMaster" Target="/ppt/notesMasters/notesMaster1.xml" Id="R9808daf519a644f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60df191d9a4733" /><Relationship Type="http://schemas.openxmlformats.org/officeDocument/2006/relationships/notesMaster" Target="/ppt/notesMasters/notesMaster1.xml" Id="R9be7f2d80c444c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fff0a102964f37" /><Relationship Type="http://schemas.openxmlformats.org/officeDocument/2006/relationships/notesMaster" Target="/ppt/notesMasters/notesMaster1.xml" Id="R391d8760c42d43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11da130083d44c6" /><Relationship Type="http://schemas.openxmlformats.org/officeDocument/2006/relationships/notesMaster" Target="/ppt/notesMasters/notesMaster1.xml" Id="Re360f27dfbf946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45d15353c1f4a9c" /><Relationship Type="http://schemas.openxmlformats.org/officeDocument/2006/relationships/notesMaster" Target="/ppt/notesMasters/notesMaster1.xml" Id="R88c207948362460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619f7d8ca44bf0" /><Relationship Type="http://schemas.openxmlformats.org/officeDocument/2006/relationships/notesMaster" Target="/ppt/notesMasters/notesMaster1.xml" Id="Rd605baf6f5b14e0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f6b45fe84b04dfa" /><Relationship Type="http://schemas.openxmlformats.org/officeDocument/2006/relationships/notesMaster" Target="/ppt/notesMasters/notesMaster1.xml" Id="R24bf9eb3090b45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大家好，我是牙膏学长。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这节课把两个还没有完整讲过的内容补齐：有环链表怎样找到环入口，以及怎样按题目要求找中点、三分之一点。找中点以前用过，这次要把起点、步长和取整关系说清楚。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冲刺补缺部分集中补两类尚未完整讲过的算法思想。进入讲题部分后，会把题目条件、选法、过程、代码和复杂度连起来看。这里的分值只说明代码题在现行卷面中的位置，不表示算法必须写成固定长度。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这节课默认大家会走链表、判断空指针和保存后继。把纸上的结点按位序编号，记录指针指向的结点。指针名相同不代表方法相同：一个先走 k 步再同步走，与一快一慢交替推进，所保持的关系完全不同。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请先看每一行保持什么关系。固定间距法中，两指针开始可以相差 k 个结点，随后同速，间距不会变。找分点靠速度比例，快指针结束时慢指针才到某个位序。有环链表中也用速度差，但终止事件变成两指针相遇，随后还要再找入口。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这三行是选法条件，不能只看到“两指针”便套同一个循环。尤其是倒数第 k 的 k 表示固定间距，分点中的 k 表示步长比例。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本节带头结点，传入的 L 指向头结点；算法从 first，也就是 L 的 next 开始。头结点不在环中。如果没有环，沿 next 最终到 NULL；有环时，尾部的 next 指向某个已经经过的数据结点，这个结点就是入口。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例子中从 1 出发先到 2，再到 3，后续一直绕 3、4、5、6、7。入口是 3，不是最后一结点 7，也不是两指针将来第一次相遇的地方。我们比较结点地址，数据相等不表示同一结点。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这三个结点都存7，但next最终指向NULL，因此一定无环。若把比较条件改成slow-&gt;data==fast-&gt;data，第一轮slow在v、fast在w，程序会错误报告相遇。地址比较能够区分这两个结点。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再看另一个独立错误：两指针都从u初始化，如果移动前就判断slow==fast，即使u的后继为空也会返回有环。让学生指出两个反例分别约束比较对象和比较时机，随后再读检测函数。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两指针都从 first 出发，开始相等毫无意义。因此要进入循环、移动之后再比较。fast 每轮走两步，必须同时保证 fast 和 fast 的 next 都存在。短路求值会先检查左边，前面为假便不会访问后面的字段。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循环结束有两种原因：快指针遇到 NULL，说明这条链没有环；或者走过之后 slow 等于 fast，说明到达同一个结点。下面把检测部分单独作为函数，后面找入口时会调用它。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让学生先在纸上标出前两轮，再显示后面三轮。箭头到 7 后回到 3，不回到 1。第三轮 fast 到 7，第四轮从 7 经过 3 到 4，第五轮再到 6，slow 同时到 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【停顿】第一次相遇在 6，而题目要求入口 3。此时可以确认有环，但还不能返回 6。记住这两个结果是不同任务，接下来要利用相遇形成的路程关系。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让学生沿图分别数5条边和10条边。快指针多走的5条边正好是一圈，这为下一页的路程关系提供了一个可以检查的实例。图中的结点号只是名称，不参与运算；不能把“6减1”等数字运算当作路程。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【停顿】要求学生指出两指针共同经过的入口3，以及实际相遇点6。此处只确认有环，完整题目还要求给出入口。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当慢指针还没有进入环时，不用计算相对位置。等它进入环，两个指针都在长度固定的环上。每轮快指针比慢指针多走一步，相对间隔按环长循环变化，所以至多再走一个环长的轮数就会相遇。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假设入口前有 a 条边，环长为 c，检测阶段所走轮数是 O(a+c)。只存两个指针，所以额外空间 O(1)。这里依赖快走两步、慢走一步，不能随意改成任意速度然后沿用同样的找入口步骤。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把从 first 到入口的距离记为 a，入口顺 next 到相遇点的距离记为 b，环长记为 c。慢指针到相遇时可能绕过完整的环，所以它的总路程要写成 a 加 b 加若干圈，不能默认没有绕圈。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快指针路程是慢指针的两倍，两者路程之差就是慢指针走过的路程，同时必须是环长的整数倍。由此得到 a 加 b 是 c 的整数倍。这表示从相遇点再走 a 步，会到达入口；从 first 走 a 步也刚好到入口。因此放一个指针回 first，两者同速前进，第一次相遇就是入口。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公式说明走a步后会在入口重合，还需要解释为什么返回的第一次重合就是入口。p尚未到入口时一直在非环部分，q始终在环中，两部分没有相同结点，所以不可能提前重合。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本例a=2、b=3、c=5，p和q两步后同时到3。若入口就是首元，则a=0，复位时已经相等，第二段循环应允许执行零次。让学生把这一情况对应到while(p!=meet)，不要为了“至少走一步”改成do-while。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回到刚才七个结点的例子。相遇点为 6，把 p 放回 first，也就是 1，q 仍在 6。两者同走一步到 2 和 7，再走一步都到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 a 等于 2，b 等于 3，a 加 b 正好等于环长 5。在入口前，p 指向的结点尚不在环里，而 q 一直在环上，所以不可能提前相等。这个事实说明找到的是入口，而不只是某个环内结点。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 返回 NULL 时直接报告无环。返回相遇点后，让 p 从首个数据结点出发，让 meet 原地保留；两者同步前进，返回相等的指针。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这个函数不改任何结点的 next，不需要先断开环。若入口本身就是 first，检测阶段相遇位置也在 first，第二个 while 一次都不用执行，直接返回正确结点。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写成这样的思想段：“从第一个数据结点同时出发，快指针每次移动两步，慢指针移动一步。若快指针或其后继为空，返回NULL；若二者相遇，将其中一个复位到首元，另一个保留在相遇点，再同步每次移动一步，首次相等处就是环入口。相遇时快慢路程之差为整圈，故首元到入口的距离与入口到相遇点的距离之和是环长的整数倍，因此上述同步移动成立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这段话交代检测、无环、复位和依据。代码承担具体边界判断，不需要在思想段重复所有变量赋值。题目只问程序填空时，按空号填写即可，不必额外抄这一整段。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检测阶段在进入环前花费与a同阶的轮数，两者都在环上后，相对距离每次减少一格，至多再走c轮。第二阶段至多a轮。两阶段顺序执行，所以时间相加，不相乘。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若用n表示链表中不同的数据结点数，有环时n=a+c，因此可以写时间O(n)、辅助空间O(1)。环会反复经过某些结点，但两指针在有限轮数内相遇，不能因此说“有环就无限循环”。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让学生先说每个输入会在哪一行结束。空表进入 Meet 后 fast 为空，直接返回。一个结点、next 为 NULL 时，fast 的 next 为空，不进入循环。一个结点自己指向自己时，第一轮移动后两指针仍指它，确定有环，入口就是它。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有多个结点且 data 都一样，也必须继续比较地址。若误用 data 相等，普通无环链表就可能被误判成环。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“三分之一点”本身还不够精确。长度不是 3 的倍数时，必须说明取第几个数据结点。本节选向上取整：第 ceil(n 除以 k) 个，位序从 1 开始。ceil 只是向上取整的记号，不要求学生背新概念。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 8 个结点找三分之一点，返回第 3 个；6 个结点返回第 2 个。中点取向上取整时，偶数长度返回前中点。题目如果指定后中点或向下取整，要先改目标位序，不能直接复制本函数。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slow 和 fast 都从第一个数据结点开始。fast 每次消耗最多 k 个结点；如果消耗后还有下一组，slow 才前进一步。这样 slow 的位序就是当前组的编号，最后一组不足 k 个也算一组。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这种写法不需要预先求长度。关键是 slow 的前进时机：先让 fast 处理完一组，再看 fast 是否还有结点。若最后一组结束后仍让 slow 前进，会多走一个结点。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链表是 1 到 8，再到 NULL。快指针第一组经过 1、2、3 后指向 4，此时确实有下一组，slow 从 1 到 2。第二组结束 fast 指向 7，slow 到 3。第三组只剩 7、8，fast 到 NULL，slow 保持在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【停顿】如果把慢指针移动放到每组开头，最后会在哪里？它会走到第 4 个，多了一步。这一页重点不是记数值，而是看“还有下一组”与 slow 前进的对应关系。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图固定在第二组处理完成的瞬间：fast指7，slow指第3个结点。这两个位置之所以不同，是因为fast负责数每组k个，slow只负责记录组数。不能把slow也放到第三组的起点7。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【停顿】让学生预测接下来两次fast=fast-&gt;next的结果。经过7和8后fast为空，第三组完成，但没有第四组，因此slow不再前进，最终返回第3个。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这一页只做函数入口。无环是调用条件，不在函数里额外做一遍环检测；若未知是否有环，调用者先用前面的检测函数处理。k 小于 1 没有合法的分组意义，直接返回 NULL。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slow 和 fast 都从 L 的 next 开始，不把头结点计入长度。后面的循环接在这一段之后。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内层 for 最多执行 k 次，但 fast 到 NULL 就停止。每个数据结点只被 fast 消耗一次，所以内外循环不是 n 乘 k。外层最多处理向上取整的 n 除以 k 组，slow 只在还有下一组时移动。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最后返回 slow。计时应看所有内层循环合起来的步数：fast 一共走 n 次 next，slow 最多走 n 减 1 次，总时间 O(n)，额外空间 O(1)。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先不给表中最后一列，让学生在一个结点上跑错误版本：fast一组后到NULL，若无条件执行slow=slow-&gt;next，直接丢掉唯一正确结点。这比拿长链试运行更容易看出错误。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对非空链，设共有g组，slow初始位序为1，只应再移动g−1次。原代码的if(fast!=NULL)恰好判断下一组是否存在。这个条件既负责向上取整，也负责避免多走一步，不是随手补的空指针判断。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思想段可以写：“从首元设置fast和slow。fast每轮最多向后走k步，最后不足k步时遇空停止；若一轮后fast非空，说明还有下一组，slow向后移动一步。slow初始位于第一个数据结点，因此最后位序等于总组数，即向上取整的n/k，返回slow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复杂度单独数真实推进次数。内层看起来有k次，外层也在循环，但所有内层合计只有n次next访问，即使k大于n也会提前遇空退出。取整约定和无环条件要与题面一致。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先让学生填最后一列，再核对表格。k 等于 1 时每个结点自成一组，最后 slow 到尾结点。k 大于 n 时所有结点只有一组，返回第一个结点。n 等于 0 没有第 0 个数据结点，所以返回 NULL。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如果题目要求 floor(n 除以 k)，最直接可靠的做法是先数长度，再按要求的目标位序走第二遍，仍是 O(n) 时间与 O(1) 空间。目标为 0 时怎样处理必须由题目说明。单趟不是所有题目的必要要求。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只留两个短检查，不再重新做一整张长链。第一问检查大家是否能从连接画出入口；第二问检查取整变化。第二问已经明确不要求单趟，就可以先求长度再定位，不必为了保留快慢指针写一个难以验证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参考答案在后两页，先独立写出结果和理由再看。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不口播。第一问首次相遇点为 D，入口为 C。两指针从 A 出发，依次是(B,C)、(C,E)、(D,D)。复位后(A,D)、(B,E)、(C,C)。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不口播。第二问统计长度后，整除 3 得到目标位序；位序为 0 返回 NULL，否则从首元走 target−1 步。时间 O(n)，额外空间 O(1)。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418c3a02d44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f059bd39a43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792d0cba24b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c13fb00904f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e3ac47e014a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0f5b842b640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5D05F9-1AB0-41DF-95C5-06A0C142D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032A1A-99D3-437A-B8BE-B82C3C03F0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138020-0E64-41B8-B69B-9C3021A8F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D1F746-E937-448E-9A90-97F6B262D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7A2F49-5C95-482B-BFF7-A3A4D8B7E7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FD313E-7C7E-4A49-BFCB-2C27438400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77EC1F-5807-4546-AC89-625B70533D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4D73B3-CDF5-4734-BB83-748C9F4955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BC3504-C0B0-4E63-919D-C1478927C9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286B90-F75F-4141-8561-2C128680B2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ed61737d4d4ca4" /><Relationship Type="http://schemas.openxmlformats.org/officeDocument/2006/relationships/slideLayout" Target="/ppt/slideLayouts/slideLayout1.xml" Id="R96f35beb2fc74c5e" /><Relationship Type="http://schemas.openxmlformats.org/officeDocument/2006/relationships/slideLayout" Target="/ppt/slideLayouts/slideLayout2.xml" Id="R83c78558dd0b41f1" /><Relationship Type="http://schemas.openxmlformats.org/officeDocument/2006/relationships/slideLayout" Target="/ppt/slideLayouts/slideLayout3.xml" Id="Rf12aeb9ab671496f" /><Relationship Type="http://schemas.openxmlformats.org/officeDocument/2006/relationships/slideLayout" Target="/ppt/slideLayouts/slideLayout4.xml" Id="R569993036e6940b0" /><Relationship Type="http://schemas.openxmlformats.org/officeDocument/2006/relationships/slideLayout" Target="/ppt/slideLayouts/slideLayout5.xml" Id="Rbb06cf02dd784433" /><Relationship Type="http://schemas.openxmlformats.org/officeDocument/2006/relationships/slideLayout" Target="/ppt/slideLayouts/slideLayout6.xml" Id="R6131edc2be6743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f35beb2fc74c5e"/>
    <p:sldLayoutId xmlns:r="http://schemas.openxmlformats.org/officeDocument/2006/relationships" id="2147483650" r:id="R83c78558dd0b41f1"/>
    <p:sldLayoutId xmlns:r="http://schemas.openxmlformats.org/officeDocument/2006/relationships" id="2147483651" r:id="Rf12aeb9ab671496f"/>
    <p:sldLayoutId xmlns:r="http://schemas.openxmlformats.org/officeDocument/2006/relationships" id="2147483652" r:id="R569993036e6940b0"/>
    <p:sldLayoutId xmlns:r="http://schemas.openxmlformats.org/officeDocument/2006/relationships" id="2147483653" r:id="Rbb06cf02dd784433"/>
    <p:sldLayoutId xmlns:r="http://schemas.openxmlformats.org/officeDocument/2006/relationships" id="2147483654" r:id="R6131edc2be6743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58a5b7ad6478f" /><Relationship Type="http://schemas.openxmlformats.org/officeDocument/2006/relationships/image" Target="/ppt/media/image.jpeg" Id="Rf542039b06da44c4" /><Relationship Type="http://schemas.openxmlformats.org/officeDocument/2006/relationships/notesSlide" Target="/ppt/notesSlides/notesSlide1.xml" Id="R186a3fa8d25e43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beab14c3b54d51" /><Relationship Type="http://schemas.openxmlformats.org/officeDocument/2006/relationships/image" Target="/ppt/media/image2.jpeg" Id="R8f3d49f6b71b47f6" /><Relationship Type="http://schemas.openxmlformats.org/officeDocument/2006/relationships/notesSlide" Target="/ppt/notesSlides/notesSlide2.xml" Id="R77c2d09769df41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4cc5e3c7e4321" /><Relationship Type="http://schemas.openxmlformats.org/officeDocument/2006/relationships/image" Target="/ppt/media/image3.jpeg" Id="Rb230d632282a4927" /><Relationship Type="http://schemas.openxmlformats.org/officeDocument/2006/relationships/notesSlide" Target="/ppt/notesSlides/notesSlide3.xml" Id="Rd5adbd95714747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b5c1f82604936" /><Relationship Type="http://schemas.openxmlformats.org/officeDocument/2006/relationships/image" Target="/ppt/media/image4.jpeg" Id="R0f5d1dce9f6648dd" /><Relationship Type="http://schemas.openxmlformats.org/officeDocument/2006/relationships/notesSlide" Target="/ppt/notesSlides/notesSlide4.xml" Id="Rd6a434fca6ec42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a0a8a31c645fd" /><Relationship Type="http://schemas.openxmlformats.org/officeDocument/2006/relationships/image" Target="/ppt/media/image5.jpeg" Id="Rb21526cfa1af4681" /><Relationship Type="http://schemas.openxmlformats.org/officeDocument/2006/relationships/notesSlide" Target="/ppt/notesSlides/notesSlide5.xml" Id="R12b788cae6af4d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258a194d34891" /><Relationship Type="http://schemas.openxmlformats.org/officeDocument/2006/relationships/image" Target="/ppt/media/image6.jpeg" Id="R32ca84de73cb4cb3" /><Relationship Type="http://schemas.openxmlformats.org/officeDocument/2006/relationships/notesSlide" Target="/ppt/notesSlides/notesSlide6.xml" Id="R0521ace319704f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e1eaab3f748ae" /><Relationship Type="http://schemas.openxmlformats.org/officeDocument/2006/relationships/image" Target="/ppt/media/image7.jpeg" Id="R3f3689e502dd48e3" /><Relationship Type="http://schemas.openxmlformats.org/officeDocument/2006/relationships/notesSlide" Target="/ppt/notesSlides/notesSlide7.xml" Id="Rfb9adee5a659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f911fab994c23" /><Relationship Type="http://schemas.openxmlformats.org/officeDocument/2006/relationships/image" Target="/ppt/media/image8.jpeg" Id="R7256c82b1fec43d3" /><Relationship Type="http://schemas.openxmlformats.org/officeDocument/2006/relationships/notesSlide" Target="/ppt/notesSlides/notesSlide8.xml" Id="R027885ed7a184d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2205cb47641a6" /><Relationship Type="http://schemas.openxmlformats.org/officeDocument/2006/relationships/image" Target="/ppt/media/image9.jpeg" Id="R799976ee56284db5" /><Relationship Type="http://schemas.openxmlformats.org/officeDocument/2006/relationships/notesSlide" Target="/ppt/notesSlides/notesSlide9.xml" Id="R8114ebce3c1b4f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7f3ea313d4d68" /><Relationship Type="http://schemas.openxmlformats.org/officeDocument/2006/relationships/image" Target="/ppt/media/image10.jpeg" Id="R1df4532ff3184269" /><Relationship Type="http://schemas.openxmlformats.org/officeDocument/2006/relationships/notesSlide" Target="/ppt/notesSlides/notesSlide10.xml" Id="Rbebf4abb5ca141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a146376f94d68" /><Relationship Type="http://schemas.openxmlformats.org/officeDocument/2006/relationships/image" Target="/ppt/media/image11.jpeg" Id="R3a2b0920c8434f24" /><Relationship Type="http://schemas.openxmlformats.org/officeDocument/2006/relationships/notesSlide" Target="/ppt/notesSlides/notesSlide11.xml" Id="R85efb29cc42e46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148b34ca84a3e" /><Relationship Type="http://schemas.openxmlformats.org/officeDocument/2006/relationships/image" Target="/ppt/media/image12.jpeg" Id="Rd2f546a2b4534692" /><Relationship Type="http://schemas.openxmlformats.org/officeDocument/2006/relationships/notesSlide" Target="/ppt/notesSlides/notesSlide12.xml" Id="R29360394153d4b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9380695974dcc" /><Relationship Type="http://schemas.openxmlformats.org/officeDocument/2006/relationships/image" Target="/ppt/media/image13.jpeg" Id="R4f4ebe85a8154e85" /><Relationship Type="http://schemas.openxmlformats.org/officeDocument/2006/relationships/notesSlide" Target="/ppt/notesSlides/notesSlide13.xml" Id="Rbff6f03b185245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c36d0e7d444ac" /><Relationship Type="http://schemas.openxmlformats.org/officeDocument/2006/relationships/image" Target="/ppt/media/image14.jpeg" Id="Rcc8962bf06394989" /><Relationship Type="http://schemas.openxmlformats.org/officeDocument/2006/relationships/notesSlide" Target="/ppt/notesSlides/notesSlide14.xml" Id="R372a5255478d4b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7f5e622014cc3" /><Relationship Type="http://schemas.openxmlformats.org/officeDocument/2006/relationships/image" Target="/ppt/media/image15.jpeg" Id="Ra2da5fdc0b64482a" /><Relationship Type="http://schemas.openxmlformats.org/officeDocument/2006/relationships/notesSlide" Target="/ppt/notesSlides/notesSlide15.xml" Id="Red7f683b2bbd49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5a647b5b940e5" /><Relationship Type="http://schemas.openxmlformats.org/officeDocument/2006/relationships/image" Target="/ppt/media/image16.jpeg" Id="Rb6fd37ec3fe245dc" /><Relationship Type="http://schemas.openxmlformats.org/officeDocument/2006/relationships/notesSlide" Target="/ppt/notesSlides/notesSlide16.xml" Id="Rb19c0d0e68154e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c3a28a1cd46dd" /><Relationship Type="http://schemas.openxmlformats.org/officeDocument/2006/relationships/image" Target="/ppt/media/image17.jpeg" Id="Rde834bddf798438a" /><Relationship Type="http://schemas.openxmlformats.org/officeDocument/2006/relationships/notesSlide" Target="/ppt/notesSlides/notesSlide17.xml" Id="Ra8856e9038da40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067b62f93408e" /><Relationship Type="http://schemas.openxmlformats.org/officeDocument/2006/relationships/image" Target="/ppt/media/image18.jpeg" Id="R25e5ca24ed654d69" /><Relationship Type="http://schemas.openxmlformats.org/officeDocument/2006/relationships/notesSlide" Target="/ppt/notesSlides/notesSlide18.xml" Id="R6fc337f5ff2946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599068ba44edb" /><Relationship Type="http://schemas.openxmlformats.org/officeDocument/2006/relationships/image" Target="/ppt/media/image19.jpeg" Id="R3a6b423bdf584f74" /><Relationship Type="http://schemas.openxmlformats.org/officeDocument/2006/relationships/notesSlide" Target="/ppt/notesSlides/notesSlide19.xml" Id="Rdcff2a739c6b4d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4dd375d0b4789" /><Relationship Type="http://schemas.openxmlformats.org/officeDocument/2006/relationships/image" Target="/ppt/media/image20.jpeg" Id="Rc7f59c2bfb4e4e7c" /><Relationship Type="http://schemas.openxmlformats.org/officeDocument/2006/relationships/notesSlide" Target="/ppt/notesSlides/notesSlide20.xml" Id="Ra390b8446bb84f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9bd9e27ba4a18" /><Relationship Type="http://schemas.openxmlformats.org/officeDocument/2006/relationships/image" Target="/ppt/media/image21.jpeg" Id="R060afdb26b8144aa" /><Relationship Type="http://schemas.openxmlformats.org/officeDocument/2006/relationships/notesSlide" Target="/ppt/notesSlides/notesSlide21.xml" Id="Ra95678691d954c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5948c3f3646cd" /><Relationship Type="http://schemas.openxmlformats.org/officeDocument/2006/relationships/image" Target="/ppt/media/image22.jpeg" Id="R266a54650bdf4300" /><Relationship Type="http://schemas.openxmlformats.org/officeDocument/2006/relationships/notesSlide" Target="/ppt/notesSlides/notesSlide22.xml" Id="R1b8a101abc974a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251375712472a" /><Relationship Type="http://schemas.openxmlformats.org/officeDocument/2006/relationships/image" Target="/ppt/media/image23.jpeg" Id="R2b1d2ea2afaf4a37" /><Relationship Type="http://schemas.openxmlformats.org/officeDocument/2006/relationships/notesSlide" Target="/ppt/notesSlides/notesSlide23.xml" Id="Re2a7051ce072400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ba653fe0d48c4" /><Relationship Type="http://schemas.openxmlformats.org/officeDocument/2006/relationships/image" Target="/ppt/media/image24.jpeg" Id="R218ab30be91d443e" /><Relationship Type="http://schemas.openxmlformats.org/officeDocument/2006/relationships/notesSlide" Target="/ppt/notesSlides/notesSlide24.xml" Id="Rbf9843ce035d44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788c651814944" /><Relationship Type="http://schemas.openxmlformats.org/officeDocument/2006/relationships/image" Target="/ppt/media/image25.jpeg" Id="R66af4f943dd14eb9" /><Relationship Type="http://schemas.openxmlformats.org/officeDocument/2006/relationships/notesSlide" Target="/ppt/notesSlides/notesSlide25.xml" Id="Raa643172f6a54f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c1db036ae4f1d" /><Relationship Type="http://schemas.openxmlformats.org/officeDocument/2006/relationships/image" Target="/ppt/media/image26.jpeg" Id="R299c781812494db6" /><Relationship Type="http://schemas.openxmlformats.org/officeDocument/2006/relationships/notesSlide" Target="/ppt/notesSlides/notesSlide26.xml" Id="Rb15aec5dd0364e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26b17c8ca4570" /><Relationship Type="http://schemas.openxmlformats.org/officeDocument/2006/relationships/image" Target="/ppt/media/image27.jpeg" Id="Re3e6ac6cdc2c4612" /><Relationship Type="http://schemas.openxmlformats.org/officeDocument/2006/relationships/notesSlide" Target="/ppt/notesSlides/notesSlide27.xml" Id="R1a6992bdd13249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adace50594d31" /><Relationship Type="http://schemas.openxmlformats.org/officeDocument/2006/relationships/image" Target="/ppt/media/image28.jpeg" Id="R3f1b3bf200464ff2" /><Relationship Type="http://schemas.openxmlformats.org/officeDocument/2006/relationships/notesSlide" Target="/ppt/notesSlides/notesSlide28.xml" Id="Rbb3bcb92c64046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2F479-9B14-4CA4-985C-A7854822F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2039b06da44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2E8586A-92B5-4AB0-8524-0461B375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21F08D6-3127-408E-AB19-B5DA050A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快慢指针的环入口与分点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133E74C-15AC-41AC-94FD-E473261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冲刺补缺第1节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2A7DEC-F393-46EB-844A-C3EF663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阶段：冲刺补缺 ｜ 主讲：牙膏学长 ｜ 预计49分钟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C7245D5-7F17-451E-AA5A-923A33D4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32295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F30B9-CF42-497B-89EE-2925E4683B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d49f6b71b47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0A3081C-5608-4B51-8670-CB9E2F9D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7628655-1499-4AF1-8E71-4734B90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冲刺阶段先补缺，再讲完整题目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F39EF-060F-499C-BD6E-5529FBF2A089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8143"/>
                <a:gridCol w="8186057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补缺课程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环入口、分点、辅助信息与数组指针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讲题课程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程序阅读与算法设计的完整解题过程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B334F04-6E61-467F-9FDB-01AF7B83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918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程序阅读20分，算法设计与分析30分；既要读状态，也要写完整解法。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E08E217-15A5-4310-97BE-CAC4A18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已学前置：链表遍历、空指针判断、固定间距找倒数第k。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6F43116-ACE5-4DDC-95A4-1C7FD81D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548520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31EE-0031-4887-9781-CD9EB1B5E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0d632282a49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4448ADD-6C85-4ED4-9BF8-F3421D88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27BD986-9567-4C88-AA4E-53C623D0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先区分三种双指针的关系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D2360-21EE-403B-998A-48FA8AFFB915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4334"/>
                <a:gridCol w="4960171"/>
                <a:gridCol w="3499695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指针如何走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何时停止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倒数第k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先拉开间距，再同速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前面的指针走到尾部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长度的1/k位置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快指针每组k步，慢指针相应前进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快指针走到尾部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慢指针1步，快指针2步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相遇，或快指针到NULL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8268943-9601-4E2D-AABF-2BD66395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91639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E75B9-4103-4414-811D-2490513C8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d1dce9f6648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E59C13D-F6FB-4A53-8DA5-B4F78DAD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5E95E71-4959-400B-BDDB-B97D3AC1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有环链表的入口是什么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96E9317-B769-4923-9444-E419DA6D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带头结点L；first=L-&gt;next；头结点不属于环。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99B05D3-5CB0-4C12-B24C-8B7CDE09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示例连接：1 → 2 → 3 → 4 → 5 → 6 → 7 → 3。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B99F724-0A8C-4CAB-AFCF-5D10E741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入口是3；入口前有2条边，环长为5。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9701038-E8B2-4DD1-92ED-ADA9661F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返回入口结点的指针；无环或空表返回NULL。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FD10C65-5CBF-4774-860A-20D17E63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495735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6A962-F5A6-442F-9316-F5D6EB7EAA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526cfa1af46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3994644-737E-453E-A3AE-92D63AE2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CDD1C12-CA4B-4C09-9B65-FB00794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数据相同的三个结点仍然可以无环</a:t>
            </a:r>
          </a:p>
        </p:txBody>
      </p:sp>
      <p:sp>
        <p:nvSpPr>
          <p:cNvPr id="4" name="Diagram node u">
            <a:extLst xmlns:a="http://schemas.openxmlformats.org/drawingml/2006/main">
              <a:ext uri="{FF2B5EF4-FFF2-40B4-BE49-F238E27FC236}">
                <a16:creationId xmlns:a16="http://schemas.microsoft.com/office/drawing/2014/main" id="{934343F1-3959-4BF4-92A8-9243651D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58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Diagram node v">
            <a:extLst xmlns:a="http://schemas.openxmlformats.org/drawingml/2006/main">
              <a:ext uri="{FF2B5EF4-FFF2-40B4-BE49-F238E27FC236}">
                <a16:creationId xmlns:a16="http://schemas.microsoft.com/office/drawing/2014/main" id="{332EEB47-BBC0-468C-9E90-222FFC3D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Diagram node w">
            <a:extLst xmlns:a="http://schemas.openxmlformats.org/drawingml/2006/main">
              <a:ext uri="{FF2B5EF4-FFF2-40B4-BE49-F238E27FC236}">
                <a16:creationId xmlns:a16="http://schemas.microsoft.com/office/drawing/2014/main" id="{64DC94AC-F5DD-4403-AD85-4820AB6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Diagram node nil">
            <a:extLst xmlns:a="http://schemas.openxmlformats.org/drawingml/2006/main">
              <a:ext uri="{FF2B5EF4-FFF2-40B4-BE49-F238E27FC236}">
                <a16:creationId xmlns:a16="http://schemas.microsoft.com/office/drawing/2014/main" id="{A209C849-660A-4474-823A-1A164B2A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NULL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8426B-6B62-47B5-8DBA-537E85CDFB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89935" y="3271838"/>
            <a:ext cx="18935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05CFF-580C-47CD-9192-FD9445AB0D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78855" y="3271838"/>
            <a:ext cx="18935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6F1D9-9601-497D-A222-785AD89DBC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67775" y="3271838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B4AC7D4-D02D-4213-B6A2-C6E258D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" y="250126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地址u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DD29D01-357B-4732-912D-38BB9D6A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250126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地址v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7C5093D-3DDD-45CC-A2AE-947D468F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0126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地址w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3680393-73E5-4FD3-936B-96057635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三个data相等，三个结点地址不同。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DC26033-CAC7-462D-A903-CE5931AF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判断相遇使用slow==fast。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A910AD-ECB1-4BBE-96A5-C54CDF4C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从首元开始立即比较也会误判，必须先移动。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010124C-41A9-4338-8564-853C804D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781022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8B29F-3CCF-4461-9E53-F260A8236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a84de73cb4c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93265EE-7509-4FC9-BBDE-131D73C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6AE6BF6-B370-4E32-88C6-CD7F11D5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检测环时，两指针先移动再比较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53E06-8F56-4665-BEEA-0415579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B5FF7-718C-41F3-A799-8E4E0562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DA77774-FADD-4FEA-B5B0-0F16CBB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LNode *Meet(LNode *first){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LNode *slow=first, *fast=first;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while(fast!=NULL &amp;&amp; fast-&gt;next!=NULL){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slow=slow-&gt;next;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fast=fast-&gt;next-&gt;next;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if(slow==fast) return slow;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NULL;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C426FFE-801A-4944-BD6A-CB389B8F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40148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00E65-8B59-42E7-8327-B5DFB6E8E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689e502dd48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1BCBBE6-4537-477C-9D07-A457E66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过程推演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DD60D78-97C8-4159-88A4-03BD227A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逐轮跟踪第一次相遇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F1B4A-090B-4D92-BC14-32F86F4AE113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0289"/>
                <a:gridCol w="3450289"/>
                <a:gridCol w="3843622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移动轮数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6，首次相遇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75A4271-8C45-46DD-AC56-53D68E0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810550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21A6E-4A44-4893-AF14-B9CF12196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6c82b1fec43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34CE5B-CA2D-4796-BBB2-C369536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049C2D5-3470-49A1-8E5B-6DF8BED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第五轮两指针在6相遇</a:t>
            </a:r>
          </a:p>
        </p:txBody>
      </p:sp>
      <p:sp>
        <p:nvSpPr>
          <p:cNvPr id="4" name="Diagram node n1">
            <a:extLst xmlns:a="http://schemas.openxmlformats.org/drawingml/2006/main">
              <a:ext uri="{FF2B5EF4-FFF2-40B4-BE49-F238E27FC236}">
                <a16:creationId xmlns:a16="http://schemas.microsoft.com/office/drawing/2014/main" id="{F5B87F62-FFBF-43AB-B4DC-CF36CEAA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37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Diagram node n2">
            <a:extLst xmlns:a="http://schemas.openxmlformats.org/drawingml/2006/main">
              <a:ext uri="{FF2B5EF4-FFF2-40B4-BE49-F238E27FC236}">
                <a16:creationId xmlns:a16="http://schemas.microsoft.com/office/drawing/2014/main" id="{3F1815D0-12A9-4689-94E8-E8874AE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45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n3">
            <a:extLst xmlns:a="http://schemas.openxmlformats.org/drawingml/2006/main">
              <a:ext uri="{FF2B5EF4-FFF2-40B4-BE49-F238E27FC236}">
                <a16:creationId xmlns:a16="http://schemas.microsoft.com/office/drawing/2014/main" id="{2CD1E310-AB6B-4718-A8B4-60855DE4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253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Diagram node n4">
            <a:extLst xmlns:a="http://schemas.openxmlformats.org/drawingml/2006/main">
              <a:ext uri="{FF2B5EF4-FFF2-40B4-BE49-F238E27FC236}">
                <a16:creationId xmlns:a16="http://schemas.microsoft.com/office/drawing/2014/main" id="{EF2BFBE8-3217-42BA-9A42-27E3A302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7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Diagram node n5">
            <a:extLst xmlns:a="http://schemas.openxmlformats.org/drawingml/2006/main">
              <a:ext uri="{FF2B5EF4-FFF2-40B4-BE49-F238E27FC236}">
                <a16:creationId xmlns:a16="http://schemas.microsoft.com/office/drawing/2014/main" id="{314B79F5-ED2B-4A46-B559-D624397E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7" y="321859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Diagram node n6">
            <a:extLst xmlns:a="http://schemas.openxmlformats.org/drawingml/2006/main">
              <a:ext uri="{FF2B5EF4-FFF2-40B4-BE49-F238E27FC236}">
                <a16:creationId xmlns:a16="http://schemas.microsoft.com/office/drawing/2014/main" id="{F85576FE-E393-4D2F-B74D-4A99C31E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7" y="390086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Diagram node n7">
            <a:extLst xmlns:a="http://schemas.openxmlformats.org/drawingml/2006/main">
              <a:ext uri="{FF2B5EF4-FFF2-40B4-BE49-F238E27FC236}">
                <a16:creationId xmlns:a16="http://schemas.microsoft.com/office/drawing/2014/main" id="{52A34CF3-02D5-41F4-BC5B-145FF2B3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253" y="390086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4942-CC20-4E18-97B3-9A09D601CEB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9187" y="2774442"/>
            <a:ext cx="114985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8B1E1-3D10-4371-8CC7-6D658755CC1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84395" y="2774442"/>
            <a:ext cx="114985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B36B2-2973-4B76-8A9B-53E3092344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29603" y="2774442"/>
            <a:ext cx="152171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FF103-C3C4-402C-9321-651F0228F18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698992" y="3012567"/>
            <a:ext cx="0" cy="20602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D90D6-486A-41AE-98A5-889E4387C7C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698992" y="3694843"/>
            <a:ext cx="0" cy="206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3963F-7FB8-4413-9E5D-FC283F6A2C91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729603" y="4138993"/>
            <a:ext cx="152171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C66B2-1857-41A0-BFCE-4FB753B49B73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281928" y="3012567"/>
            <a:ext cx="0" cy="88830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B8ECB62-D468-418B-B33E-0B32714E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637" y="219341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first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E9C0762-8EF2-4281-A7E0-C9342D46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053" y="219341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7E50C19-595D-4D2A-92F8-C5D1EDE6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726" y="4443794"/>
            <a:ext cx="12105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slow、fast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FBA17C6-1229-4EF6-909E-3E3EC20B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从首元走了5步，slow到6，fast走了10步也到6。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BA7F601-9ED9-4CBA-BA8D-8D58493F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入口是3，直接返回相遇点6没有完成题目。</a:t>
            </a:r>
          </a:p>
        </p:txBody>
      </p:sp>
      <p:sp>
        <p:nvSpPr>
          <p:cNvPr id="2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9EC390D-7A86-46A8-8A1B-5343CE68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214156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58CBE-B080-41F0-BCBD-DCE40A239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976ee56284d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4118186-78FB-45F3-9AA0-ADC8F5BB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5D77DEC-FAAC-4D81-A6FA-EE18E083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为什么有环就一定能相遇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0D00BC6-35EC-457E-A276-663E2C5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两指针都进入环后，每轮的相对位移增加1。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8129B0-C445-4284-8CE5-CB6CB48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环长为c，至多再经过c轮便会相遇。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FDD2AA7-1B5F-458A-B5E4-6EDF2473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入口前a条边：检测时间O(a+c)，额外空间O(1)。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4ED8B63-F937-4E68-AA91-FA565D2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比较的是指针地址，不是结点的data。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18C9C97-520A-452A-AADB-A2A8C39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29284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98867-2F9A-4749-9F04-50E24258AA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4532ff31842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CDF5C69-A60C-43D7-90EA-739EB6F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3FF9DFD-6C2A-4887-BF90-5BE4334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相遇后，入口由路程关系确定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4F6BD25-3E7F-4429-A832-C44563ED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a：first到入口的距离；b：入口到相遇点的环上距离；c：环长。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125C013-2178-4D2E-BF31-2EB73271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设慢指针共走T步：T=a+b+q·c；快指针走2T步。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245A20D-F3F9-4DC6-A213-8BB82E02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相遇时两者相差整圈：2T−T=m·c，因此a+b是c的整数倍。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A62D602-FC53-43F9-B185-837BFEA1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一个指针回first，另一个留在相遇点；二者都每次走1步。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D5E4B1B-68E3-4A51-BEB9-9C576CE5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从first走a步到入口；从相遇点走a步也到入口。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70311F-395B-4D2D-930F-E95DAABA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03681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8A29C-70CC-4015-BBCC-6767A23A8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b0920c8434f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1833F13-F668-4A34-99D2-199C0744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07D123E-162A-4799-B824-C2142F6A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复位后不会在入口之前相遇</a:t>
            </a:r>
          </a:p>
        </p:txBody>
      </p:sp>
      <p:sp>
        <p:nvSpPr>
          <p:cNvPr id="4" name="Diagram node n1">
            <a:extLst xmlns:a="http://schemas.openxmlformats.org/drawingml/2006/main">
              <a:ext uri="{FF2B5EF4-FFF2-40B4-BE49-F238E27FC236}">
                <a16:creationId xmlns:a16="http://schemas.microsoft.com/office/drawing/2014/main" id="{71B45BC5-8854-4221-BDFC-5AC0424B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37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Diagram node n2">
            <a:extLst xmlns:a="http://schemas.openxmlformats.org/drawingml/2006/main">
              <a:ext uri="{FF2B5EF4-FFF2-40B4-BE49-F238E27FC236}">
                <a16:creationId xmlns:a16="http://schemas.microsoft.com/office/drawing/2014/main" id="{4F880A8F-EB6C-405B-935B-DCF1F79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045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n3">
            <a:extLst xmlns:a="http://schemas.openxmlformats.org/drawingml/2006/main">
              <a:ext uri="{FF2B5EF4-FFF2-40B4-BE49-F238E27FC236}">
                <a16:creationId xmlns:a16="http://schemas.microsoft.com/office/drawing/2014/main" id="{772AD055-6048-43D6-9DFB-2D16C85A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253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Diagram node n4">
            <a:extLst xmlns:a="http://schemas.openxmlformats.org/drawingml/2006/main">
              <a:ext uri="{FF2B5EF4-FFF2-40B4-BE49-F238E27FC236}">
                <a16:creationId xmlns:a16="http://schemas.microsoft.com/office/drawing/2014/main" id="{7A5B7716-C4B9-4837-91BC-AE100848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7" y="2536317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Diagram node n5">
            <a:extLst xmlns:a="http://schemas.openxmlformats.org/drawingml/2006/main">
              <a:ext uri="{FF2B5EF4-FFF2-40B4-BE49-F238E27FC236}">
                <a16:creationId xmlns:a16="http://schemas.microsoft.com/office/drawing/2014/main" id="{318E4183-A464-49EE-819D-FE4239D6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7" y="321859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Diagram node n6">
            <a:extLst xmlns:a="http://schemas.openxmlformats.org/drawingml/2006/main">
              <a:ext uri="{FF2B5EF4-FFF2-40B4-BE49-F238E27FC236}">
                <a16:creationId xmlns:a16="http://schemas.microsoft.com/office/drawing/2014/main" id="{7790A40B-ADB9-47B9-959C-5676F247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7" y="390086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Diagram node n7">
            <a:extLst xmlns:a="http://schemas.openxmlformats.org/drawingml/2006/main">
              <a:ext uri="{FF2B5EF4-FFF2-40B4-BE49-F238E27FC236}">
                <a16:creationId xmlns:a16="http://schemas.microsoft.com/office/drawing/2014/main" id="{D6E6D1A3-7BA6-4E5F-92A6-192F7905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253" y="390086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77DC4-5075-4592-9544-AD5D1500941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9187" y="2774442"/>
            <a:ext cx="114985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10B7E-C61A-4722-A824-BA7EC7CC73E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84395" y="2774442"/>
            <a:ext cx="114985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685C0-76E8-4F65-BE71-3F624891621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29603" y="2774442"/>
            <a:ext cx="152171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8147B-EEDB-48DB-9431-2BBDCDF96C4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698992" y="3012567"/>
            <a:ext cx="0" cy="20602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668D0-3DC2-496C-89F9-13D2EBBC271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698992" y="3694843"/>
            <a:ext cx="0" cy="206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88AB7-832A-4E57-A224-858FBBD05018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729603" y="4138993"/>
            <a:ext cx="152171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CE2B7-3C3B-4D1D-A65F-E4709E0318E9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281928" y="3012567"/>
            <a:ext cx="0" cy="88830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7152E5-FAA7-477C-A2CE-E14A658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163" y="2193417"/>
            <a:ext cx="138255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p从first出发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D54851E-DF6C-40D7-8A70-F49A3A0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053" y="219341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E5D89E-1C64-48E3-8881-3346A733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758" y="4443794"/>
            <a:ext cx="126653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q留在相遇点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70EA2D3-CB91-499F-8873-AC8965CE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p依次经过1、2、3，q依次经过6、7、3。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B0A1B01-BEE3-4412-BCF7-EB16806F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入口前的结点不在环上，p与q不会提前重合。</a:t>
            </a:r>
          </a:p>
        </p:txBody>
      </p:sp>
      <p:sp>
        <p:nvSpPr>
          <p:cNvPr id="2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2C15123-8C3C-460E-8EE7-AEBB3B9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61157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BCE1C-52A7-4E9F-8D97-1DFAD269B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546a2b45346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765C826-44E7-428C-A111-72F31DE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过程推演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E2710FD-391E-4E8F-BA00-1B3309F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在同一条链上验证复位过程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0FA4A-6627-44CF-89E9-50FB2A15309A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31659"/>
                <a:gridCol w="3728941"/>
                <a:gridCol w="398360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同速移动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p从first出发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q从相遇点出发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3，入口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651202F-C958-4E90-9F18-0C5CC97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此例a=2，b=3，c=5；a+b=c。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025F995-8D8F-43BE-BF0D-2E96EA22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34456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DF840-A2C4-45D9-BE92-05BF9D8EED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ebe85a8154e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C8570AE-5D28-4F56-A19A-F9A826B7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8ECF1C1-0E23-415F-A8D0-71CB30F6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找环入口的完整调用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9EA8-15E5-4493-9B04-48158BAC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72993-4084-4BA9-9DB5-06DB1BF9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071D382-626A-4502-9FCD-951DEC52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LNode *FindEntry(LinkList L){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LNode *first=(L==NULL ? NULL : L-&gt;next);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LNode *meet=Meet(first), *p=first;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if(meet==NULL) return NULL;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while(p!=meet){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p=p-&gt;next;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meet=meet-&gt;next;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AC1F838-4FFD-4726-983B-DB9D60D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66986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95A07-B5FB-47C5-886E-E89B3763D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962bf063949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713B872-6ADF-4DD5-9337-61ACBC41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BF74A82-6951-4D07-9ECA-37A768F9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环入口题的完整思想段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3502B46-56E9-49EE-B322-5E12693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从首元设置快、慢指针，每轮分别前进2步和1步。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9524FD6-C4FC-43BB-9FFE-4BE75855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快指针到空则无环。相遇后，将一个指针复位到首元。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6A40E03-98F2-4161-84D6-3B5381D0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两指针改为每轮各走1步，再次相遇的结点即入口。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51AB5D5-3F64-4DA7-BA02-B42431DD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依据相遇路程差为整圈，有a+b为环长的整数倍。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EB0856-1AAB-44F1-9EB1-8DDA071A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648515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B3576-6EF0-4353-BFEC-2FCB27526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a5fdc0b6448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865F6DD-72E3-4453-A76A-755356B3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BCB267F-E5E7-4271-AAB6-00B04606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两个阶段的时间按实际路程相加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10D35-3135-43F0-90DD-C8E8FF28ACE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2570"/>
                <a:gridCol w="799163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最多需要的工作量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进入环并相遇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O(a+c)轮，每轮固定次访问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复位后找入口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a次同速移动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O(a+c)，即不同数据结点数的线性量级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额外存储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固定个指针，O(1)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722D550-4D97-46E9-9D37-B50174EE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2594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无环长度为n时，快指针到尾部结束，时间O(n)。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35FC19E-D29B-4048-B2F0-D8F58081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382363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D4FE-84F0-45C5-AAAA-3706FFC33B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d37ec3fe245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89125B7-273B-47A9-9EDC-55D8331E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课堂检查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8335C0F-2922-4E50-9E4D-555DCC0E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环检测的四类边界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0D1D2-4AEB-48E2-B031-5BCEED21FFD1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7635"/>
                <a:gridCol w="2483798"/>
                <a:gridCol w="4612768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空表或L为NULL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不访问空指针字段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单结点，next为NULL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不进入检测循环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单结点，next指向自己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移动后相遇，入口即first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不同结点具有相同data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按实际连接判断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不能以数据相等代替地址相等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1F5D9B5-205E-4A34-8667-AAFFA17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997584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3C94E-EEEE-4E60-A191-35A317F09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34bddf79843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0A0F784-F308-4D99-9F5D-8061F262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40CA0A3-0D74-4F96-B074-275F3B25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找分点前，先定义位序与取整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6A98541-B1B1-4346-B760-7C1CE6ED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本节约定：数据结点位序从1开始，返回第⌈n/k⌉个结点。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6283D51-94E3-49C3-BCC2-86F9CF68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⌈n/k⌉表示n/k向上取整；例如⌈8/3⌉=3。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74DD187-8501-4BE5-A28A-03A4E7AC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k=2时得到前中点：n=6返回第3个，n=7返回第4个。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B319AEF-13A5-4561-8A0F-ED2C4156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要求普通无环链表、k≥1；空表返回NULL。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B668A6D-F8E3-4BC3-9D63-037DE6BB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330636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E876B-B266-452B-94D3-EB3A726C3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5ca24ed654d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988E1D7-B33D-4495-AB4F-8C5765D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4AA5DAB-5946-44E2-9E38-4B6444F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按每组k个结点推进快指针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6B47EF6-5786-4C7B-9E2B-A0A6F160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slow、fast均从第一个数据结点出发。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FE5C303-8906-4CE5-8A65-2F895A5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fast每组最多走k步，遇NULL立即停止。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63E37A3-2787-453D-9CD6-09C5E6DE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一组走完后，只有fast非空，slow才走1步。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D30767A-1133-4194-BB1A-57571979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最后slow的位序=组数=⌈n/k⌉。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03FA497-2BE5-4096-9F6D-C6D62F9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5637292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638A9-9EA9-4DE4-BE1C-47EA6E488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b423bdf584f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DDECA92-9F26-4E38-88D1-96BF8773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过程推演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2C88ABB-A5B6-4FFB-9CA1-443A65B5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八结点链表寻找三分之一点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1793E-B572-45E9-89BD-7E9B2B91DCA8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1176"/>
                <a:gridCol w="3510672"/>
                <a:gridCol w="2411176"/>
                <a:gridCol w="2411176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fast消耗的结点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组后fast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组后slow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1、2、3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4、5、6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7、8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3，返回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F5E0940-1405-42D0-AA74-F368FA4F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8637973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EEC437-B8D1-4AA5-A0BD-6B823E1476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59c2bfb4e4e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E09B030-65ED-472E-ABBC-1CC5646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73927A4-4B5F-4E4C-B712-9D33EC95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处理完第二组时，slow恰好位于第3个</a:t>
            </a:r>
          </a:p>
        </p:txBody>
      </p:sp>
      <p:sp>
        <p:nvSpPr>
          <p:cNvPr id="4" name="Diagram node n1">
            <a:extLst xmlns:a="http://schemas.openxmlformats.org/drawingml/2006/main">
              <a:ext uri="{FF2B5EF4-FFF2-40B4-BE49-F238E27FC236}">
                <a16:creationId xmlns:a16="http://schemas.microsoft.com/office/drawing/2014/main" id="{E7B0856D-F7EF-4E00-86B0-3FB92C52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37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Diagram node n2">
            <a:extLst xmlns:a="http://schemas.openxmlformats.org/drawingml/2006/main">
              <a:ext uri="{FF2B5EF4-FFF2-40B4-BE49-F238E27FC236}">
                <a16:creationId xmlns:a16="http://schemas.microsoft.com/office/drawing/2014/main" id="{C53BDB1C-0C18-43A5-9462-ADA17EC6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n3">
            <a:extLst xmlns:a="http://schemas.openxmlformats.org/drawingml/2006/main">
              <a:ext uri="{FF2B5EF4-FFF2-40B4-BE49-F238E27FC236}">
                <a16:creationId xmlns:a16="http://schemas.microsoft.com/office/drawing/2014/main" id="{48BC287F-7165-4A5C-979C-CED6D31F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973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Diagram node n4">
            <a:extLst xmlns:a="http://schemas.openxmlformats.org/drawingml/2006/main">
              <a:ext uri="{FF2B5EF4-FFF2-40B4-BE49-F238E27FC236}">
                <a16:creationId xmlns:a16="http://schemas.microsoft.com/office/drawing/2014/main" id="{8A127F84-12FA-49D1-AD1B-11B6A46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541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Diagram node n5">
            <a:extLst xmlns:a="http://schemas.openxmlformats.org/drawingml/2006/main">
              <a:ext uri="{FF2B5EF4-FFF2-40B4-BE49-F238E27FC236}">
                <a16:creationId xmlns:a16="http://schemas.microsoft.com/office/drawing/2014/main" id="{5F77B6D5-CAFF-409F-B294-33D0E70B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109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Diagram node n6">
            <a:extLst xmlns:a="http://schemas.openxmlformats.org/drawingml/2006/main">
              <a:ext uri="{FF2B5EF4-FFF2-40B4-BE49-F238E27FC236}">
                <a16:creationId xmlns:a16="http://schemas.microsoft.com/office/drawing/2014/main" id="{9CFFF48B-7977-4D3F-A6E6-CB9B012C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677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Diagram node n7">
            <a:extLst xmlns:a="http://schemas.openxmlformats.org/drawingml/2006/main">
              <a:ext uri="{FF2B5EF4-FFF2-40B4-BE49-F238E27FC236}">
                <a16:creationId xmlns:a16="http://schemas.microsoft.com/office/drawing/2014/main" id="{541D07C6-FC9B-4307-B08A-33B5F480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1" name="Diagram node n8">
            <a:extLst xmlns:a="http://schemas.openxmlformats.org/drawingml/2006/main">
              <a:ext uri="{FF2B5EF4-FFF2-40B4-BE49-F238E27FC236}">
                <a16:creationId xmlns:a16="http://schemas.microsoft.com/office/drawing/2014/main" id="{D08E61B7-60FD-44A5-81F7-EB98E3F4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813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F6E6A-B78A-4B9D-9AFD-DBA35A5D050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9187" y="3271838"/>
            <a:ext cx="22021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B2687-7BFC-4188-8D77-69D29E84AFB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4755" y="3271838"/>
            <a:ext cx="22021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D49A8-EE87-4484-855E-70C7F3670F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70323" y="3271838"/>
            <a:ext cx="22021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4A7A1-8C7A-40B3-913A-7494661FB33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5891" y="3271838"/>
            <a:ext cx="22021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1E636-57ED-432F-A34B-2399C1DDA2E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01459" y="3271838"/>
            <a:ext cx="22021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8383E-F0A3-4AA1-8D30-98E8AF1E37D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217027" y="3271838"/>
            <a:ext cx="22021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95066-642D-4ED9-A41C-47A5358E504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332595" y="3271838"/>
            <a:ext cx="22021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A0CA847-849A-47E6-A914-F47B600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773" y="256498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slow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85B2B20-9B90-4A18-B013-CC410E3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045" y="256498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fast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097DB73-DE96-4824-8FCD-C559A315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809" y="3818192"/>
            <a:ext cx="129454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第1组：1至3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DDE0587-B89D-47F9-BCCD-CA8FCFED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513" y="3818192"/>
            <a:ext cx="129454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第2组：4至6</a:t>
            </a:r>
          </a:p>
        </p:txBody>
      </p:sp>
      <p:sp>
        <p:nvSpPr>
          <p:cNvPr id="2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662B7CB-0D12-435C-88AC-7B70AC52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433" y="3818192"/>
            <a:ext cx="129454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第3组：7至8</a:t>
            </a:r>
          </a:p>
        </p:txBody>
      </p:sp>
      <p:sp>
        <p:nvSpPr>
          <p:cNvPr id="2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8385F6C-EEB3-42CD-BCC0-1A1923A6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当前已消耗6个结点，fast还要处理最后一组。</a:t>
            </a:r>
          </a:p>
        </p:txBody>
      </p:sp>
      <p:sp>
        <p:nvSpPr>
          <p:cNvPr id="2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60719A5-C61F-4ADA-B10C-D389DF88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slow记录组号，不要求与fast位于同一组。</a:t>
            </a:r>
          </a:p>
        </p:txBody>
      </p:sp>
      <p:sp>
        <p:nvSpPr>
          <p:cNvPr id="2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3732013-28C6-446E-9119-9B952CF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最后一组结束后没有下一组，slow停在第3个。</a:t>
            </a:r>
          </a:p>
        </p:txBody>
      </p:sp>
      <p:sp>
        <p:nvSpPr>
          <p:cNvPr id="2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09C2A15-C8A0-4CEF-87E2-6D638D56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239326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E03EB-8AA3-4A25-9DC4-8A1487E2CD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afdb26b8144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89CB1C1-43FB-4E5E-9475-2CD832CC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788F19B-D8F5-45A3-9A2C-5C7888C0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分点代码先确定入口与合法参数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D19A4-D0C0-42A9-B332-2F4BE3FA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037D7-7B2D-48ED-96CE-F1121F5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213AFBA-2FFD-468E-A1ED-7FB06399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LNode *FractionPoint(LinkList L, int k){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if(L==NULL || L-&gt;next==NULL || k&lt;1)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return NULL;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LNode *slow=L-&gt;next, *fast=L-&gt;next;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3712805-6418-45D3-940C-B4169EEC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接下一段循环；目标位序为⌈n/k⌉。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18AF851-19F3-4857-A633-E88EC5DC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22237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252B7-0E21-4BB4-8032-45EFFB3F26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a54650bdf43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98C38BD-D8FE-4668-8052-28D80F1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E015D78-3D9E-41D1-8CDD-D9795DC8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分点代码按组推进并返回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F5BD2-85CF-493E-BA55-AB047EDE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C2CAF-D00E-4CEA-819D-EE7D9EF8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4BE1A6A-3F2B-4DAD-8D4A-AEF08A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while(fast!=NULL){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for(int step=0; step&lt;k &amp;&amp; fast!=NULL; ++step)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fast=fast-&gt;next;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if(fast!=NULL) slow=slow-&gt;next;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slow;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2358AC4-B843-4D40-9DCD-626EFA03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所有内层循环合计走n次next；时间O(n)，额外空间O(1)。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865DD07-D811-4624-A55F-2C679DA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41669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C1551-2970-40A3-B9AC-9CC13A5B0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d2ea2afaf4a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04BE220-63FE-4C62-AED3-1C9C3481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9D3F98B-5919-4CBD-AA4E-617FE92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最后一组结束后再移动slow会多走一步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DC6F7-FD01-4BB2-9B36-0648CC6BC56F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4708"/>
                <a:gridCol w="2684708"/>
                <a:gridCol w="5374785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长度与k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正确位序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无条件移动slow的结果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n=6，k=3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3，多走一格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n=7，k=3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4，多走一格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n=1，k=3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NULL，越过唯一结点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DABA7A2-56E7-4C19-B0A4-2F86E472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slow初始已代表第1组，每出现下一组才增加1。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4692E1A-6C49-4876-B4AE-6B57E98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643766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8910E-17E1-400E-A9EF-D6DB232B5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ab30be91d44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CFCC2F8-F2EF-4E9A-AE06-4F4FBBEC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A冲刺补缺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B9063D9-92CD-4723-9674-E01CB7B8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分点题的思想与复杂度可以这样写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5B854EF-9D16-4BBF-8806-1AE9F259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将n个数据结点按每组至多k个处理，共有⌈n/k⌉组。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377C523-63D7-4B01-AB35-1814CEDB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fast消耗每组，slow从第1个结点起，只在仍有下一组时前进。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4AACE0F-E755-4037-A4F4-D59574B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结束时slow位序等于组数，返回所需的向上取整分点。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05E2527-8F3B-4546-B118-72D4ADF7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fast总共走n步，slow走⌈n/k⌉−1步，时间O(n)、空间O(1)。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8A964F8-ABE6-4B9D-8113-83515B26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6030439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942A9-69BA-45DA-8DD3-79012BA09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f4f943dd14e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5C0C55C-014E-4CDF-9744-25DFBF1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课堂检查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2FAB331-D35A-45C6-9029-AD348088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用短链验证取整规则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32F40-603D-4A68-A004-002B2287B49F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60059"/>
                <a:gridCol w="3160059"/>
                <a:gridCol w="4424082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本函数返回位序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4，前中点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5，尾结点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18AF442-82D1-4E0A-B621-016C00A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3812974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C1BFF-F41B-4762-A53C-D089B11124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c781812494d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8C3409E-941B-4F5A-99CA-AB52C320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0CAE91E-DFD1-4AFD-ABE5-7667B38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课后检查：条件变了，哪里要改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3C8C5C9-C7BC-457F-B0D2-6DD5296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1. 首元A，连接A→B→C→D→E→C；写首次相遇点与环入口。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0C7FC49-A6B6-4DE3-B360-5D06248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2. 普通链表长n≥1，返回第⌊n/3⌋个数据结点；位序为0时返回NULL。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8E327B-B1F5-4436-BBE9-D161610D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第2问不要求单趟：写出可验证的O(n)时间、O(1)空间方法。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1BB2F78-77A6-4B0F-85C1-236A8765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12673911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8BB4E-CDB1-47B1-A37E-129CE85D9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6ac6cdc2c46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1735288-9E2D-4CF5-A8EF-821059C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4B1B01A-4E45-48E6-9BCE-6E0B810C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参考答案：环的相遇点与入口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BBAEA-89C8-4574-8551-9B9B35CEE888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3581400"/>
                <a:gridCol w="358140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检测轮数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9517A56-3D22-4B22-8D6A-5F0D59BD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918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相遇后复位：(A,D) → (B,E) → (C,C)。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2ACD3ED-D6D3-4E48-849B-2ED5CC77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首次相遇D；环入口C。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80A8467-B1A3-413B-BFEA-0BB1EEFF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5636701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5C450-3732-4B7E-B929-27B610830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b3bf200464f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048EDB0-49B0-4FEB-8A8B-243F444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算法补缺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4EC2C84-78E2-4F00-A94F-0D73820F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参考答案：向下取整先数长度再定位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8E88B-88BA-4756-B84D-3C4327B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2D4F6-D81B-448D-8F96-EE0881F8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3C9BA0C-B089-4B39-8610-DF6CEB88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LNode *ThirdFloor(LinkList L){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if(L==NULL) return NULL;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n=0;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for(LNode *p=L-&gt;next; p!=NULL; p=p-&gt;next) ++n;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target=n/3;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if(target==0) return NULL;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LNode *p=L-&gt;next;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for(int i=1; i&lt;target; ++i) p=p-&gt;next;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3E6DC03-9186-46DC-8CCF-B87AE9F7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1440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2026-10-27T09:59:59.5570000Z</dcterms:created>
  <dcterms:modified xsi:type="dcterms:W3CDTF">2026-10-27T09:59:59.5570000Z</dcterms:modified>
</coreProperties>
</file>