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4a0baf12924a5d" /><Relationship Type="http://schemas.openxmlformats.org/officeDocument/2006/relationships/extended-properties" Target="/docProps/app.xml" Id="R543aed42b3b841a6" /><Relationship Type="http://schemas.openxmlformats.org/officeDocument/2006/relationships/officeDocument" Target="/ppt/presentation.xml" Id="R8b48ab55be204e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c1ab5edfd2489c"/>
  </p:sldMasterIdLst>
  <p:notesMasterIdLst>
    <p:notesMasterId xmlns:r="http://schemas.openxmlformats.org/officeDocument/2006/relationships" r:id="R1c67095292c041f9"/>
  </p:notesMasterIdLst>
  <p:sldIdLst>
    <p:sldId xmlns:r="http://schemas.openxmlformats.org/officeDocument/2006/relationships" id="256" r:id="Re05f5aa6a0804944"/>
    <p:sldId xmlns:r="http://schemas.openxmlformats.org/officeDocument/2006/relationships" id="257" r:id="R8a4324f8b3364fb1"/>
    <p:sldId xmlns:r="http://schemas.openxmlformats.org/officeDocument/2006/relationships" id="258" r:id="Rf848484ff3a646b4"/>
    <p:sldId xmlns:r="http://schemas.openxmlformats.org/officeDocument/2006/relationships" id="259" r:id="R74cf78d9ea3e4971"/>
    <p:sldId xmlns:r="http://schemas.openxmlformats.org/officeDocument/2006/relationships" id="260" r:id="Recbd6eb7f0784b76"/>
    <p:sldId xmlns:r="http://schemas.openxmlformats.org/officeDocument/2006/relationships" id="261" r:id="Rb55249e4c8a64165"/>
    <p:sldId xmlns:r="http://schemas.openxmlformats.org/officeDocument/2006/relationships" id="262" r:id="R684604ba6185450c"/>
    <p:sldId xmlns:r="http://schemas.openxmlformats.org/officeDocument/2006/relationships" id="263" r:id="Rf1c929ec90fc4407"/>
    <p:sldId xmlns:r="http://schemas.openxmlformats.org/officeDocument/2006/relationships" id="264" r:id="R63450476602c409b"/>
    <p:sldId xmlns:r="http://schemas.openxmlformats.org/officeDocument/2006/relationships" id="265" r:id="Ra14c2c23fd584f76"/>
    <p:sldId xmlns:r="http://schemas.openxmlformats.org/officeDocument/2006/relationships" id="266" r:id="Rba8b51d4dc534d4e"/>
    <p:sldId xmlns:r="http://schemas.openxmlformats.org/officeDocument/2006/relationships" id="267" r:id="R83bb6df5106046be"/>
    <p:sldId xmlns:r="http://schemas.openxmlformats.org/officeDocument/2006/relationships" id="268" r:id="Ref35007a52e84104"/>
    <p:sldId xmlns:r="http://schemas.openxmlformats.org/officeDocument/2006/relationships" id="269" r:id="Rc9e9b406981a44ff"/>
    <p:sldId xmlns:r="http://schemas.openxmlformats.org/officeDocument/2006/relationships" id="270" r:id="Rbcdf72258fab4e65"/>
    <p:sldId xmlns:r="http://schemas.openxmlformats.org/officeDocument/2006/relationships" id="271" r:id="R6e76d04dd57f415e"/>
    <p:sldId xmlns:r="http://schemas.openxmlformats.org/officeDocument/2006/relationships" id="272" r:id="R4e52a34f313d4e2d"/>
    <p:sldId xmlns:r="http://schemas.openxmlformats.org/officeDocument/2006/relationships" id="273" r:id="R9f37545cc83547fe"/>
    <p:sldId xmlns:r="http://schemas.openxmlformats.org/officeDocument/2006/relationships" id="274" r:id="Re3a5fd13c27b4af3"/>
    <p:sldId xmlns:r="http://schemas.openxmlformats.org/officeDocument/2006/relationships" id="275" r:id="Rbd08df705a5948d4"/>
    <p:sldId xmlns:r="http://schemas.openxmlformats.org/officeDocument/2006/relationships" id="276" r:id="R10ae65825df44293"/>
    <p:sldId xmlns:r="http://schemas.openxmlformats.org/officeDocument/2006/relationships" id="277" r:id="Ra4eee50c283549e9"/>
    <p:sldId xmlns:r="http://schemas.openxmlformats.org/officeDocument/2006/relationships" id="278" r:id="R01fd5450c5f047e1"/>
    <p:sldId xmlns:r="http://schemas.openxmlformats.org/officeDocument/2006/relationships" id="279" r:id="R87acda095c164d52"/>
    <p:sldId xmlns:r="http://schemas.openxmlformats.org/officeDocument/2006/relationships" id="280" r:id="R91f5679076474d2f"/>
    <p:sldId xmlns:r="http://schemas.openxmlformats.org/officeDocument/2006/relationships" id="281" r:id="R955bbdaf8b434efd"/>
    <p:sldId xmlns:r="http://schemas.openxmlformats.org/officeDocument/2006/relationships" id="282" r:id="Rdfb14ceb352946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a3b788a69845b6" /><Relationship Type="http://schemas.openxmlformats.org/officeDocument/2006/relationships/slideMaster" Target="/ppt/slideMasters/slideMaster1.xml" Id="R34c1ab5edfd2489c" /><Relationship Type="http://schemas.openxmlformats.org/officeDocument/2006/relationships/notesMaster" Target="/ppt/notesMasters/notesMaster1.xml" Id="R1c67095292c041f9" /><Relationship Type="http://schemas.openxmlformats.org/officeDocument/2006/relationships/presProps" Target="/ppt/presProps.xml" Id="Rf93be30b4f604c46" /><Relationship Type="http://schemas.openxmlformats.org/officeDocument/2006/relationships/tableStyles" Target="/ppt/tableStyles.xml" Id="Ra61e7014a2a74ce7" /><Relationship Type="http://schemas.openxmlformats.org/officeDocument/2006/relationships/slide" Target="/ppt/slides/slide1.xml" Id="Re05f5aa6a0804944" /><Relationship Type="http://schemas.openxmlformats.org/officeDocument/2006/relationships/slide" Target="/ppt/slides/slide2.xml" Id="R8a4324f8b3364fb1" /><Relationship Type="http://schemas.openxmlformats.org/officeDocument/2006/relationships/slide" Target="/ppt/slides/slide3.xml" Id="Rf848484ff3a646b4" /><Relationship Type="http://schemas.openxmlformats.org/officeDocument/2006/relationships/slide" Target="/ppt/slides/slide4.xml" Id="R74cf78d9ea3e4971" /><Relationship Type="http://schemas.openxmlformats.org/officeDocument/2006/relationships/slide" Target="/ppt/slides/slide5.xml" Id="Recbd6eb7f0784b76" /><Relationship Type="http://schemas.openxmlformats.org/officeDocument/2006/relationships/slide" Target="/ppt/slides/slide6.xml" Id="Rb55249e4c8a64165" /><Relationship Type="http://schemas.openxmlformats.org/officeDocument/2006/relationships/slide" Target="/ppt/slides/slide7.xml" Id="R684604ba6185450c" /><Relationship Type="http://schemas.openxmlformats.org/officeDocument/2006/relationships/slide" Target="/ppt/slides/slide8.xml" Id="Rf1c929ec90fc4407" /><Relationship Type="http://schemas.openxmlformats.org/officeDocument/2006/relationships/slide" Target="/ppt/slides/slide9.xml" Id="R63450476602c409b" /><Relationship Type="http://schemas.openxmlformats.org/officeDocument/2006/relationships/slide" Target="/ppt/slides/slide10.xml" Id="Ra14c2c23fd584f76" /><Relationship Type="http://schemas.openxmlformats.org/officeDocument/2006/relationships/slide" Target="/ppt/slides/slide11.xml" Id="Rba8b51d4dc534d4e" /><Relationship Type="http://schemas.openxmlformats.org/officeDocument/2006/relationships/slide" Target="/ppt/slides/slide12.xml" Id="R83bb6df5106046be" /><Relationship Type="http://schemas.openxmlformats.org/officeDocument/2006/relationships/slide" Target="/ppt/slides/slide13.xml" Id="Ref35007a52e84104" /><Relationship Type="http://schemas.openxmlformats.org/officeDocument/2006/relationships/slide" Target="/ppt/slides/slide14.xml" Id="Rc9e9b406981a44ff" /><Relationship Type="http://schemas.openxmlformats.org/officeDocument/2006/relationships/slide" Target="/ppt/slides/slide15.xml" Id="Rbcdf72258fab4e65" /><Relationship Type="http://schemas.openxmlformats.org/officeDocument/2006/relationships/slide" Target="/ppt/slides/slide16.xml" Id="R6e76d04dd57f415e" /><Relationship Type="http://schemas.openxmlformats.org/officeDocument/2006/relationships/slide" Target="/ppt/slides/slide17.xml" Id="R4e52a34f313d4e2d" /><Relationship Type="http://schemas.openxmlformats.org/officeDocument/2006/relationships/slide" Target="/ppt/slides/slide18.xml" Id="R9f37545cc83547fe" /><Relationship Type="http://schemas.openxmlformats.org/officeDocument/2006/relationships/slide" Target="/ppt/slides/slide19.xml" Id="Re3a5fd13c27b4af3" /><Relationship Type="http://schemas.openxmlformats.org/officeDocument/2006/relationships/slide" Target="/ppt/slides/slide20.xml" Id="Rbd08df705a5948d4" /><Relationship Type="http://schemas.openxmlformats.org/officeDocument/2006/relationships/slide" Target="/ppt/slides/slide21.xml" Id="R10ae65825df44293" /><Relationship Type="http://schemas.openxmlformats.org/officeDocument/2006/relationships/slide" Target="/ppt/slides/slide22.xml" Id="Ra4eee50c283549e9" /><Relationship Type="http://schemas.openxmlformats.org/officeDocument/2006/relationships/slide" Target="/ppt/slides/slide23.xml" Id="R01fd5450c5f047e1" /><Relationship Type="http://schemas.openxmlformats.org/officeDocument/2006/relationships/slide" Target="/ppt/slides/slide24.xml" Id="R87acda095c164d52" /><Relationship Type="http://schemas.openxmlformats.org/officeDocument/2006/relationships/slide" Target="/ppt/slides/slide25.xml" Id="R91f5679076474d2f" /><Relationship Type="http://schemas.openxmlformats.org/officeDocument/2006/relationships/slide" Target="/ppt/slides/slide26.xml" Id="R955bbdaf8b434efd" /><Relationship Type="http://schemas.openxmlformats.org/officeDocument/2006/relationships/slide" Target="/ppt/slides/slide27.xml" Id="Rdfb14ceb352946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4c0f4eac8e4a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cd9f1417d64abf" /><Relationship Type="http://schemas.openxmlformats.org/officeDocument/2006/relationships/notesMaster" Target="/ppt/notesMasters/notesMaster1.xml" Id="R503b41951a324c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b4f87ae27342ad" /><Relationship Type="http://schemas.openxmlformats.org/officeDocument/2006/relationships/notesMaster" Target="/ppt/notesMasters/notesMaster1.xml" Id="R83cafdd6e9924b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06f5edcfbb4e32" /><Relationship Type="http://schemas.openxmlformats.org/officeDocument/2006/relationships/notesMaster" Target="/ppt/notesMasters/notesMaster1.xml" Id="R8ebc18d6804245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9524a4ae6640be" /><Relationship Type="http://schemas.openxmlformats.org/officeDocument/2006/relationships/notesMaster" Target="/ppt/notesMasters/notesMaster1.xml" Id="R0d26658aa89d41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b2bcb41fd54156" /><Relationship Type="http://schemas.openxmlformats.org/officeDocument/2006/relationships/notesMaster" Target="/ppt/notesMasters/notesMaster1.xml" Id="R3b308e21ac194e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864b98a2364d5c" /><Relationship Type="http://schemas.openxmlformats.org/officeDocument/2006/relationships/notesMaster" Target="/ppt/notesMasters/notesMaster1.xml" Id="R8d14871d63934c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1619ac74514f54" /><Relationship Type="http://schemas.openxmlformats.org/officeDocument/2006/relationships/notesMaster" Target="/ppt/notesMasters/notesMaster1.xml" Id="R4372823c44e546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2766d3a05a4baf" /><Relationship Type="http://schemas.openxmlformats.org/officeDocument/2006/relationships/notesMaster" Target="/ppt/notesMasters/notesMaster1.xml" Id="R42b31d7fecd84c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cdd29b16da469f" /><Relationship Type="http://schemas.openxmlformats.org/officeDocument/2006/relationships/notesMaster" Target="/ppt/notesMasters/notesMaster1.xml" Id="Rc49d3de609e04df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8f06406156c4bc8" /><Relationship Type="http://schemas.openxmlformats.org/officeDocument/2006/relationships/notesMaster" Target="/ppt/notesMasters/notesMaster1.xml" Id="R95f107605bdf4b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baa2feb7f64b0f" /><Relationship Type="http://schemas.openxmlformats.org/officeDocument/2006/relationships/notesMaster" Target="/ppt/notesMasters/notesMaster1.xml" Id="Rf02f38f1eac940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63fffd229d34f4b" /><Relationship Type="http://schemas.openxmlformats.org/officeDocument/2006/relationships/notesMaster" Target="/ppt/notesMasters/notesMaster1.xml" Id="R862f298c289644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501d1e25bd04d76" /><Relationship Type="http://schemas.openxmlformats.org/officeDocument/2006/relationships/notesMaster" Target="/ppt/notesMasters/notesMaster1.xml" Id="Rb3bc3ad917b04c7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5df3dc8b66047e7" /><Relationship Type="http://schemas.openxmlformats.org/officeDocument/2006/relationships/notesMaster" Target="/ppt/notesMasters/notesMaster1.xml" Id="R0903fb10b656460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a349bf4732148e4" /><Relationship Type="http://schemas.openxmlformats.org/officeDocument/2006/relationships/notesMaster" Target="/ppt/notesMasters/notesMaster1.xml" Id="R63c27b4a0d9d447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69ebf33e1a84631" /><Relationship Type="http://schemas.openxmlformats.org/officeDocument/2006/relationships/notesMaster" Target="/ppt/notesMasters/notesMaster1.xml" Id="R1bcd79c8e979417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c4b0e5b36704d9c" /><Relationship Type="http://schemas.openxmlformats.org/officeDocument/2006/relationships/notesMaster" Target="/ppt/notesMasters/notesMaster1.xml" Id="R7b91e419636b4ed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b137f4c62fc4d0f" /><Relationship Type="http://schemas.openxmlformats.org/officeDocument/2006/relationships/notesMaster" Target="/ppt/notesMasters/notesMaster1.xml" Id="Rfba0d7f255774a9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33da196479742ff" /><Relationship Type="http://schemas.openxmlformats.org/officeDocument/2006/relationships/notesMaster" Target="/ppt/notesMasters/notesMaster1.xml" Id="R2123906473ed4d4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2534aa487a54ebc" /><Relationship Type="http://schemas.openxmlformats.org/officeDocument/2006/relationships/notesMaster" Target="/ppt/notesMasters/notesMaster1.xml" Id="Rab20636b62f14c4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5ff3ce5690641bb" /><Relationship Type="http://schemas.openxmlformats.org/officeDocument/2006/relationships/notesMaster" Target="/ppt/notesMasters/notesMaster1.xml" Id="Rffa43356d5ab4d7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905178b04984618" /><Relationship Type="http://schemas.openxmlformats.org/officeDocument/2006/relationships/notesMaster" Target="/ppt/notesMasters/notesMaster1.xml" Id="Rcf46a18ddc0c4de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734355e8bc54630" /><Relationship Type="http://schemas.openxmlformats.org/officeDocument/2006/relationships/notesMaster" Target="/ppt/notesMasters/notesMaster1.xml" Id="R9491258b02d042b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6848a3c112c4eee" /><Relationship Type="http://schemas.openxmlformats.org/officeDocument/2006/relationships/notesMaster" Target="/ppt/notesMasters/notesMaster1.xml" Id="R6bef26075ba9435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1771fcbdd9d4a09" /><Relationship Type="http://schemas.openxmlformats.org/officeDocument/2006/relationships/notesMaster" Target="/ppt/notesMasters/notesMaster1.xml" Id="Rb93ba20edd4c407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e6b19d21bef441d" /><Relationship Type="http://schemas.openxmlformats.org/officeDocument/2006/relationships/notesMaster" Target="/ppt/notesMasters/notesMaster1.xml" Id="R06475c740ed64b4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e31ae224535466a" /><Relationship Type="http://schemas.openxmlformats.org/officeDocument/2006/relationships/notesMaster" Target="/ppt/notesMasters/notesMaster1.xml" Id="Raf3795c5d4444c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大家好，我是牙膏学长。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在开始之前先简单介绍一下，伴梦研途是专门做重邮考研的机构，想要获取更多课程资料、答疑以及后续的课程安排，都可以在伴梦研途的QQ群里获取，需要的同学可以加一下。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这节补三种常用做法：用标记表记录出现情况，用读写指针完成稳定保留，以及在有序数组上用两端指针排除候选。它们都从已学的数组遍历出发，重点是题目条件怎样决定额外存什么、指针怎样移动。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这节的三个目标各有一个具体问题：找缺失值需要知道某个数出现过没有；删除一批元素需要知道下一个保留元素写在哪里；找两数之和需要知道哪些候选已不可能成功。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这些方法用于补足基础选法，不据此宣称它们是某年必考点。先读条件，再决定状态。一个题目可能同时用到两种方法，例如有界值去重既要标记出现情况，也要维护写入位置。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设数组中只允许出现 0 到 M，seen 的下标就可以直接表示数值。读到 x，先确认 x 在范围内，再访问 seen[x]。这一步是方法成立的前提；不能拿一个没有限制的整数直接当下标。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有 n 个元素不表示值域只有 n。比如仅两个元素，值可能是 100 和 100000。时间要把初始化标记表的 M 加进去，不能只数扫描输入的 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给 n 个整数，可能有负数、零、大数和重复值。问最小没有出现的正整数。直接把最大值作为数组大小会浪费空间。我们先证明答案范围：如果 1 到 n 都出现，答案就是 n 加 1；否则答案在 1 到 n 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因此只需记住 1 到 n 是否出现，其余数不会改变这次判断。这里把很大的原始值域缩成与输入长度相同的范围，是标记表能用的原因。不是所有缺失值题都能这样做，要看所求答案。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先在纸上写 1 到 6 六个位置，因为本例 n 为 6。读到 3，把第 3 格标真；负数跳过；1 标真；第二个 3 不会产生新信息；7 超过 n，跳过；最后 2 标真。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标记结束后从 1 开始找第一个假，得到 4。注意不是在原数组中找一个最大的空隙，也不用对原数组排序。重复值对布尔标记没有影响。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这里seen[3]的3是待判断的数值，不是原数组下标。输入两个3不会形成两个格子，因为题目只问出现与否。标记表完成以后，答案由候选值从小到大的顺序决定，与输入顺序无关。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【停顿】让学生回答：如果把7换成一百万，标记表长度是否增加？不增加。我们已经证明答案不超过n+1，因此超过n的值对寻找第一个缺失正整数没有帮助。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seen 动态申请 n 加 1 个布尔单元，0 号不用，1 到 n 号对应候选值。申请失败返回 −1，表示没有得到结果；这不是一个合法的最小缺失正整数。正常考试伪代码可以说明存储足够，但这里保留完整返回。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注意条件先检查下界，再检查上界，只有两个条件都满足才访问 seen。整段只记录是否出现，不改原数组。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循环先令 answer 为 1，遇到已经出现的数继续向后找。answer 可以变成 n 加 1，此时左侧条件为假，不会再访问 seen[n+1]。找到结果后先释放标记数组，再返回答案。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初始化、扫描和查找分别是线性工作量，总时间 O(n)，额外空间 O(n)。空数组时 n 为 0，寻找循环不执行，返回 1。全是负数时也返回 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可写成：“最小缺失正整数必在1到n+1之间。设置长度n+1的布尔数组，初始均为假，0号不用。遍历输入，仅对1到n范围内的数标记。再按升序检查1到n，第一个未标记位置就是答案；若均出现，则答案为n+1。”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说明范围可以从两种情况写，也可以用n个位置最多容纳n个不同候选来写。最后补充空间O(n)，说明输入不修改。若只写‘用哈希记录’，没有说清记录哪些值和如何得到最小值，关键步骤还不完整。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第二个问题要求删掉所有落在闭区间 lo 到 hi 中的元素，同时保留其他元素的相对次序。如果遇到一个删除值就调用一次按位删除，每次都搬动后续元素，最坏会做平方级工作。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我们只让 read 从左到右看一遍，write 表示已经留下多少个元素。遇到应该保留的值，就放到 a[write]，再增加 write。数组尾部旧数据不用清空，因为返回的新长度已经说明有效范围。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例子删掉 2 到 4。第一项 2 删除，write 仍为 0；读到 7，将它写入 0 号位；后面的 3 和 2 删除；再把 5 写到 1 号，1 写到 2 号。最后有效前缀是 7、5、1。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每次循环开始时 write 不大于 read，所以写入只会发生在当前格或更靠左的位置，右边尚未读取的数据不会被破坏。保留动作严格按读取顺序进行，因此稳定。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这幅图展示物理数组，里面出现两个7是正常的。0号是已经保留的7，1号仍是原来读过的7，后者已不属于有效前缀。read指4号的5，write指1号，因此本轮覆盖1号不会破坏未来要读的5和1。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把循环开始时的状态说清楚：0到write−1正好是已读部分中应保留的元素，且顺序正确；read到n−1还未处理。每次删除只推进read，每次保留才写入并推进write，这个关系会一直成立。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循环里判断的是保留条件：小于 lo，或者大于 hi。因为删除区间包含两个端点，等于端点时也应删掉。write 在写入之后增加，正好表示有效元素个数。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没有元素保留时返回 0；全保留时每次赋值是自己写自己，结果正确。这种自赋值不必另外加复杂判断，代码更容易核对。只扫描一次，所以 O(n) 时间、O(1) 额外空间。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思想可以写：“从左到右检查每个元素，以write记录保留前缀长度。当前元素不属于删除闭区间时，将它复制到有效前缀末尾并增加write；属于删除区间时只继续扫描。由于写入顺序与原遍历顺序一致，保留元素的相对次序不变。扫描结束返回write作为新长度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再比较逐个删除并搬移的做法：若n个元素全部删除，反复删首项需要搬移(n−1)+(n−2)+…+1次。读写法只遍历n次，不需要每次立即补齐数组。最坏时间的差别来自搬移次数，并非循环书写得短。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如果数组已经非递减排列，相同值连续出现。第一个元素先保留，从第二个元素开始，只要它不同于当前结果的末项，就保留。write 指向下一个写入位置，所以结果末项下标是 write 减 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这道题要求有序。对无序数组直接这样比较，会漏掉不相邻的重复值。这里不再完整重讲读写指针，而是看保留条件怎样由“是否在删除区间外”变成“是否不同于结果末项”。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现在把有序条件拿掉，但保证值在 0 到 M 内，并要求保留每个值第一次出现的位置次序。例如 3、1、3、2、1，要留下 3、1、2。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只比较结果末项不够，要知道这个数在所有已读元素中出现过没有。因此 seen 管重复判断，write 管有效结果。先读取当前值到 x，若未出现就写到前缀并标记。读取仍从左到右，保持首次出现次序。完整代码放在附录，课后练习要求自己把这两种状态接起来。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这三个结果说明选法必须同时满足去重和顺序要求。排序能把相等值放到一起，但把第一次出现的3移到了后面；比较相邻值只能识别连续重复，本例的重复不相邻。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题面给出有限值域，允许seen记录所有已见值，所以第三个3会被拒绝，第一次的2会被保留。若值域没有限制，不能直接开到最大值；需要按题目限制另选方法，或接受逐项扫描已保留前缀带来的平方级代价。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第三个问题给非递减数组，找两个不同位置，使它们的值之和等于 target。要求返回一组下标即可。最朴素的方法枚举所有位置对，需要平方级比较。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现在让 left 从最左开始、right 从最右开始。如果两端和太小，是否可以放心丢掉 left？因为右端已经是目前能选的最大值，固定 left 再换更小的右端只会更小。和太大时对称地丢掉 right。每次移动都要有这个排除理由。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例子数组是 1、2、4、7、9、11，目标 13。第一步 1 加 11 等于 12，太小，因此排除最左的 1。下一步 2 加 11 就是 13，返回这两个位置。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再换一个目标 10，不改变数组。1 加 11 太大，排除 11；1 加 9 等于 10。让学生说出每一步排除的是哪个固定端点，而不只报“左加一”或“右减一”。这两条短轨迹已经分别展示了两个分支。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我们再把刚才的排除理由写成不等式。和小于目标时，区间内任意候选 j 的 a[j] 都不大于 a[right]，因此 a[left] 加 a[j] 也小于目标，固定 left 的所有候选全部失效。和大于目标时，任意 i 的 a[i] 都不小于 a[left]，固定 right 的所有候选全部太大。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如果数组没有排序，这些大小关系不成立；如果题目要返回原下标，先排序还会改变位置关系，必须额外保存原下标。不能把“先排序”当作无代价的前处理。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这是一组只含三个元素的反例。首轮和太大时，有序算法依赖“当前left已经是区间最小值”。本例3右边还有更小的2，所以不能说固定4的所有组合都太大。删掉4就把真正的解删掉了。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【停顿】要求学生指出具体失效的不等式：a[1]并不大于等于a[left]。这样才能判断是前提不满足，而非碰巧没试到某一对。若先排序，另需计算排序代价，并在要求原下标时保留位置映射。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 用 long long，并在加法之前把一个操作数转为 long long，避免两个 int 先相加溢出后再转换。找到时把下标写入 i 和 j，返回 true；失败时返回 false，调用者不能再把 i、j 当有效答案。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小于 right 保证两个位置不同，相同值可以来自不同位置，例如两个 5 可以凑成 10。每轮至少收缩一个端点，最多 n 减 1 轮，所以时间 O(n)，额外空间 O(1)。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写成：“设置左右游标指向有序数组两端。当左下标小于右下标时计算两数之和。若相等则输出两位置；若和小于目标，由于右端已是当前最大值，固定左端不可能得到目标，故左游标右移；若和大于目标，同理右游标左移。区间缩到不足两个位置仍未找到，则不存在符合条件的一对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复杂度说明每轮至少缩短一个位置间隔，最多n−1轮，因此时间O(n)。只保存游标与和，所以辅助空间O(1)。n=0或1时循环不进入，两个相同数值可来自不同位置，代码用left&lt;right保证位置不同。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现在不给代码，分别看条件。数值范围小并且要记曾经出现，可以考虑标记；要求原地保留一批元素且相对次序不变，先考虑读写；已有序并能证明移动端点会排除一批候选，再考虑相向移动。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这些不是互斥选项。无序有界去重已经用到标记和读写组合。选好方法后，仍要检查输出要求是值、下标、新长度还是结点指针，并保证函数真正返回题目所需的信息。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这道练习把两个已讲方法组合起来。学生要写完整函数，不能只说开一个数组就可以。思路要说清标记含义、遍历顺序、写入时机，代码要清空辅助表，复杂度包含值域 M 的初始化。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例子含 0，提醒 seen[0] 也要初始化。这是本节方法的组合训练，题目为课程自编，不注明某年真题。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不口播。seen 表示已读元素中是否出现过；write 表示结果长度。动态存储申请失败返回 −1。代码前半段与下一页连接。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不口播。连接上一页函数尾部。每次写入前均已将原值读取到 x，且 write 不会超过 read。总时间 O(n+M)，额外空间 O(M)。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82c38735dc4dc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1c192ac388498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c4fdae30a8468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24daba1e9b431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d926aa47204ff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9787ef773b4f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3AB2F0-6423-4A20-96AD-D84A37B677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5DBDC86-E344-4233-893F-30C582B7F04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C6FE935-9A8C-4608-B4C7-8115B09305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857945-2B57-4333-BE9B-0CBBCB2411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CBC9C56-54D2-4D91-9593-5B35DC118E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AFAFE62-B626-4923-A94C-CE490887F6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37827A-7447-41A0-8157-4E0573EABB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DC1240B-2786-4F21-A942-58EB0425146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4CD8BE-C764-4DD7-AA16-A460AB4BA2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1316C11-72B4-4120-9C29-513CFDF9F0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e77b68319a4cf3" /><Relationship Type="http://schemas.openxmlformats.org/officeDocument/2006/relationships/slideLayout" Target="/ppt/slideLayouts/slideLayout1.xml" Id="Rb16066c9276d4b4d" /><Relationship Type="http://schemas.openxmlformats.org/officeDocument/2006/relationships/slideLayout" Target="/ppt/slideLayouts/slideLayout2.xml" Id="R4283cdaf2de34d36" /><Relationship Type="http://schemas.openxmlformats.org/officeDocument/2006/relationships/slideLayout" Target="/ppt/slideLayouts/slideLayout3.xml" Id="R1037a3b79dfa47fc" /><Relationship Type="http://schemas.openxmlformats.org/officeDocument/2006/relationships/slideLayout" Target="/ppt/slideLayouts/slideLayout4.xml" Id="R00525a08955d4fc3" /><Relationship Type="http://schemas.openxmlformats.org/officeDocument/2006/relationships/slideLayout" Target="/ppt/slideLayouts/slideLayout5.xml" Id="R6fef33b5e9814e3b" /><Relationship Type="http://schemas.openxmlformats.org/officeDocument/2006/relationships/slideLayout" Target="/ppt/slideLayouts/slideLayout6.xml" Id="R02f9f7fb1dfd49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6066c9276d4b4d"/>
    <p:sldLayoutId xmlns:r="http://schemas.openxmlformats.org/officeDocument/2006/relationships" id="2147483650" r:id="R4283cdaf2de34d36"/>
    <p:sldLayoutId xmlns:r="http://schemas.openxmlformats.org/officeDocument/2006/relationships" id="2147483651" r:id="R1037a3b79dfa47fc"/>
    <p:sldLayoutId xmlns:r="http://schemas.openxmlformats.org/officeDocument/2006/relationships" id="2147483652" r:id="R00525a08955d4fc3"/>
    <p:sldLayoutId xmlns:r="http://schemas.openxmlformats.org/officeDocument/2006/relationships" id="2147483653" r:id="R6fef33b5e9814e3b"/>
    <p:sldLayoutId xmlns:r="http://schemas.openxmlformats.org/officeDocument/2006/relationships" id="2147483654" r:id="R02f9f7fb1dfd49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cb9cd5f61f4336" /><Relationship Type="http://schemas.openxmlformats.org/officeDocument/2006/relationships/image" Target="/ppt/media/image.jpeg" Id="R1990a7d170d2473f" /><Relationship Type="http://schemas.openxmlformats.org/officeDocument/2006/relationships/notesSlide" Target="/ppt/notesSlides/notesSlide1.xml" Id="Rcb4dfceaa7fb4f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4499dc8e8f49e5" /><Relationship Type="http://schemas.openxmlformats.org/officeDocument/2006/relationships/image" Target="/ppt/media/image2.jpeg" Id="Reb467d99aef6412e" /><Relationship Type="http://schemas.openxmlformats.org/officeDocument/2006/relationships/notesSlide" Target="/ppt/notesSlides/notesSlide2.xml" Id="R9f812748532a4c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e5245c7519487b" /><Relationship Type="http://schemas.openxmlformats.org/officeDocument/2006/relationships/image" Target="/ppt/media/image3.jpeg" Id="R9accf9ff0c6c4396" /><Relationship Type="http://schemas.openxmlformats.org/officeDocument/2006/relationships/notesSlide" Target="/ppt/notesSlides/notesSlide3.xml" Id="R51391e9c9c9041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d692d528e44f06" /><Relationship Type="http://schemas.openxmlformats.org/officeDocument/2006/relationships/image" Target="/ppt/media/image4.jpeg" Id="R41670e502ee640e2" /><Relationship Type="http://schemas.openxmlformats.org/officeDocument/2006/relationships/notesSlide" Target="/ppt/notesSlides/notesSlide4.xml" Id="R11481f72d32c4a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10fc7f610a4f29" /><Relationship Type="http://schemas.openxmlformats.org/officeDocument/2006/relationships/image" Target="/ppt/media/image5.jpeg" Id="R46206c6d95ae4095" /><Relationship Type="http://schemas.openxmlformats.org/officeDocument/2006/relationships/notesSlide" Target="/ppt/notesSlides/notesSlide5.xml" Id="R3a07805916334c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793f74176d4008" /><Relationship Type="http://schemas.openxmlformats.org/officeDocument/2006/relationships/image" Target="/ppt/media/image6.jpeg" Id="Ra5390e5af1834f52" /><Relationship Type="http://schemas.openxmlformats.org/officeDocument/2006/relationships/notesSlide" Target="/ppt/notesSlides/notesSlide6.xml" Id="R0bf868b204f448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20c51f26c34a7c" /><Relationship Type="http://schemas.openxmlformats.org/officeDocument/2006/relationships/image" Target="/ppt/media/image7.jpeg" Id="R6c996c0d4d214f9c" /><Relationship Type="http://schemas.openxmlformats.org/officeDocument/2006/relationships/notesSlide" Target="/ppt/notesSlides/notesSlide7.xml" Id="Radd7b678a7a949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97696b19c84f94" /><Relationship Type="http://schemas.openxmlformats.org/officeDocument/2006/relationships/image" Target="/ppt/media/image8.jpeg" Id="R63333df7018146e2" /><Relationship Type="http://schemas.openxmlformats.org/officeDocument/2006/relationships/notesSlide" Target="/ppt/notesSlides/notesSlide8.xml" Id="R7386bbf8aa6143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7d763a7cae43af" /><Relationship Type="http://schemas.openxmlformats.org/officeDocument/2006/relationships/image" Target="/ppt/media/image9.jpeg" Id="Ra53120edf9b640a1" /><Relationship Type="http://schemas.openxmlformats.org/officeDocument/2006/relationships/notesSlide" Target="/ppt/notesSlides/notesSlide9.xml" Id="R2c5cd2b181bc4a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7a474a87274418" /><Relationship Type="http://schemas.openxmlformats.org/officeDocument/2006/relationships/image" Target="/ppt/media/image10.jpeg" Id="R176125169bd04f69" /><Relationship Type="http://schemas.openxmlformats.org/officeDocument/2006/relationships/notesSlide" Target="/ppt/notesSlides/notesSlide10.xml" Id="Rebad7406095a4d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f7253d9bef44c0" /><Relationship Type="http://schemas.openxmlformats.org/officeDocument/2006/relationships/image" Target="/ppt/media/image11.jpeg" Id="Rfa24869cdfe04a34" /><Relationship Type="http://schemas.openxmlformats.org/officeDocument/2006/relationships/notesSlide" Target="/ppt/notesSlides/notesSlide11.xml" Id="Rc086f684a508410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5922553a854ef7" /><Relationship Type="http://schemas.openxmlformats.org/officeDocument/2006/relationships/image" Target="/ppt/media/image12.jpeg" Id="Red8f8000c366459e" /><Relationship Type="http://schemas.openxmlformats.org/officeDocument/2006/relationships/notesSlide" Target="/ppt/notesSlides/notesSlide12.xml" Id="R21296a3bdad1407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378a241b40464e" /><Relationship Type="http://schemas.openxmlformats.org/officeDocument/2006/relationships/image" Target="/ppt/media/image13.jpeg" Id="R8200a9e670a94170" /><Relationship Type="http://schemas.openxmlformats.org/officeDocument/2006/relationships/notesSlide" Target="/ppt/notesSlides/notesSlide13.xml" Id="R2bbf36772b414be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915cc9b3db45da" /><Relationship Type="http://schemas.openxmlformats.org/officeDocument/2006/relationships/image" Target="/ppt/media/image14.jpeg" Id="R59fa66916e8148f9" /><Relationship Type="http://schemas.openxmlformats.org/officeDocument/2006/relationships/notesSlide" Target="/ppt/notesSlides/notesSlide14.xml" Id="R6eb8b335ad234a6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fb5b41f46e4b2e" /><Relationship Type="http://schemas.openxmlformats.org/officeDocument/2006/relationships/image" Target="/ppt/media/image15.jpeg" Id="R20ccf3a9ea1d425e" /><Relationship Type="http://schemas.openxmlformats.org/officeDocument/2006/relationships/notesSlide" Target="/ppt/notesSlides/notesSlide15.xml" Id="R3e42d40f75a143c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2c4081d85e4582" /><Relationship Type="http://schemas.openxmlformats.org/officeDocument/2006/relationships/image" Target="/ppt/media/image16.jpeg" Id="R4ee7a76280894d43" /><Relationship Type="http://schemas.openxmlformats.org/officeDocument/2006/relationships/notesSlide" Target="/ppt/notesSlides/notesSlide16.xml" Id="R31272d556800467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8cdf5e47244c22" /><Relationship Type="http://schemas.openxmlformats.org/officeDocument/2006/relationships/image" Target="/ppt/media/image17.jpeg" Id="R7fab0d0cefc84b6a" /><Relationship Type="http://schemas.openxmlformats.org/officeDocument/2006/relationships/notesSlide" Target="/ppt/notesSlides/notesSlide17.xml" Id="R24b49524a8bf428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f0682f169a4692" /><Relationship Type="http://schemas.openxmlformats.org/officeDocument/2006/relationships/image" Target="/ppt/media/image18.jpeg" Id="R58655f137970422d" /><Relationship Type="http://schemas.openxmlformats.org/officeDocument/2006/relationships/notesSlide" Target="/ppt/notesSlides/notesSlide18.xml" Id="R9b606ad07dd84b3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a79b4c0c5b4f89" /><Relationship Type="http://schemas.openxmlformats.org/officeDocument/2006/relationships/image" Target="/ppt/media/image19.jpeg" Id="R7da9e786c1514fb0" /><Relationship Type="http://schemas.openxmlformats.org/officeDocument/2006/relationships/notesSlide" Target="/ppt/notesSlides/notesSlide19.xml" Id="Rcdf2af5a7df04a8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0ae7c5a3344288" /><Relationship Type="http://schemas.openxmlformats.org/officeDocument/2006/relationships/image" Target="/ppt/media/image20.jpeg" Id="Rc2299bfcb8224e82" /><Relationship Type="http://schemas.openxmlformats.org/officeDocument/2006/relationships/notesSlide" Target="/ppt/notesSlides/notesSlide20.xml" Id="R85421706202c45f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80cdd1eec2412a" /><Relationship Type="http://schemas.openxmlformats.org/officeDocument/2006/relationships/image" Target="/ppt/media/image21.jpeg" Id="R9be91303d7f44a37" /><Relationship Type="http://schemas.openxmlformats.org/officeDocument/2006/relationships/notesSlide" Target="/ppt/notesSlides/notesSlide21.xml" Id="Rd6c2b81723b24ea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ab54663c764248" /><Relationship Type="http://schemas.openxmlformats.org/officeDocument/2006/relationships/image" Target="/ppt/media/image22.jpeg" Id="R6ef9c64645e443b2" /><Relationship Type="http://schemas.openxmlformats.org/officeDocument/2006/relationships/notesSlide" Target="/ppt/notesSlides/notesSlide22.xml" Id="Ra06585fb6a384a7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c9c98984274f33" /><Relationship Type="http://schemas.openxmlformats.org/officeDocument/2006/relationships/image" Target="/ppt/media/image23.jpeg" Id="Re0b5b32707a247d5" /><Relationship Type="http://schemas.openxmlformats.org/officeDocument/2006/relationships/notesSlide" Target="/ppt/notesSlides/notesSlide23.xml" Id="Re1a7caad72c746d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8abc876aca4f82" /><Relationship Type="http://schemas.openxmlformats.org/officeDocument/2006/relationships/image" Target="/ppt/media/image24.jpeg" Id="R31e15ec171cb4907" /><Relationship Type="http://schemas.openxmlformats.org/officeDocument/2006/relationships/notesSlide" Target="/ppt/notesSlides/notesSlide24.xml" Id="R3f30e6562dc2449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251d87a21b4085" /><Relationship Type="http://schemas.openxmlformats.org/officeDocument/2006/relationships/image" Target="/ppt/media/image25.jpeg" Id="R701f0e08406f439a" /><Relationship Type="http://schemas.openxmlformats.org/officeDocument/2006/relationships/notesSlide" Target="/ppt/notesSlides/notesSlide25.xml" Id="Rb2a67dcc9385424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4c2ce7e6d04950" /><Relationship Type="http://schemas.openxmlformats.org/officeDocument/2006/relationships/image" Target="/ppt/media/image26.jpeg" Id="R2f5aca2da16343c0" /><Relationship Type="http://schemas.openxmlformats.org/officeDocument/2006/relationships/notesSlide" Target="/ppt/notesSlides/notesSlide26.xml" Id="Rb12f633c14694be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a9f23f5f9b4b24" /><Relationship Type="http://schemas.openxmlformats.org/officeDocument/2006/relationships/image" Target="/ppt/media/image27.jpeg" Id="Rdaab15116d9545e4" /><Relationship Type="http://schemas.openxmlformats.org/officeDocument/2006/relationships/notesSlide" Target="/ppt/notesSlides/notesSlide27.xml" Id="R2b8f22d84fe446f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7CA735-D7A2-42DE-B75B-BA4CEC46F5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90a7d170d2473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5803D89-28ED-4B4B-8B0C-D3D34A1B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74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重邮802 数据结构代码课程</a:t>
            </a:r>
          </a:p>
        </p:txBody>
      </p:sp>
      <p:sp>
        <p:nvSpPr>
          <p:cNvPr id="3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0630915-D33E-4F93-B715-6AB5B354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数组算法的辅助信息与指针选法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D740E34-1158-42A2-A4A7-7B7A226F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10744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冲刺补缺第2节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4D35C25-57AF-4FF5-B79E-421F7295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0744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阶段：冲刺补缺 ｜ 主讲：牙膏学长 ｜ 预计51分钟 ｜ 资料答疑：伴梦研途QQ群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1D0307F-CD95-4C5D-867F-AACFCE4B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274732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E8BA0-2F5D-43D9-BD05-4F758F2101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467d99aef6412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B7AE567-4008-4703-B407-0F3C57BE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算法补缺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2D5214B-2FB4-4AC9-BFE5-A8C8B912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同是扫描数组，保留的信息不同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E50330-58B8-495C-A496-4D73F5A6A473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1943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04252"/>
                <a:gridCol w="4204252"/>
                <a:gridCol w="2335696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必须保存的信息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哪些值出现过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出现与否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标记数组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哪些元素要留下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保留前缀的长度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读写指针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升序数组中找一对数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尚未排除的左右边界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两端指针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567A6C2-4512-423B-9282-06C90FDD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5340895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13CA8B-CE0D-4920-A27A-B4B3C94B31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ccf9ff0c6c439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51660F1-A767-4311-BC0A-0EA87938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算法补缺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8BC9A607-1CBB-4C19-824F-C3749851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标记数组先由取值范围确定大小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BA7C007-6104-411A-B4A6-FEACB1A4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若合法值为0…M，可令seen[x]表示x是否出现。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2F0901B-DD81-4241-B60F-CAC73FCC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初始化M+1个标记，扫描n个元素：O(n+M)时间。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4F10A0F-93FC-4BA1-A4AE-930DAAED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辅助空间O(M)；值域很大时不宜直接开表。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70D05A6-3224-4233-A363-B126E99B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先判值域，再访问下标；n是元素个数，M是值域上界。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135C3E9-FDFD-42F2-B09A-E9AA74B3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4870010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35BC8D-B42B-42D8-9BD2-6AB9DA6B50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670e502ee640e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A10ADAB-C477-4216-91E7-74FA0067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算法补缺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8E3ED9E1-5D24-406E-881F-52CEBB13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求最小缺失正整数，先缩小答案范围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DA021F6-8D21-4C2D-BFA1-FBCEFA81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输入a[0…n−1]，可含负数、0、重复值和大于n的数。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EEA2641-FB0B-49BA-93F0-E788F992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若1…n全出现，答案是n+1；否则答案在1…n中。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565BAE6-1BA4-4679-BFC1-B3B6E460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只标记1…n；其他值直接跳过。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F14458E-FFAE-4044-BC9F-2E681E59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示例：[3,−1,1,3,7,2]，最小缺失正整数是多少？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128831C-6684-4211-9DE5-413D8167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984213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9245A6-FEB4-4212-8670-28A163C150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206c6d95ae409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CE74A85-58C8-42A0-8B99-69938B42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过程推演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469946C8-3E66-42B4-B8CF-90985227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把输入逐个映射到标记表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99818-79BC-4381-80B4-45C8C4619C3B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3400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99816"/>
                <a:gridCol w="3675995"/>
                <a:gridCol w="3768390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读入值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已出现的1…6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标记3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{3}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跳过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{3}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标记1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{1,3}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重复标记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{1,3}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超过n，跳过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{1,3}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标记2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{1,2,3}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47EEA0C-257D-4741-87AB-FC0BA193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244336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E8C556-31C7-4C17-9A12-7D16277A15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390e5af1834f5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B267415-93BC-4533-9F36-5A022A44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A冲刺补缺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A7C88D4E-0CE6-4F25-A2B4-D13CB4D7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标记表保存出现情况，不保存原数组位置</a:t>
            </a:r>
          </a:p>
        </p:txBody>
      </p:sp>
      <p:sp>
        <p:nvSpPr>
          <p:cNvPr id="4" name="Diagram node s1">
            <a:extLst xmlns:a="http://schemas.openxmlformats.org/drawingml/2006/main">
              <a:ext uri="{FF2B5EF4-FFF2-40B4-BE49-F238E27FC236}">
                <a16:creationId xmlns:a16="http://schemas.microsoft.com/office/drawing/2014/main" id="{D1A07CE6-3D51-4B33-95B2-7F2AECFA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765" y="303371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1:有</a:t>
            </a:r>
          </a:p>
        </p:txBody>
      </p:sp>
      <p:sp>
        <p:nvSpPr>
          <p:cNvPr id="5" name="Diagram node s2">
            <a:extLst xmlns:a="http://schemas.openxmlformats.org/drawingml/2006/main">
              <a:ext uri="{FF2B5EF4-FFF2-40B4-BE49-F238E27FC236}">
                <a16:creationId xmlns:a16="http://schemas.microsoft.com/office/drawing/2014/main" id="{5ABE66CE-F8DF-4239-9069-36029563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189" y="303371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2:有</a:t>
            </a:r>
          </a:p>
        </p:txBody>
      </p:sp>
      <p:sp>
        <p:nvSpPr>
          <p:cNvPr id="6" name="Diagram node s3">
            <a:extLst xmlns:a="http://schemas.openxmlformats.org/drawingml/2006/main">
              <a:ext uri="{FF2B5EF4-FFF2-40B4-BE49-F238E27FC236}">
                <a16:creationId xmlns:a16="http://schemas.microsoft.com/office/drawing/2014/main" id="{3FDE0BEC-2F50-42E5-850F-EF8E0CC0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4613" y="303371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3:有</a:t>
            </a:r>
          </a:p>
        </p:txBody>
      </p:sp>
      <p:sp>
        <p:nvSpPr>
          <p:cNvPr id="7" name="Diagram node s4">
            <a:extLst xmlns:a="http://schemas.openxmlformats.org/drawingml/2006/main">
              <a:ext uri="{FF2B5EF4-FFF2-40B4-BE49-F238E27FC236}">
                <a16:creationId xmlns:a16="http://schemas.microsoft.com/office/drawing/2014/main" id="{624CB503-F861-4EE0-99C6-0369D8D3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2037" y="303371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4:无</a:t>
            </a:r>
          </a:p>
        </p:txBody>
      </p:sp>
      <p:sp>
        <p:nvSpPr>
          <p:cNvPr id="8" name="Diagram node s5">
            <a:extLst xmlns:a="http://schemas.openxmlformats.org/drawingml/2006/main">
              <a:ext uri="{FF2B5EF4-FFF2-40B4-BE49-F238E27FC236}">
                <a16:creationId xmlns:a16="http://schemas.microsoft.com/office/drawing/2014/main" id="{B330650C-C034-4EE3-9FA5-60E91E00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461" y="303371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5:无</a:t>
            </a:r>
          </a:p>
        </p:txBody>
      </p:sp>
      <p:sp>
        <p:nvSpPr>
          <p:cNvPr id="9" name="Diagram node s6">
            <a:extLst xmlns:a="http://schemas.openxmlformats.org/drawingml/2006/main">
              <a:ext uri="{FF2B5EF4-FFF2-40B4-BE49-F238E27FC236}">
                <a16:creationId xmlns:a16="http://schemas.microsoft.com/office/drawing/2014/main" id="{2B19A1AA-E6DC-444A-B866-0997BF5F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885" y="303371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6:无</a:t>
            </a:r>
          </a:p>
        </p:txBody>
      </p:sp>
      <p:sp>
        <p:nvSpPr>
          <p:cNvPr id="10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24BB230-91E1-4427-9F63-0D2714DC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736" y="2458784"/>
            <a:ext cx="1180529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候选值1至6</a:t>
            </a:r>
          </a:p>
        </p:txBody>
      </p:sp>
      <p:sp>
        <p:nvSpPr>
          <p:cNvPr id="11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50AC07B-6C4D-4D17-BF40-BF492DA5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6430" y="3818192"/>
            <a:ext cx="1466564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首次未出现：4</a:t>
            </a:r>
          </a:p>
        </p:txBody>
      </p:sp>
      <p:sp>
        <p:nvSpPr>
          <p:cNvPr id="1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08E393B-5EB5-4CCD-9B46-C7454D62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10744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输入为[3,−1,1,3,7,2]，n=6。</a:t>
            </a:r>
          </a:p>
        </p:txBody>
      </p:sp>
      <p:sp>
        <p:nvSpPr>
          <p:cNvPr id="13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4858325-4929-4045-848D-CC9C2FA4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下标3表示数值3出现过，与原数组第3格无关。</a:t>
            </a:r>
          </a:p>
        </p:txBody>
      </p:sp>
      <p:sp>
        <p:nvSpPr>
          <p:cNvPr id="1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E57D75B-92E0-4BF7-995A-92BEB6FA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重复的3只需一个标记，−1和7不访问标记表。</a:t>
            </a:r>
          </a:p>
        </p:txBody>
      </p:sp>
      <p:sp>
        <p:nvSpPr>
          <p:cNvPr id="1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5E21784-691A-4BA3-B810-B769BDED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6933155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53462-33F0-4098-A7C6-E793FBA9BD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996c0d4d214f9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BBD94AD-2C7E-47FB-9872-2F294064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算法补缺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1C3E16D9-715C-4457-AD1F-01A1BD00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最小缺失值代码：建立并填写标记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A03B6-4D59-44A7-BF2F-94E0C2EC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09534-1262-4D99-BF1B-3A0F8B05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6ED0A69-7B48-4320-93DE-519150DE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int MissingPositive(const int a[], int n){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bool *seen=(bool*)malloc((n+1)*sizeof(bool));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if(seen==NULL) return -1;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for(int x=0; x&lt;=n; ++x) seen[x]=false;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for(int i=0; i&lt;n; ++i)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if(a[i]&gt;=1 &amp;&amp; a[i]&lt;=n) seen[a[i]]=true;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395A0B5-3015-43E0-8BF1-B0D3F750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前提：n≥0，数组至少含n个元素；接下一页完成返回。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5CA6948-99EF-4B10-B7B8-11BA3B55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3405361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7ECE10-6A74-4D09-AE15-786B8AFAAC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333df7018146e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A19CB31-2563-4BFE-9D30-992A593F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算法补缺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D4FAFCB7-F280-4476-92D1-7F488CA7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最小缺失值代码：找到答案并释放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437130-A3CE-4692-BF87-42E84053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D4C762-EF99-496D-AE0B-BCD42656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B9041B9-1906-4485-8A87-EB222B8D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int answer=1;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while(answer&lt;=n &amp;&amp; seen[answer]) ++answer;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free(seen);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return answer;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5E0DB43-125D-47A6-AA38-9B04C921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62425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时间O(n)，额外空间O(n)；空数组答案为1。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E954699-2AE9-40EF-B4D9-F8F6B110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74394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a=[1,2,3]时答案为4，不访问seen[4]。</a:t>
            </a:r>
          </a:p>
        </p:txBody>
      </p:sp>
      <p:sp>
        <p:nvSpPr>
          <p:cNvPr id="9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30C9F70-9307-41D4-BFDF-2E8D390F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10691458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FA6F4C-EF6A-4A21-804C-881A7F099E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3120edf9b640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092AB11-FA36-41A2-82EC-A467AFF8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A冲刺补缺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D3E0E8B4-0F41-41DC-94CE-E404DF1C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最小缺失正整数的完整思想段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FF273F2-006E-41D5-A5FC-1E736945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n个元素不可能包含1至n+1的全部n+1个不同正整数。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6EA194B-B59F-4F74-A3D4-52D75D5C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建立seen[1…n]，只记录输入中处于该范围的值。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2B3817B-4024-4B2C-B376-71CB6DCE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从1到n找到首个未标记值，全部已标记则返回n+1。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2661F0E-8966-4E68-B6AE-9AEBFF69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初始化、输入扫描、答案查找各至多线性，总时间O(n)。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A26F362-FF1F-451E-AA46-F8E6B1FA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9709201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61D962-CA42-41B1-B783-CA9B289498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6125169bd04f6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FDF1C28-DF20-4A1A-989A-9488F3FF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算法补缺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44779DF8-C1C8-4DAD-A38F-9D465713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批量删除不必每删一次就搬移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0DCF732-3453-4DAC-9082-68C0FDE6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任务：删除闭区间[lo,hi]内的值，保留其他元素的原有次序。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C3508B4-D731-4D12-82F8-16FABC5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read读取原数组；write指向下一个保留位置。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74E8053-6633-4337-B6D9-2283F1A9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读到应保留的值才写入，最后返回write作为新长度。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82C0154-7E4A-4A9E-B3C7-48C439D8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有效结果是a[0…write−1]；尾部旧值无需清零。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542B24B-FBE1-4FAA-AD33-BC3DE319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3680223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7E927-5EB2-44B1-BC78-CFCD28E925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24869cdfe04a3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CD8120C-F181-4644-AAAD-48CE0EE1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过程推演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431C5C8-D314-4709-941E-6DA91B45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读写指针不会覆盖尚未读取的值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572E7F2-5738-4EA1-BCEF-04FB5A38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原数组[2,7,3,2,5,1]；删除闭区间[2,4]内的值。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469E1B-D3F7-4662-ACAE-9C8CCDB0EC03}"/>
              </a:ext>
            </a:extLst>
          </p:cNvPr>
          <p:cNvGraphicFramePr/>
          <p:nvPr/>
        </p:nvGraphicFramePr>
        <p:xfrm>
          <a:off xmlns:a="http://schemas.openxmlformats.org/drawingml/2006/main" x="723900" y="2588419"/>
          <a:ext xmlns:a="http://schemas.openxmlformats.org/drawingml/2006/main" cx="10744200" cy="3364706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86050"/>
                <a:gridCol w="2686050"/>
                <a:gridCol w="2686050"/>
                <a:gridCol w="2686050"/>
              </a:tblGrid>
              <a:tr h="480672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read与值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write之后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有效前缀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0672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0: 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删除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0672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1: 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a[0]=7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0672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2: 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删除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0672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3: 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删除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0672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4: 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a[1]=5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7,5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0672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5: 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a[2]=1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7,5,1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B5DD532-88D6-40DB-A186-C8330173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6872325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DE81A6-D429-4B22-848E-E5A7C6FCD5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8f8000c366459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3191096-84C5-4015-8FA2-2EA9E6FD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A冲刺补缺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582E0806-8206-49C5-B727-2852B413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read=4时，写入位置仍在已读区域</a:t>
            </a:r>
          </a:p>
        </p:txBody>
      </p:sp>
      <p:sp>
        <p:nvSpPr>
          <p:cNvPr id="4" name="Diagram node a0">
            <a:extLst xmlns:a="http://schemas.openxmlformats.org/drawingml/2006/main">
              <a:ext uri="{FF2B5EF4-FFF2-40B4-BE49-F238E27FC236}">
                <a16:creationId xmlns:a16="http://schemas.microsoft.com/office/drawing/2014/main" id="{8E9B3905-AF07-405D-BA51-16126E96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765" y="303371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5" name="Diagram node a1">
            <a:extLst xmlns:a="http://schemas.openxmlformats.org/drawingml/2006/main">
              <a:ext uri="{FF2B5EF4-FFF2-40B4-BE49-F238E27FC236}">
                <a16:creationId xmlns:a16="http://schemas.microsoft.com/office/drawing/2014/main" id="{BA3DB4E5-5D25-4C9A-9EC2-9BCA0D10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189" y="303371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6" name="Diagram node a2">
            <a:extLst xmlns:a="http://schemas.openxmlformats.org/drawingml/2006/main">
              <a:ext uri="{FF2B5EF4-FFF2-40B4-BE49-F238E27FC236}">
                <a16:creationId xmlns:a16="http://schemas.microsoft.com/office/drawing/2014/main" id="{8AE3E0D2-64A5-4F9E-8736-FCDB7572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4613" y="303371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7" name="Diagram node a3">
            <a:extLst xmlns:a="http://schemas.openxmlformats.org/drawingml/2006/main">
              <a:ext uri="{FF2B5EF4-FFF2-40B4-BE49-F238E27FC236}">
                <a16:creationId xmlns:a16="http://schemas.microsoft.com/office/drawing/2014/main" id="{09F0B17D-1D81-42B4-81B2-3AA70636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2037" y="303371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" name="Diagram node a4">
            <a:extLst xmlns:a="http://schemas.openxmlformats.org/drawingml/2006/main">
              <a:ext uri="{FF2B5EF4-FFF2-40B4-BE49-F238E27FC236}">
                <a16:creationId xmlns:a16="http://schemas.microsoft.com/office/drawing/2014/main" id="{C1EE71FA-729A-44C8-AD1E-68FB5E46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461" y="303371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9" name="Diagram node a5">
            <a:extLst xmlns:a="http://schemas.openxmlformats.org/drawingml/2006/main">
              <a:ext uri="{FF2B5EF4-FFF2-40B4-BE49-F238E27FC236}">
                <a16:creationId xmlns:a16="http://schemas.microsoft.com/office/drawing/2014/main" id="{A382BABB-43E1-4E2B-9659-30D97D91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885" y="303371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398D087-1804-4413-BE2E-3170E557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3565" y="3733229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下标0</a:t>
            </a:r>
          </a:p>
        </p:txBody>
      </p:sp>
      <p:sp>
        <p:nvSpPr>
          <p:cNvPr id="11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877652A-A59A-4C48-AE1C-11F9C863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0989" y="2458784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write=1</a:t>
            </a:r>
          </a:p>
        </p:txBody>
      </p:sp>
      <p:sp>
        <p:nvSpPr>
          <p:cNvPr id="1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1035915-3C61-4AEA-8444-8625239C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3261" y="2458784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read=4</a:t>
            </a:r>
          </a:p>
        </p:txBody>
      </p:sp>
      <p:sp>
        <p:nvSpPr>
          <p:cNvPr id="13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981DB25-43FE-4A02-8C79-1B62B274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075" y="4094321"/>
            <a:ext cx="1066514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0号已保留</a:t>
            </a:r>
          </a:p>
        </p:txBody>
      </p:sp>
      <p:sp>
        <p:nvSpPr>
          <p:cNvPr id="1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976F8ED-F025-42F0-90B3-C245C638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7927" y="4094321"/>
            <a:ext cx="1580579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1至3号旧值无效</a:t>
            </a:r>
          </a:p>
        </p:txBody>
      </p:sp>
      <p:sp>
        <p:nvSpPr>
          <p:cNvPr id="1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A93F147-72C9-4989-A78A-EC8C7125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559" y="4094321"/>
            <a:ext cx="1580579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4至5号尚未读取</a:t>
            </a:r>
          </a:p>
        </p:txBody>
      </p:sp>
      <p:sp>
        <p:nvSpPr>
          <p:cNvPr id="1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4E5DAB5-A4E3-47CC-8BEF-7F735129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10744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本轮把5写到1号格，然后write变2，read继续向右。</a:t>
            </a:r>
          </a:p>
        </p:txBody>
      </p:sp>
      <p:sp>
        <p:nvSpPr>
          <p:cNvPr id="1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91F672C-69F2-4980-8AD9-E9D60DA9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write≤read，覆盖的格子已经读过。</a:t>
            </a:r>
          </a:p>
        </p:txBody>
      </p:sp>
      <p:sp>
        <p:nvSpPr>
          <p:cNvPr id="1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B6D9DF8-56F6-46A8-9B42-8B9255AD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按输入顺序追加到有效前缀，保留元素的次序不变。</a:t>
            </a:r>
          </a:p>
        </p:txBody>
      </p:sp>
      <p:sp>
        <p:nvSpPr>
          <p:cNvPr id="19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4328049-F4C3-47C9-98CB-A298EA8A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872177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814645-8A95-4D80-AAA0-36DF60A660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00a9e670a9417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DCA9B35-77B6-4954-8DCB-B40CAAE7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算法补缺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87243DDF-46DA-46B7-A4AC-D9691DFB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稳定删除区间值的代码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A87C7F-BDE6-4F3E-B372-00D0AD05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279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EDD4D-AD1A-441E-8738-5C59329B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279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0A7911A-CAEF-4545-AB2C-807F5926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2581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int RemoveRange(int a[], int n, int lo, int hi){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int write=0;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for(int read=0; read&lt;n; ++read)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if(a[read]&lt;lo || a[read]&gt;hi)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    a[write++]=a[read];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return write;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E05B5B5-245D-4A51-8BA8-2B18E51D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67275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前提lo≤hi；时间O(n)，额外空间O(1)，保留次序不变。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CE6A51C-D9EA-4078-80BD-0C188C5F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7607366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BDB22B-92BD-4F91-A6FC-B9E52D5775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fa66916e8148f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0028174-A5BB-4D41-9E05-D60A1C02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A冲刺补缺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A522FA3-EDB3-46D7-8D7F-1539DC50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稳定压缩的思想与工作量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089193A-175D-4091-BDFC-0358B324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用read扫描输入，write表示已保留元素数。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1A01F08-DEE5-4A2A-9B43-EA898AA0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若当前值在删除区间外，将其写入a[write]并增加write。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D2FBF14-20C9-4DBD-92B2-9D16FD59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扫描结束返回write，a[0…write−1]就是保持原次序的结果。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0C1AE0A-3150-4DB8-AE72-A9B9034E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read走n次，每次至多一次写入，时间O(n)、空间O(1)。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3F76D8E-3832-4900-A824-A8B246F5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3618201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B6072-A351-4FB0-9F59-FA30FAECC5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ccf3a9ea1d425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528D973-71D3-4E94-906A-09E915B8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算法补缺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26C966B9-42EF-4611-9785-03A5CAE2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有序去重也可以维护一个有效前缀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B896E-A92F-4D06-B04E-88926C70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8CDCF0-B226-433A-9594-5ACA09E4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61728C6-DC08-48C9-9587-3A94B7AC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int UniqueSorted(int a[], int n){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if(n==0) return 0;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int write=1;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for(int read=1; read&lt;n; ++read)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if(a[read]!=a[write-1])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    a[write++]=a[read];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return write;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6B7685E-C1C9-4408-9F72-21B755BD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[1,1,2,2,2,4] → 有效前缀[1,2,4]，返回3。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32245C0-A191-4343-BFD7-A0DD9C70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4887692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A46705-4F78-4C7E-944A-391D93ABD4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e7a76280894d4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AF2A691-90C0-465B-A381-2B8FBDAB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算法补缺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A1490675-8805-427A-A524-3D58A8F5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无序有界去重需要两类状态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7AD85E4-77EC-482D-B845-F4D5841E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输入无序，且保证0≤a[i]≤M；保留每个值第一次出现的次序。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B07AF62-BE27-4360-BB4A-9AC26C16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seen[x]：x以前是否出现；write：已经保留的元素数。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FC864CE-F60E-4781-B408-30B2038B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若seen[x]为假：a[write++]=x，并把seen[x]置真。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9941A91-3964-47A1-BC08-4B6B76FA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时间O(n+M)，额外空间O(M)；原数组允许原地修改。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75231A4-F275-4C6B-80CA-ACA6F6DF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2708594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80A61-0D9A-4DAE-9A63-9B86CEF4E2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ab0d0cefc84b6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9E1FEF0-2B4C-439F-974B-34E36683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A冲刺补缺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51DF8B3C-D65D-45DE-8AB9-CF45BAEB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先排序再去重会改变首次出现的顺序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7096A-D6C4-43CA-8CCA-71AC01587D94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1943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68305"/>
                <a:gridCol w="2036611"/>
                <a:gridCol w="3139284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输入与要求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所得结果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是否满足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[3,1,3,2,1]，保留首次出现次序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[3,1,2]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题目要求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排序后再去重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[1,2,3]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顺序改变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只与前一个保留值比较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[3,1,3,2,1]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漏掉非相邻重复值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6C83D00-7CC7-4B9D-8E10-CFF5EE89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115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有界标记记录全体已见值，读写指针维护原次序。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0E9C63A-5C42-485E-B881-58B005BF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51543104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959D0E-081D-464A-9966-AEE7645DA5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655f137970422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6A18283-5557-49A1-8E82-AFE76DC4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算法补缺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2CCCAC0B-294F-44C9-9825-25AD3643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两端指针依靠有序条件排除候选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3104ED5-3A17-44D2-860D-2B66777C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输入非递减数组，找i&lt;j，使a[i]+a[j]=target。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6B4D22B-04D8-47C1-BDEB-7D478702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left=0，right=n−1；只在left&lt;right时比较。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01A347D-C1A4-4BF5-B922-166D2469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和太小：固定left已不可能成功，left前进。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7B494FE-1526-4ED7-BA8E-4F10B630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和太大：固定right已不可能成功，right后退。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9FD7C79-3726-4666-ACFD-7C2F0AE9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96169918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589745-9750-4213-8C22-ABE683705F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a9e786c1514fb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E677BE2-F43A-4FF4-ABA9-92CDE70D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过程推演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667B94B2-9483-4245-8AB4-184953AE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从两端开始，逐次排除不可能的位置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560DEF7-BDF5-4AA5-998E-07A1295A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数组[1,2,4,7,9,11]；下标从0开始。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0C2B8A-6773-4D75-9D5B-766B3A47F924}"/>
              </a:ext>
            </a:extLst>
          </p:cNvPr>
          <p:cNvGraphicFramePr/>
          <p:nvPr/>
        </p:nvGraphicFramePr>
        <p:xfrm>
          <a:off xmlns:a="http://schemas.openxmlformats.org/drawingml/2006/main" x="723900" y="2588419"/>
          <a:ext xmlns:a="http://schemas.openxmlformats.org/drawingml/2006/main" cx="1074420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21106"/>
                <a:gridCol w="2021106"/>
                <a:gridCol w="2021106"/>
                <a:gridCol w="2021106"/>
                <a:gridCol w="2659776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left值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right值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left前进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返回下标(1,5)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right后退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返回下标(0,4)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A72DB41-A3FB-4D8B-B18A-E3BF1AF5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7535436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E3AAC8-85E7-4D7C-957B-E1879A38DB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299bfcb8224e8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466497A-54AB-4D0F-9259-8076DA50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算法补缺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7AB66BFB-832A-4A1E-AECF-7097225B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移动一端的理由要能说完整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0DE80B9-C434-41E3-B36D-D87A7490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和太小：对任意j≤right，有a[left]+a[j]≤当前和&lt;target。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8D178D8-3E5B-42A5-AA33-00F1109E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和太大：对任意i≥left，有a[i]+a[right]≥当前和&gt;target。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0B04907-985E-4875-89E4-36D50008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没有有序条件时，上述排除理由不成立。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D3071ED-67EA-43A8-B07A-F23D298C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若先排序，时间和原下标的维护都要重新分析。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9E98CA7-F7EA-4FD4-923C-BC79E35D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95515536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90B41E-ABFC-43B6-97D0-DD4D0D8F00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e91303d7f44a3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F5D77D4-4021-4822-AB0C-E45A8887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A冲刺补缺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0C3D133-A41C-43BC-8F08-B4F3789D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无序数组会使两端排除漏掉正确答案</a:t>
            </a:r>
          </a:p>
        </p:txBody>
      </p:sp>
      <p:sp>
        <p:nvSpPr>
          <p:cNvPr id="4" name="Diagram node a0">
            <a:extLst xmlns:a="http://schemas.openxmlformats.org/drawingml/2006/main">
              <a:ext uri="{FF2B5EF4-FFF2-40B4-BE49-F238E27FC236}">
                <a16:creationId xmlns:a16="http://schemas.microsoft.com/office/drawing/2014/main" id="{0E28404F-12FD-4EED-BBEA-B6F068F8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405" y="303371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5" name="Diagram node a1">
            <a:extLst xmlns:a="http://schemas.openxmlformats.org/drawingml/2006/main">
              <a:ext uri="{FF2B5EF4-FFF2-40B4-BE49-F238E27FC236}">
                <a16:creationId xmlns:a16="http://schemas.microsoft.com/office/drawing/2014/main" id="{804B5A08-A62A-4443-B73D-4960ADB7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03371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Diagram node a2">
            <a:extLst xmlns:a="http://schemas.openxmlformats.org/drawingml/2006/main">
              <a:ext uri="{FF2B5EF4-FFF2-40B4-BE49-F238E27FC236}">
                <a16:creationId xmlns:a16="http://schemas.microsoft.com/office/drawing/2014/main" id="{5A4A0CF6-8015-4110-8480-7EA61A6F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245" y="303371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7DFE8E7-E620-48BF-AD46-6F2DA58E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3205" y="2458784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left=0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1F21753-5024-495A-96E9-F56FE192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1045" y="2458784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right=2</a:t>
            </a:r>
          </a:p>
        </p:txBody>
      </p:sp>
      <p:sp>
        <p:nvSpPr>
          <p:cNvPr id="9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D4DDA25-5BD4-419A-8D18-9BCD1FF9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860673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目标和6</a:t>
            </a:r>
          </a:p>
        </p:txBody>
      </p:sp>
      <p:sp>
        <p:nvSpPr>
          <p:cNvPr id="10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404ECE3-5EFC-4F11-9FE9-8197BA10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10744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真实解为下标(1,2)，即2+4=6。</a:t>
            </a:r>
          </a:p>
        </p:txBody>
      </p:sp>
      <p:sp>
        <p:nvSpPr>
          <p:cNvPr id="11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29370E2-18D0-47B6-A3EC-947FCC6F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首轮3+4=7，照搬有序规则会错误排除右端4。</a:t>
            </a:r>
          </a:p>
        </p:txBody>
      </p:sp>
      <p:sp>
        <p:nvSpPr>
          <p:cNvPr id="1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0052AE8-638E-40FA-9DAD-906FA51E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余下3和2不能凑6，最终漏掉已有答案。</a:t>
            </a:r>
          </a:p>
        </p:txBody>
      </p:sp>
      <p:sp>
        <p:nvSpPr>
          <p:cNvPr id="13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0CACD67-62A7-4206-AA0F-76D35390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68096693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18857-DDDD-407C-8D95-3C399AB148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9c64645e443b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F706A7E-D45B-42C9-B133-A3F82DD2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算法补缺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C7C69CD5-D5CC-496D-9DA2-D55E1E51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两端指针的代码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3BA0A-F66E-4FB7-BF41-8306F1D0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4CD1DB-FA21-4580-8689-5FB1FAE3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221280B-F910-41DC-B93C-5DF5BD8A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bool TwoSumSorted(const int a[], int n, long long target,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          int &amp;i, int &amp;j){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int left=0, right=n-1;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while(left&lt;right){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long long sum=(long long)a[left]+a[right];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if(sum==target){ i=left; j=right; return true; }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if(sum&lt;target) ++left; else --right;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return false;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118E1B6-41E2-4F00-899D-8DD1A6D3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78893352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A5AA18-43D6-4FFC-8508-BB8275F262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b5b32707a247d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AE60616-916B-4050-8E60-21597BB6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A冲刺补缺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FEFD2728-7850-490E-BB38-444C9B1B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两端求和题的完整思想与复杂度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FC20C92-8A88-480C-9A4E-F60B609D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在非递减数组中，从left=0、right=n−1开始。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F573906-50FC-4DFD-BF35-30642585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和小于目标时排除left，大于目标时排除right，相等即返回下标。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1D9A5C7-6112-4E2C-B78F-1FE9DB14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排除依据：固定被舍弃端点，与其余候选组合都不能达到目标。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D87A2CE-4293-4287-B936-FF4EB172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每次失败比较使right−left减1，最多n−1轮，辅助空间O(1)。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0066E42-D7B0-4B9A-AC03-590479EA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5653824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E2A1D6-18A0-4AFB-828B-5158A1CE3E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e15ec171cb490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2B9032E-51AA-4F31-B421-83EB7C3E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算法补缺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D84D5429-DEE1-4EF7-A11E-143CB74F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读题时怎样决定用哪一种方法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50025A-9DC4-4416-A641-356E0947BF55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1943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77267"/>
                <a:gridCol w="1989667"/>
                <a:gridCol w="4377267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题目条件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优先考虑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额外核对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值域可控，需记录出现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标记表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范围、初始化代价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原地保留，相对次序不变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读写指针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写入不越过读取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已有序，比较可排除一端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两端指针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移动理由、位置是否不同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CD2539A-CA85-4848-8EB3-1B59DF0B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639790148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8EB3F-75CD-4B9F-94D2-9175E4DF19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1f0e08406f439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B123D22-1172-4CD2-8D16-07DEAB1F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算法补缺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E2F019CE-E882-4CB1-B3EC-361B15FA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课后练习：无序有界去重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C0CECF2-1C36-4EBD-8CCD-D8BAFEF7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a[0…n−1]的值都在0…M中，原地去重，保留首次出现次序。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246C51E-3967-4FE3-8CC8-6BD3DFDC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函数返回新长度；辅助数组允许使用。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99AE8D9-9DD7-486B-9288-5CB0A186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例：[3,1,3,0,2,1,0] → [3,1,0,2]。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EE047BC-26A0-4840-BB45-04FC3CB4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写思想、代码及时间和空间复杂度。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38DE2C8-A00A-4259-8228-29F504D3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89717931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8124EF-1BEA-4F70-896E-0AF377E0AB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5aca2da16343c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D18DBCF-DF7B-4062-9CD1-D2E66320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算法补缺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D40314F0-25CC-44CF-BEA6-F8B8B9EE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参考答案：初始化与原地保留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43E5D-DFE8-4427-9A10-F5EC2297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BFAF1F-2F95-43E8-94E2-DF02D776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0532059-BB74-47F0-816A-A45D366E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int UniqueBounded(int a[], int n, int M){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bool *seen=(bool*)malloc((M+1)*sizeof(bool));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if(seen==NULL) return -1;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for(int x=0; x&lt;=M; ++x) seen[x]=false;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int write=0;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for(int read=0; read&lt;n; ++read){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int x=a[read];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if(!seen[x]){ a[write++]=x; seen[x]=true; }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6F646E3-DCAD-416A-A517-05AF3F81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19269792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5D4736-509B-48E1-BB4B-19287B786D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ab15116d9545e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11AAB53-80AF-4EFB-944B-ADC91D0D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算法补缺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2CB8A35-D1A7-4DE8-9ABA-5B3509BF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参考答案：返回与复杂度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3A62F-F46E-4A6E-9397-36E472DA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FCEF0-52D2-4568-8D38-0F837E96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401840E-A8A0-46E7-9FA5-B2061DCB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free(seen);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return write;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8587695-0A59-4B31-8A19-7F4760AD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返回有效前缀长度；保留第一次出现的顺序。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F8994E7-4382-4E52-8E48-78F04474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291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时间O(n+M)，额外空间O(M)。</a:t>
            </a:r>
          </a:p>
        </p:txBody>
      </p:sp>
      <p:sp>
        <p:nvSpPr>
          <p:cNvPr id="9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4F8C928-607C-45AF-B2F0-72991509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488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前提n≥0、M≥0且0≤a[i]≤M；空数组返回0。</a:t>
            </a:r>
          </a:p>
        </p:txBody>
      </p:sp>
      <p:sp>
        <p:nvSpPr>
          <p:cNvPr id="10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D7E81B3-5FD3-40F1-B512-6761031A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5166079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2026-10-27T10:00:06.7370000Z</dcterms:created>
  <dcterms:modified xsi:type="dcterms:W3CDTF">2026-10-27T10:00:06.7370000Z</dcterms:modified>
</coreProperties>
</file>