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第5节 栈与队列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阶段：基础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为什么要限制只能在端操作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顺序表、链表哪个位置都能插删，很灵活；但很多问题只在一端操作，灵活反而用不上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栈：只在一端（栈顶）进出，后进先出，比如函数调用、括号匹配、表达式求值、递归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队列：一端进、另一端出，先进先出，比如排队、层序遍历、广度优先搜索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栈和队列本身不难，考点全在两处：top 的约定、循环队列的判满；这一节把这两处讲透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顺序栈 · 定义 · 约定3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顺序栈与 top=-1 约定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#define MaxSize 100
typedef struct{ int data[MaxSize]; int top; }SqStack;
bool InitStack(SqStack &amp;S){ S.top = -1; return true; 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栈就是一个数组 data 加一个 top，top 记栈顶元素的下标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本课程约定 top=-1 表示栈空，也就是 top 指向栈顶元素本身；这是约定3，本节就地定下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1526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还有另一种约定 top=0（top 指向栈顶的下一个空位），式子全不同，P6 专门对比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顺序栈 · 入栈出栈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Push 与 Pop：自增自减的位置由约定决定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82915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82915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6345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Push(SqStack &amp;S, int elem){
    if(S.top == MaxSize - 1) return false;   // 判满
    S.data[++S.top] = elem;                   // 先移 top 再放
    return true;
}
bool Pop(SqStack &amp;S, int &amp;elem){
    if(S.top == -1) return false;             // 判空
    elem = S.data[S.top--];                   // 先取再移 top
    return true;
}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379811"/>
            <a:ext cx="10545775" cy="6065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top=-1 表示空，所以入栈先 ++top 再放（前缀自增）、出栈先取再 top--（后缀自减）；次序是约定决定的，不能随便写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顺序栈 · 其余操作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GetTop、判空判满、求长度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GetTop(SqStack S, int &amp;elem){ if(S.top==-1) return false; elem=S.data[S.top]; return true; }
bool IsEmpty(SqStack S){ return S.top == -1; }
bool IsFull (SqStack S){ return S.top == MaxSize - 1; }
int  GetLength(SqStack S){ return S.top + 1; 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GetTop 只读栈顶、不移 top，这是它和 Pop 的区别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top=-1 约定下：判空 top==-1、判满 top==MaxSize-1、长度 top+1；三个式子都由 top=-1 推出来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约定对比 · 检查页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若约定 top=0，五个式子怎么变？（先自己推）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10545775" cy="7589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</a:rPr>
              <a:t>另一种约定是 top=0，top 指向栈顶元素的下一个空位、栈空时 top=0。先自己推：判空、判满、入栈、出栈、求长度这五个式子分别怎么写？推完再看答案。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6112" y="328269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判空 top==0；判满 top==MaxSize；长度就是 top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753612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入栈 data[top++] = elem（先放再移）；出栈 elem = data[--top]（先移再取）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5674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两套约定不能混用：top 的初值和这五个式子必须配套，混了就全错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6" grpId="1"/>
      <p:bldP spid="7" grpId="1"/>
      <p:bldP spid="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队列 · 定义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循环队列与假溢出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struct{ int data[MaxSize]; int rear, front; }SqQueue;
bool InitQueue(SqQueue &amp;Q){ Q.front = 0; Q.rear = 0; return true; 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队列一端进（rear）一端出（front）；用数组存时，front 往后走会腾出前面的空间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44398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假溢出：rear 走到数组末尾就以为满了，可前面出队腾出的格子还空着，用不上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914900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解决办法是让下标绕回去，rear 到末尾就回到 0，这就是循环队列，靠取模 % MaxSize 实现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循环队列 · 判满三策略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判满三策略：rear==front 既是空又是满，怎么分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822960" y="2395728"/>
          <a:ext cx="10545775" cy="1682496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3200400"/>
                <a:gridCol w="219456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策略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判空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代价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牺牲一单元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rear==front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(rear+1)%MaxSize==front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少存一个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加 size 字段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size==0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size==MaxSize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入出队都维护 size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加 tag 字段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front==rear 且 tag==0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front==rear 且 tag==1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入队追上时 tag 置1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根源是 rear==front 分不清空还是满；本课程统一用牺牲一单元，最简单、不加字段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2" grpId="1"/>
      <p:bldP spid="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循环队列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MaxSize=5 的循环队列走一圈（拿纸跟着画）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438248" y="2395728"/>
            <a:ext cx="1463040" cy="754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38248" y="2395728"/>
            <a:ext cx="1463040" cy="754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38248" y="3150108"/>
            <a:ext cx="1463040" cy="246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901288" y="2395728"/>
            <a:ext cx="1463040" cy="754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1288" y="2395728"/>
            <a:ext cx="1463040" cy="754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01288" y="3150108"/>
            <a:ext cx="1463040" cy="246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64328" y="2395728"/>
            <a:ext cx="1463040" cy="754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4328" y="2395728"/>
            <a:ext cx="1463040" cy="754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64328" y="3150108"/>
            <a:ext cx="1463040" cy="246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27368" y="2395728"/>
            <a:ext cx="1463040" cy="754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7368" y="2395728"/>
            <a:ext cx="1463040" cy="754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27368" y="3150108"/>
            <a:ext cx="1463040" cy="246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90408" y="2395728"/>
            <a:ext cx="1463040" cy="754380"/>
          </a:xfrm>
          <a:prstGeom prst="rect">
            <a:avLst/>
          </a:prstGeom>
          <a:solidFill>
            <a:srgbClr val="FFF3C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0408" y="2395728"/>
            <a:ext cx="1463040" cy="754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90408" y="3150108"/>
            <a:ext cx="1463040" cy="246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 flipV="1">
            <a:off x="6095848" y="2176272"/>
            <a:ext cx="0" cy="201168"/>
          </a:xfrm>
          <a:prstGeom prst="line">
            <a:avLst/>
          </a:prstGeom>
          <a:noFill/>
          <a:ln w="19050">
            <a:solidFill>
              <a:srgbClr val="1F4E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47208" y="1975104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front=2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69768" y="3415284"/>
            <a:ext cx="0" cy="201168"/>
          </a:xfrm>
          <a:prstGeom prst="line">
            <a:avLst/>
          </a:prstGeom>
          <a:noFill/>
          <a:ln w="19050">
            <a:solidFill>
              <a:srgbClr val="1F4E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1128" y="3616452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rear=0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96112" y="3950208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① 初始 front=rear=0，队空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4344924"/>
            <a:ext cx="10454335" cy="588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② 入队 a、b、c、d，rear 移到 4，元素占下标 0到3；(rear+1)%5=0==front 判满，下标4那格空着也不能用，这就是牺牲的一单元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" y="5006340"/>
            <a:ext cx="10454335" cy="588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③ 出队 a、b，front 移到 2，队里剩 c、d；(rear+1)%5=0≠front=2，不再满，又能入队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" y="5667756"/>
            <a:ext cx="10454335" cy="588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④ 再入队 e，放进 data[4]，rear=(4+1)%5=0 绕回开头；现在 front=2、rear=0，队里是 c、d、e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6420612"/>
            <a:ext cx="10545775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你亲眼看到三件事：rear 从 4 绕回 0；(rear+1)%5==front 时还空一格却判满（牺牲的那格）；front 追上 rear 就是空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循环队列 · 入队出队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EnQueue 与 DeQueue：先判满、再操作、取模移动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59736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459736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240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EnQueue(SqQueue &amp;Q, int elem){
    if((Q.rear+1)%MaxSize == Q.front) return false;         // 判满
    Q.data[Q.rear]=elem;  Q.rear=(Q.rear+1)%MaxSize;  return true;  // 先放再移 rear
}
bool DeQueue(SqQueue &amp;Q, int &amp;elem){
    if(Q.rear == Q.front) return false;                     // 判空
    elem=Q.data[Q.front];  Q.front=(Q.front+1)%MaxSize;  return true;  // 先取再移 front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056632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入队 rear 指的是下一个空位，所以先放再移；出队 front 指的是队头元素，所以先取再移；移动都要 % MaxSize 才能绕回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链栈与链队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链栈、链队：用链表实现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链栈用单链表，栈顶就是表头：入栈等于头插，出栈等于删第一个结点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链栈不需要判满（内存够就能压），只需判空 L-&gt;next==NULL；这是它和顺序栈的一个区别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链队要 front 和 rear 两个指针：入队在 rear 后接，出队从 front 删；只有一个指针的话入队要走到尾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链栈链队 802 考得少，理解'栈顶在表头、入栈即头插'即可；链队不带头结点时队空是 front==NULL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栈与递归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栈和递归的关系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C 语言强化阶段画过 fact(3) 的调用栈，一层层展开再一层层收回，那就是系统在帮你用栈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这一节讲的是你自己用一个栈；后面二叉树的非递归遍历，就是把递归的栈搬到代码里显式管理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所以栈是强化阶段大量算法的工具：括号匹配、表达式求值、非递归遍历都靠它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队列是另一类工具：层序遍历、广度优先搜索、拓扑排序都要用队列排队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栈与队列小结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顺序栈：top=-1 约定下，入栈 data[++top]、出栈 data[top--]、判空 top==-1、判满 top==MaxSize-1、长度 top+1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top=0 约定五个式子全变，两套不能混用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1083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循环队列：牺牲一单元，判空 rear==front、判满 (rear+1)%MaxSize==front、长度 (rear-front+MaxSize)%MaxSize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3717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判满三策略（牺牲单元、加 size、加 tag）是填空常考点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99532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栈和队列本身简单，考点全在 top 约定与循环队列判满；它们是强化阶段算法的工具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跟练题</a:t>
            </a:r>
            <a:r>
              <a:rPr lang="en-US" sz="1800" dirty="0">
                <a:solidFill>
                  <a:srgbClr val="000000"/>
                </a:solidFill>
              </a:rPr>
              <a:t>：默写 SqStack 与 SqQueue 的定义和全部基本操作，并写出判满三策略的三个判满条件式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1083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模仿题</a:t>
            </a:r>
            <a:r>
              <a:rPr lang="en-US" sz="1800" dirty="0">
                <a:solidFill>
                  <a:srgbClr val="000000"/>
                </a:solidFill>
              </a:rPr>
              <a:t>：题集勾画 3算15 同类——循环队列牺牲一单元、MaxSize=6，已知 front=1、rear=0，问队里有几个元素、是否已满，再入队一个 front、rear 各是多少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457700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默写要求：合上资料能写出栈队定义与操作、三个判满式；参考答案在本PPT最后两页，课后自行对照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21992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21992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025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struct{ int data[MaxSize]; int top; }SqStack;
Push: if(top==MaxSize-1) 满; data[++top]=elem;
Pop : if(top==-1) 空; elem=data[top--];
判空 top==-1; 判满 top==MaxSize-1; 长度 top+1;
typedef struct{ int data[MaxSize]; int rear, front; }SqQueue;
EnQueue: if((rear+1)%MaxSize==front) 满; data[rear]=elem; rear=(rear+1)%MaxSize;
DeQueue: if(rear==front) 空; elem=data[front]; front=(front+1)%MaxSize;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18888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判满三策略：牺牲一单元 (rear+1)%MaxSize==front；加 size 则 size==MaxSize；加 tag 则 front==rear 且 tag==1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10545775" cy="4160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</a:rPr>
              <a:t>循环队列牺牲一单元、MaxSize=6，front=1、rear=0。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6112" y="2939796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元素个数 = (rear-front+MaxSize)%MaxSize = (0-1+6)%6 = 5，队里有5个元素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753612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判满：(rear+1)%MaxSize = (0+1)%6 = 1 == front，成立，所以队已满（牺牲一单元，最多存5个）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5674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已满就不能再入队，EnQueue 返回 false；front、rear 不变，仍是 front=1、rear=0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4671</Words>
  <Application>WPS 演示</Application>
  <PresentationFormat>On-screen Show (16:9)</PresentationFormat>
  <Paragraphs>254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栈与队列</dc:title>
  <dc:creator>牙膏学长</dc:creator>
  <dc:subject>PptxGenJS Presentation</dc:subject>
  <cp:lastModifiedBy>倾殇醉</cp:lastModifiedBy>
  <cp:revision>4</cp:revision>
  <dcterms:created xsi:type="dcterms:W3CDTF">2026-09-26T05:37:00Z</dcterms:created>
  <dcterms:modified xsi:type="dcterms:W3CDTF">2026-10-02T12:36:17Z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9E7A47F66CD6425E88A01E905F1930C2_12</vt:lpwstr>
  </property>
  <property fmtid="{D5CDD505-2E9C-101B-9397-08002B2CF9AE}" pid="3" name="KSOProductBuildVer">
    <vt:lpwstr>2052-12.1.0.28505</vt:lpwstr>
  </property>
</Properties>
</file>