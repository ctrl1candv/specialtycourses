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第7节 图算法二：生成树与最短路径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20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本节四个主题在 802 里的地位不一样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在802里的考法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本节怎么对待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 与 Kruskal 最小生成树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中频，</a:t>
                      </a:r>
                      <a:r>
                        <a:rPr lang="zh-CN" alt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填空或大题</a:t>
                      </a: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考权值计算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手算选边；Prim 不背代码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 与 Floyd 最短路径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综合应用题以手算为主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逐轮手算，不背代码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 年第 2 题的解法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完整讲：思想、骨架、逐层扩散动画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考手算 AOE 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一页认识四个量，不写代码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地位不同，课时分配就不同：Prim 八分钟、Kruskal 七分钟、最短路七分钟、多源 BFS 八分钟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一张 5 顶点带权图从头用到尾：Prim、Kruskal 都在它上面跑，结果互相核对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20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 · Prim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最小生成树是权值和最小的生成树，Prim 从一个顶点往外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</a:t>
            </a:r>
            <a:endParaRPr lang="en-US" sz="2800" dirty="0"/>
          </a:p>
        </p:txBody>
      </p:sp>
      <p:pic>
        <p:nvPicPr>
          <p:cNvPr id="5" name="Image 0" descr="D:\Program Project\SpecialtyCourses\assets\diagrams\b7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8" y="2395728"/>
            <a:ext cx="4023360" cy="2203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782312"/>
            <a:ext cx="10454335" cy="3787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生成树：n-1 条边连通全部顶点且不成环；最小生成树是权值和最小的那棵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5234178"/>
            <a:ext cx="10454335" cy="3787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Prim 从一个顶点开始维护当前生成树；每轮选一条连接树内外且权值最小的边，把对应顶点加入树中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20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三个数组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先查 weight 字段，再分清 include、dist、parent 三个数组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46304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ArcNode{
    int adjvex;                     // 该弧指向的顶点下标
    int weight;                     // 边权：带权图必带，数据结构基础阶段第9节已放出
    struct ArcNode *nextarc;
}ArcNode;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405993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include[i]：顶点 i 是否已在生成树里；dist[i]：i 到生成树的最小边权——是到树，不是到起点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4957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parent[i]：选中 i 时走的那条边从哪个顶点来；建好后沿 parent 回溯可还原全部树边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92048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读代码前先核对结构定义：Prim 通过 p-&gt;weight 读取边权，因此 ArcNode 需要 weight 字段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20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主循环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主循环两拍：选最小的 u 并入树，再用 u 的边刷新邻居的 dist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096135"/>
            <a:ext cx="10509250" cy="3828415"/>
          </a:xfrm>
          <a:prstGeom prst="roundRect">
            <a:avLst>
              <a:gd name="adj" fmla="val 149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7565"/>
            <a:ext cx="10180320" cy="3754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for(int i = 0; i &lt; G.vexnum; i++){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include[i] = false; dist[i] = -1; parent[i] = -1; </a:t>
            </a: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// 不能写 dist[] = {-1}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dist[0] = 0;                                                    // 从顶点 0 开始
for(int k = 0; k &lt; G.vexnum; k++){
    int u = -1, minDist = -1;
    for(int i = 0; i &lt; G.vexnum; i++)                       // ①选出树外 dist 最小的 u
        if(!include[i] &amp;&amp; dist[i] &lt; minDist){ minDist = dist[i]; u = i; }
    if(u == -1) break;                                      // 图不连通，停
    include[u] = true;                                      // ②u 并入树
    for(ArcNode *p = G.vertices[u].firstarc; p != NULL; p = p-&gt;nextarc)   // ③刷新邻居
        if(!include[p-&gt;adjvex] &amp;&amp; p-&gt;weight &lt; dist[p-&gt;adjvex]){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dist[p-&gt;adjvex] = p-&gt;weight; parent[p-&gt;adjvex] = u;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
}
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20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对照图走一遍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并入 0 后 dist[1]=2、dist[3]=6；并入 1 后 dist[2]=3、dist[4]=5（拿纸跟着画）</a:t>
            </a:r>
            <a:endParaRPr lang="en-US" sz="2800" dirty="0"/>
          </a:p>
        </p:txBody>
      </p:sp>
      <p:pic>
        <p:nvPicPr>
          <p:cNvPr id="5" name="p06:graph" descr="D:\Program Project\SpecialtyCourses\课件\C2\C2-B-pro\C2-B-07\assets\C2-B-07-p06-fixed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4846320" cy="3291840"/>
          </a:xfrm>
          <a:prstGeom prst="rect">
            <a:avLst/>
          </a:prstGeom>
        </p:spPr>
      </p:pic>
      <p:pic>
        <p:nvPicPr>
          <p:cNvPr id="6" name="p06:beats-code" descr="D:\Program Project\SpecialtyCourses\课件\C2\C2-B-pro\C2-B-07\assets\C2-B-07-p06-fixed-beats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95728"/>
            <a:ext cx="5468112" cy="1188720"/>
          </a:xfrm>
          <a:prstGeom prst="rect">
            <a:avLst/>
          </a:prstGeom>
        </p:spPr>
      </p:pic>
      <p:sp>
        <p:nvSpPr>
          <p:cNvPr id="7" name="p06:e01"/>
          <p:cNvSpPr/>
          <p:nvPr/>
        </p:nvSpPr>
        <p:spPr>
          <a:xfrm flipV="1">
            <a:off x="1719072" y="2889504"/>
            <a:ext cx="1018642" cy="631850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8" name="p06:e03"/>
          <p:cNvSpPr/>
          <p:nvPr/>
        </p:nvSpPr>
        <p:spPr>
          <a:xfrm>
            <a:off x="1633118" y="3824935"/>
            <a:ext cx="483718" cy="1014070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9" name="p06:e12"/>
          <p:cNvSpPr/>
          <p:nvPr/>
        </p:nvSpPr>
        <p:spPr>
          <a:xfrm>
            <a:off x="3105302" y="2882189"/>
            <a:ext cx="1122883" cy="646481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10" name="p06:e14"/>
          <p:cNvSpPr/>
          <p:nvPr/>
        </p:nvSpPr>
        <p:spPr>
          <a:xfrm>
            <a:off x="3003804" y="2972714"/>
            <a:ext cx="781812" cy="1796796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11" name="p06:ring0"/>
          <p:cNvSpPr/>
          <p:nvPr/>
        </p:nvSpPr>
        <p:spPr>
          <a:xfrm>
            <a:off x="1317650" y="3414370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2" name="p06:ring1"/>
          <p:cNvSpPr/>
          <p:nvPr/>
        </p:nvSpPr>
        <p:spPr>
          <a:xfrm>
            <a:off x="2699309" y="2557577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3" name="p06:ring2"/>
          <p:cNvSpPr/>
          <p:nvPr/>
        </p:nvSpPr>
        <p:spPr>
          <a:xfrm>
            <a:off x="4222699" y="3414370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4" name="p06:ring3"/>
          <p:cNvSpPr/>
          <p:nvPr/>
        </p:nvSpPr>
        <p:spPr>
          <a:xfrm>
            <a:off x="1984248" y="4747565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5" name="p06:ring4"/>
          <p:cNvSpPr/>
          <p:nvPr/>
        </p:nvSpPr>
        <p:spPr>
          <a:xfrm>
            <a:off x="3651199" y="4747565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6" name="p06:d1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初始化：dist=[0, INF, INF, INF, INF]，parent 全 -1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include 全 false；只有 0 有候选项</a:t>
            </a:r>
            <a:endParaRPr lang="en-US" sz="1500" dirty="0"/>
          </a:p>
        </p:txBody>
      </p:sp>
      <p:sp>
        <p:nvSpPr>
          <p:cNvPr id="17" name="p06:d2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第1轮①：选 u=0 并入（dist=0 是唯一候选）</a:t>
            </a:r>
            <a:endParaRPr lang="en-US" sz="1500" dirty="0"/>
          </a:p>
        </p:txBody>
      </p:sp>
      <p:sp>
        <p:nvSpPr>
          <p:cNvPr id="18" name="p06:d3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第1轮②：0 的边刷新邻居 dist[1]=2、dist[3]=6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dist=[0, 2, INF, 6, INF]，parent[1]=parent[3]=0</a:t>
            </a:r>
            <a:endParaRPr lang="en-US" sz="1500" dirty="0"/>
          </a:p>
        </p:txBody>
      </p:sp>
      <p:sp>
        <p:nvSpPr>
          <p:cNvPr id="19" name="p06:d4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第2轮①：选 u=1 并入（树外 dist 最小 = 2）</a:t>
            </a:r>
            <a:endParaRPr lang="en-US" sz="1500" dirty="0"/>
          </a:p>
        </p:txBody>
      </p:sp>
      <p:sp>
        <p:nvSpPr>
          <p:cNvPr id="20" name="p06:d5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第2轮②：dist[2]=3、dist[4]=5；1-3 权 8 &gt; dist[3]=6 不变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dist=[0, 2, 3, 6, 5]</a:t>
            </a:r>
            <a:endParaRPr lang="en-US" sz="1500" dirty="0"/>
          </a:p>
        </p:txBody>
      </p:sp>
      <p:sp>
        <p:nvSpPr>
          <p:cNvPr id="21" name="p06:d6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第3轮：选 u=2 并入；2-4 权 7 &gt; dist[4]=5，dist 不变</a:t>
            </a:r>
            <a:endParaRPr lang="en-US" sz="1500" dirty="0"/>
          </a:p>
        </p:txBody>
      </p:sp>
      <p:sp>
        <p:nvSpPr>
          <p:cNvPr id="22" name="p06:d7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第4轮：选 u=4 并入；3-4 权 9 &gt; dist[3]=6，dist 不变</a:t>
            </a:r>
            <a:endParaRPr lang="en-US" sz="1500" dirty="0"/>
          </a:p>
        </p:txBody>
      </p:sp>
      <p:sp>
        <p:nvSpPr>
          <p:cNvPr id="23" name="p06:d8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第5轮：选 u=3 并入，全部并入，循环停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树边 0-1、1-2、1-4、0-3，权值和 2+3+5+6 = 16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  <p:bldP spid="17" grpId="0" animBg="1"/>
      <p:bldP spid="7" grpId="0" animBg="1"/>
      <p:bldP spid="8" grpId="0" animBg="1"/>
      <p:bldP spid="18" grpId="0" animBg="1"/>
      <p:bldP spid="12" grpId="0" animBg="1"/>
      <p:bldP spid="19" grpId="0" animBg="1"/>
      <p:bldP spid="9" grpId="0" animBg="1"/>
      <p:bldP spid="10" grpId="0" animBg="1"/>
      <p:bldP spid="20" grpId="0" animBg="1"/>
      <p:bldP spid="13" grpId="0" animBg="1"/>
      <p:bldP spid="21" grpId="0" animBg="1"/>
      <p:bldP spid="15" grpId="0" animBg="1"/>
      <p:bldP spid="22" grpId="0" animBg="1"/>
      <p:bldP spid="1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20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 · Kruskal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Kruskal：边按权从小到大扫，不成环就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，并查集管判环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41732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Find(int parent[], int x){                  // 沿父结点往上找到根
    while(parent[x] != x) x = parent[x];
    return x;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01421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按边权从小到大检查；若两个端点属于不同连通分量，就加入该边；选满 n-1 条边后结束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85132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与 Prim 对着记：Prim 盯顶点往外长，Kruskal 盯边往里收；这张图扫边 2、3、5、6，和也是 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989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判环靠并查集：Find 两端点的根，根相同再加就成环；基础阶段第9节留的问题在这里兑现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20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Kruskal · 骨架填空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骨架三行：Find 找根、根不同就合并、加够 n-1 条边停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Kruskal(ALGraph G, Edge E[], int m, int vexnum){   // E 已按 w 升序
    int parent[MaxVertexNum];
    for(int i = 0; i &lt; vexnum; i++) parent[i] = i;      // ①初始化并查集：每个顶点自成一根
    int cnt = 0;
    for(int i = 0; i &lt; m &amp;&amp; cnt &lt; vexnum - 1; i++){     // ②双条件循环：边没扫完且没加够
        int a = Find(parent, E[i].u), b = Find(parent, E[i].v);
        if(a != b){ parent[a] = b; cnt++; }             // ③根不同才合并、计数
    }
}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497433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三处填空对应三行注释：每个顶点自成一棵树；扫边循环 m 与 n-1 双条件；根不同才合并并计数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20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Dijkstra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Dijkstra：dist、path、S 三个数组，每轮选最小的并入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107565"/>
            <a:ext cx="10509250" cy="3941445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56790"/>
            <a:ext cx="10180320" cy="3575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Dijkstra(MGraph G, int v0, int dist[], int path[], bool S[]){
    for(int i = 0; i &lt; G.vexnum; i++){
        dist[i] = G.edge[v0][i]; S[i] = false;      // 初始：直接连通的距离
        path[i] = (dist[i] &lt; INF) ? v0 : -1;        // 初始前驱
    }
    dist[v0] = 0; S[v0] = true;
    for(int k = 1; k &lt; G.vexnum; k++){
        int u = 选 dist 最小且 S[u] 为 false 的顶点;
        S[u] = true;                                // u 的最短路已确定
        for(int i = 0; i &lt; G.vexnum; i++)
            if(!S[i] &amp;&amp; dist[u] + G.edge[u][i] &lt; dist[i]) 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dist[i] = dist[u] + G.edge[u][i]; path[i] = u;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}
        }
    }
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20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对照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与 Dijkstra 骨架几乎一样，差别全在更新式那一行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对照点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 的含义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到生成树的最小边权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到起点 v0 的当前最短距离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更新式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边权 w 小于 dist[v] 就刷新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dist[u] 加 w 小于 dist[i] 才刷新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u 并入树，刷新邻居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u 并入 S，松弛其余顶点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最小生成树，沿 parent 还原树边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单源最短路，沿 path 还原路径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记住一个，另一个就带出来了；两个更新式分别对应主循环页与上一页代码的松弛行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20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Floyd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Floyd 三重循环：k 是中转点，必须放在最外层</a:t>
            </a:r>
            <a:endParaRPr lang="en-US" sz="2800" dirty="0"/>
          </a:p>
        </p:txBody>
      </p:sp>
      <p:pic>
        <p:nvPicPr>
          <p:cNvPr id="5" name="p11:floyd-fig" descr="D:\Program Project\SpecialtyCourses\课件\C2\C2-B-pro\C2-B-07\assets\C2-B-07-p11-fixed-floyd-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6309360" cy="2194560"/>
          </a:xfrm>
          <a:prstGeom prst="rect">
            <a:avLst/>
          </a:prstGeom>
        </p:spPr>
      </p:pic>
      <p:pic>
        <p:nvPicPr>
          <p:cNvPr id="6" name="p11:floyd-code" descr="D:\Program Project\SpecialtyCourses\课件\C2\C2-B-pro\C2-B-07\assets\C2-B-07-p11-fixed-floyd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95728"/>
            <a:ext cx="4050792" cy="1783080"/>
          </a:xfrm>
          <a:prstGeom prst="rect">
            <a:avLst/>
          </a:prstGeom>
        </p:spPr>
      </p:pic>
      <p:sp>
        <p:nvSpPr>
          <p:cNvPr id="7" name="p11:pts"/>
          <p:cNvSpPr/>
          <p:nvPr/>
        </p:nvSpPr>
        <p:spPr>
          <a:xfrm>
            <a:off x="822960" y="4754880"/>
            <a:ext cx="1054303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一句话含义：依次把每个顶点 vk 当中转点，对所有 i、j 试一次经过 vk 会不会更近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必须在最外层：A[i][k] 与 A[k][j] 必须是只允许前 k-1 个顶点中转算完的结果，k 放内层结果直接错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O(n³)；实际写要判 A[i][k] 与 A[k][j] 都小于 INF，0x3f3f3f3f 让 INF 相加不溢出成负数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20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像素距离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BFS：与普通 BFS 只差一处——所有源点先全部入队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题目形态：n×m 的 01 位图，1 是白像素，求每个像素到最近白像素的曼哈顿距离；2023 年第 2 题的解法就是它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朴素做法是对每个黑像素各做一次 BFS，n²m² 必然超时；反过来让所有白像素同时往外扩散，只扫一遍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三个细节：队列存一维编号 i×m+j，取出用除与模还原坐标；dist 等于 -1 兼作 visited；方向数组写四个方向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为什么第一次访问就是答案：BFS 逐层扩散，每扩一层距离加 1，第一次碰到的就是最近；时间 O(nm)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20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骨架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入队初始化是唯一的改动点，主循环与普通 BFS 完全一样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10509250" cy="3487420"/>
          </a:xfrm>
          <a:prstGeom prst="roundRect">
            <a:avLst>
              <a:gd name="adj" fmla="val 149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10180320" cy="320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PixelDist(int g[][MaxM], int dist[][MaxM], int n, int m){
    SqQueue Q; InitQueue(Q);
    for(int i = 0; i &lt; n; i++)
        for(int j = 0; j &lt; m; j++){                 // ①与普通 BFS 唯一的差别
            if(g[i][j] == 1){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dist[i][j] = 0; EnQueue(Q, i * m + j);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}
            else dist[i][j] = -1;                   // -1 兼作 visited
        }
    while(!IsEmpty(Q)){
        int cur; DeQueue(Q, cur);  int x = cur / m, y = cur % m;   // 编号还原坐标
        for(int d = 0; d &lt; 4; d++){ /* 越界跳过；dist 为 -1 才置值入队 */ }
    }
}
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20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逐层扩散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3×4 位图逐层扩散：两个源点同时长，每扩一层距离加 1（拿纸跟着画）</a:t>
            </a:r>
            <a:endParaRPr lang="en-US" sz="2800" dirty="0"/>
          </a:p>
        </p:txBody>
      </p:sp>
      <p:pic>
        <p:nvPicPr>
          <p:cNvPr id="5" name="p14:grid" descr="D:\Program Project\SpecialtyCourses\课件\C2\C2-B-pro\C2-B-07\assets\C2-B-07-p14-fixed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7168"/>
            <a:ext cx="3310128" cy="2487168"/>
          </a:xfrm>
          <a:prstGeom prst="rect">
            <a:avLst/>
          </a:prstGeom>
        </p:spPr>
      </p:pic>
      <p:pic>
        <p:nvPicPr>
          <p:cNvPr id="6" name="p14:queue-panel" descr="D:\Program Project\SpecialtyCourses\课件\C2\C2-B-pro\C2-B-07\assets\C2-B-07-p14-fixed-queue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487168"/>
            <a:ext cx="7050024" cy="1481328"/>
          </a:xfrm>
          <a:prstGeom prst="rect">
            <a:avLst/>
          </a:prstGeom>
        </p:spPr>
      </p:pic>
      <p:sp>
        <p:nvSpPr>
          <p:cNvPr id="7" name="p14:srctint-01"/>
          <p:cNvSpPr/>
          <p:nvPr/>
        </p:nvSpPr>
        <p:spPr>
          <a:xfrm>
            <a:off x="1765706" y="2630729"/>
            <a:ext cx="714146" cy="714146"/>
          </a:xfrm>
          <a:prstGeom prst="rect">
            <a:avLst/>
          </a:prstGeom>
          <a:solidFill>
            <a:srgbClr val="1F4E9C">
              <a:alpha val="45000"/>
            </a:srgbClr>
          </a:solidFill>
        </p:spPr>
      </p:sp>
      <p:sp>
        <p:nvSpPr>
          <p:cNvPr id="8" name="p14:srctint-22"/>
          <p:cNvSpPr/>
          <p:nvPr/>
        </p:nvSpPr>
        <p:spPr>
          <a:xfrm>
            <a:off x="2518258" y="4135831"/>
            <a:ext cx="714146" cy="714146"/>
          </a:xfrm>
          <a:prstGeom prst="rect">
            <a:avLst/>
          </a:prstGeom>
          <a:solidFill>
            <a:srgbClr val="1F4E9C">
              <a:alpha val="45000"/>
            </a:srgbClr>
          </a:solidFill>
        </p:spPr>
      </p:sp>
      <p:sp>
        <p:nvSpPr>
          <p:cNvPr id="9" name="p14:v01"/>
          <p:cNvSpPr/>
          <p:nvPr/>
        </p:nvSpPr>
        <p:spPr>
          <a:xfrm>
            <a:off x="1985162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p14:v22"/>
          <p:cNvSpPr/>
          <p:nvPr/>
        </p:nvSpPr>
        <p:spPr>
          <a:xfrm>
            <a:off x="2691994" y="430956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p14:lt1-00"/>
          <p:cNvSpPr/>
          <p:nvPr/>
        </p:nvSpPr>
        <p:spPr>
          <a:xfrm>
            <a:off x="1013155" y="2630729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2" name="p14:lt1-02"/>
          <p:cNvSpPr/>
          <p:nvPr/>
        </p:nvSpPr>
        <p:spPr>
          <a:xfrm>
            <a:off x="2518258" y="2630729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3" name="p14:lt1-11"/>
          <p:cNvSpPr/>
          <p:nvPr/>
        </p:nvSpPr>
        <p:spPr>
          <a:xfrm>
            <a:off x="1765706" y="3383280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4" name="p14:lt1-21"/>
          <p:cNvSpPr/>
          <p:nvPr/>
        </p:nvSpPr>
        <p:spPr>
          <a:xfrm>
            <a:off x="1765706" y="4135831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5" name="p14:lt1-23"/>
          <p:cNvSpPr/>
          <p:nvPr/>
        </p:nvSpPr>
        <p:spPr>
          <a:xfrm>
            <a:off x="3269894" y="4135831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6" name="p14:lt1-12"/>
          <p:cNvSpPr/>
          <p:nvPr/>
        </p:nvSpPr>
        <p:spPr>
          <a:xfrm>
            <a:off x="2518258" y="3383280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7" name="p14:v00"/>
          <p:cNvSpPr/>
          <p:nvPr/>
        </p:nvSpPr>
        <p:spPr>
          <a:xfrm>
            <a:off x="1232611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p14:v02"/>
          <p:cNvSpPr/>
          <p:nvPr/>
        </p:nvSpPr>
        <p:spPr>
          <a:xfrm>
            <a:off x="2737714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p14:v11"/>
          <p:cNvSpPr/>
          <p:nvPr/>
        </p:nvSpPr>
        <p:spPr>
          <a:xfrm>
            <a:off x="1985162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p14:v21"/>
          <p:cNvSpPr/>
          <p:nvPr/>
        </p:nvSpPr>
        <p:spPr>
          <a:xfrm>
            <a:off x="1985162" y="43552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p14:v23"/>
          <p:cNvSpPr/>
          <p:nvPr/>
        </p:nvSpPr>
        <p:spPr>
          <a:xfrm>
            <a:off x="3489350" y="43552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p14:v12"/>
          <p:cNvSpPr/>
          <p:nvPr/>
        </p:nvSpPr>
        <p:spPr>
          <a:xfrm>
            <a:off x="2737714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p14:lt2-10"/>
          <p:cNvSpPr/>
          <p:nvPr/>
        </p:nvSpPr>
        <p:spPr>
          <a:xfrm>
            <a:off x="1013155" y="3383280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4" name="p14:lt2-03"/>
          <p:cNvSpPr/>
          <p:nvPr/>
        </p:nvSpPr>
        <p:spPr>
          <a:xfrm>
            <a:off x="3269894" y="2630729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5" name="p14:lt2-13"/>
          <p:cNvSpPr/>
          <p:nvPr/>
        </p:nvSpPr>
        <p:spPr>
          <a:xfrm>
            <a:off x="3269894" y="3383280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6" name="p14:v10"/>
          <p:cNvSpPr/>
          <p:nvPr/>
        </p:nvSpPr>
        <p:spPr>
          <a:xfrm>
            <a:off x="1232611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p14:v03"/>
          <p:cNvSpPr/>
          <p:nvPr/>
        </p:nvSpPr>
        <p:spPr>
          <a:xfrm>
            <a:off x="3489350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p14:v13"/>
          <p:cNvSpPr/>
          <p:nvPr/>
        </p:nvSpPr>
        <p:spPr>
          <a:xfrm>
            <a:off x="3489350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p14:q1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初始化扫全图：白像素 dist=0 全部入队，黑像素 dist=-1 兼作 visited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(0,1), (2,2) ]</a:t>
            </a:r>
            <a:endParaRPr lang="en-US" sz="1500" dirty="0"/>
          </a:p>
        </p:txBody>
      </p:sp>
      <p:sp>
        <p:nvSpPr>
          <p:cNvPr id="30" name="p14:q2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(0,1)(2,2)，四邻居中 dist=-1 的共 6 个，dist 置 1 入队；相邻白像素只记一次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(0,0), (0,2), (1,1), (2,1), (2,3), (1,2) ]</a:t>
            </a:r>
            <a:endParaRPr lang="en-US" sz="1500" dirty="0"/>
          </a:p>
        </p:txBody>
      </p:sp>
      <p:sp>
        <p:nvSpPr>
          <p:cNvPr id="31" name="p14:q3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6 个，每个只带出 dist=-1 的新邻居，dist 置 2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(1,0), (0,3), (1,3) ]</a:t>
            </a:r>
            <a:endParaRPr lang="en-US" sz="1500" dirty="0"/>
          </a:p>
        </p:txBody>
      </p:sp>
      <p:sp>
        <p:nvSpPr>
          <p:cNvPr id="32" name="p14:q4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3 个，无新邻居可入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队列为空，扩散停止，共入队 12 次 = 像素数，时间 O(nm)</a:t>
            </a:r>
            <a:endParaRPr lang="en-US" sz="1500" dirty="0"/>
          </a:p>
        </p:txBody>
      </p:sp>
      <p:sp>
        <p:nvSpPr>
          <p:cNvPr id="33" name="p14:cap1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0 层：源点同时起跑</a:t>
            </a:r>
            <a:endParaRPr lang="en-US" sz="1500" dirty="0"/>
          </a:p>
        </p:txBody>
      </p:sp>
      <p:sp>
        <p:nvSpPr>
          <p:cNvPr id="34" name="p14:cap2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层：每扩一层距离加 1，第一次被访问就是最近距离</a:t>
            </a:r>
            <a:endParaRPr lang="en-US" sz="1500" dirty="0"/>
          </a:p>
        </p:txBody>
      </p:sp>
      <p:sp>
        <p:nvSpPr>
          <p:cNvPr id="35" name="p14:cap3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层：扩散按层推进，互不越层</a:t>
            </a:r>
            <a:endParaRPr lang="en-US" sz="1500" dirty="0"/>
          </a:p>
        </p:txBody>
      </p:sp>
      <p:sp>
        <p:nvSpPr>
          <p:cNvPr id="36" name="p14:cap4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结束：距离矩阵与手算曼哈顿距离逐个一致</a:t>
            </a:r>
            <a:endParaRPr lang="en-US" sz="1500" dirty="0"/>
          </a:p>
        </p:txBody>
      </p:sp>
      <p:sp>
        <p:nvSpPr>
          <p:cNvPr id="37" name="p14:pts"/>
          <p:cNvSpPr/>
          <p:nvPr/>
        </p:nvSpPr>
        <p:spPr>
          <a:xfrm>
            <a:off x="822960" y="5138928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白像素在 (0,1) 和 (2,2)；先拿纸手算每个像素到最近白像素的距离，再逐步对照动画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对照手算：每个像素第一次被访问的层号就是答案，最终矩阵与曼哈顿距离逐个一致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9" grpId="0" animBg="1"/>
      <p:bldP spid="33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30" grpId="0" animBg="1"/>
      <p:bldP spid="34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5" grpId="0" animBg="1"/>
      <p:bldP spid="32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20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 · 认识四个量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关键路径：ve、vl、e、l 四个量，802 考手算不写代码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推导方向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ve(j)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事件最早发生时间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拓扑序正推，前驱取最大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vl(j)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事件最迟发生时间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逆拓扑序反推，后继取最小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e(i)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活动最早开始时间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等于活动起点的 ve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l(i)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活动最迟开始时间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终点 vl 减活动时长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e(i)=l(i) 时，该活动是关键活动；关键活动组成关键路径。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本节只认四个量和推导方向，不展开代码；手算留到专业课（题集 7答10）。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20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 8：BFS 分层与多源 BFS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22960" y="2395728"/>
          <a:ext cx="10545776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模板8 BFS 分层与多源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单源分层统计、多源最近距离、01 位图扩散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源点入队 dist 置 0；出队一层，邻居 dist 加 1 再入队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O(nm) 或 O(n+e)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多源写法只改第一步：所有源点 dist 置 0 全部入队，之后与普通 BFS 完全一样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9364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求到最近源点的距离时，可以考虑多源 BFS；2023 年第 2 题采用了这一方法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20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小结与课后练习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22960" y="2395728"/>
          <a:ext cx="10545775" cy="175564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dist 并入，按边权更新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 是到树的边权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Kruskal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按权扫边，集合不同则合并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先排序，再判环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dist，按路径和松弛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别套用 Prim 更新式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Floyd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枚举中间点 k，再枚举 i、j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 必须在最外层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所有源点先入队，逐层扩展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入队时标记，dist 作判重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799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跟练：默写多源 BFS 初始化；4 顶点图手算 Prim、Kruskal 并比较总权值。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8508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题集手算：7答7、7答11、7答13、7选27，按题意记录生成树或最短路过程。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532180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拓展：像素图由四连通改为八连通，补方向数组并检查越界。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 / 20</a:t>
            </a:r>
            <a:endParaRPr lang="en-US" sz="1000" dirty="0"/>
          </a:p>
        </p:txBody>
      </p:sp>
      <p:sp>
        <p:nvSpPr>
          <p:cNvPr id="3" name="p1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教学参考 · 非背诵要求</a:t>
            </a:r>
            <a:endParaRPr lang="en-US" sz="1400" dirty="0"/>
          </a:p>
        </p:txBody>
      </p:sp>
      <p:sp>
        <p:nvSpPr>
          <p:cNvPr id="4" name="p1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实现参考（不要求背诵）</a:t>
            </a:r>
            <a:endParaRPr lang="en-US" sz="2800" dirty="0"/>
          </a:p>
        </p:txBody>
      </p:sp>
      <p:pic>
        <p:nvPicPr>
          <p:cNvPr id="5" name="p18:prim-code" descr="D:\Program Project\SpecialtyCourses\课件\C2\C2-B-pro\C2-B-07\assets\C2-B-07-p18-fixed-prim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10543032" cy="3017520"/>
          </a:xfrm>
          <a:prstGeom prst="rect">
            <a:avLst/>
          </a:prstGeom>
        </p:spPr>
      </p:pic>
      <p:sp>
        <p:nvSpPr>
          <p:cNvPr id="6" name="p18:note1"/>
          <p:cNvSpPr/>
          <p:nvPr/>
        </p:nvSpPr>
        <p:spPr>
          <a:xfrm>
            <a:off x="822960" y="5504688"/>
            <a:ext cx="1054303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实现参考：Prim代码不考、不要求背诵；手算按轮次选边并更新连接代价，记录生成树和总权值。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 / 20</a:t>
            </a:r>
            <a:endParaRPr lang="en-US" sz="1000" dirty="0"/>
          </a:p>
        </p:txBody>
      </p:sp>
      <p:sp>
        <p:nvSpPr>
          <p:cNvPr id="3" name="p1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跟练题二</a:t>
            </a:r>
            <a:endParaRPr lang="en-US" sz="1400" dirty="0"/>
          </a:p>
        </p:txBody>
      </p:sp>
      <p:sp>
        <p:nvSpPr>
          <p:cNvPr id="4" name="p1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跟练题二参考答案：多源 BFS 入队初始化（自行对照）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96596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746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多源 BFS 的入队初始化（完整代码见附录二）
for(int i = 0; i &lt; n; i++)
    for(int j = 0; j &lt; m; j++){
        if(g[i][j] == 1){ dist[i][j] = 0; EnQueue(Q, i * m + j); }
        else dist[i][j] = -1;
    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56285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多源 BFS 关键：所有白像素先全部入队，dist 置 0，其余置 -1；主循环与普通 BFS 无差别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503377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手算核对：课上那张 5 顶点图，Prim 与 Kruskal 得到的权值和都是 16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/ 20</a:t>
            </a:r>
            <a:endParaRPr lang="en-US" sz="1000" dirty="0"/>
          </a:p>
        </p:txBody>
      </p:sp>
      <p:sp>
        <p:nvSpPr>
          <p:cNvPr id="3" name="p2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手算与拓展练习</a:t>
            </a:r>
            <a:endParaRPr lang="en-US" sz="1400" dirty="0"/>
          </a:p>
        </p:txBody>
      </p:sp>
      <p:sp>
        <p:nvSpPr>
          <p:cNvPr id="4" name="p2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手算复习与拓展练习参考要点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7答7 生成树手算：Prim 逐轮选最小边并入，Kruskal 按序扫边并查集判环，两法权值和相同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7答11 Dijkstra 过程：每轮确定一个顶点的 dist，再用 dist[u] 加边权松弛其余顶点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7答13 Floyd 过程：按 k 递增画矩阵序列，每轮固定中转点 k，试全部 i、j 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7选27 最短路径手算：先跑 Dijkstra 求单源，看清题目问的是路径长还是路径本身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八连通变式：方向数组从 4 个扩成 8 个，越界判断与 dist 判重都不变，复杂度仍是 O(nm)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" y="4841748"/>
            <a:ext cx="10509199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51476"/>
            <a:ext cx="10180015" cy="37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dir[8][2] = {{-1,0},{1,0},{0,-1},{0,1},{-1,-1},{-1,1},{1,-1},{1,1}};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7126</Words>
  <Application>WPS 演示</Application>
  <PresentationFormat>On-screen Show (16:9)</PresentationFormat>
  <Paragraphs>422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图算法二：生成树与最短路径</dc:title>
  <dc:creator>牙膏学长</dc:creator>
  <dc:subject>PptxGenJS Presentation</dc:subject>
  <cp:lastModifiedBy>倾殇醉</cp:lastModifiedBy>
  <cp:revision>20</cp:revision>
  <dcterms:created xsi:type="dcterms:W3CDTF">2026-10-04T13:28:00Z</dcterms:created>
  <dcterms:modified xsi:type="dcterms:W3CDTF">2026-10-07T05:42:56Z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0412C3F3A9854BE4A1E67529A2A89D19_12</vt:lpwstr>
  </property>
</Properties>
</file>