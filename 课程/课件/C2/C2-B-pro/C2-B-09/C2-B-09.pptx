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第9节 排序算法一：插入与交换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p0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排序 · 下标基准</a:t>
            </a:r>
            <a:endParaRPr lang="en-US" sz="1400" dirty="0"/>
          </a:p>
        </p:txBody>
      </p:sp>
      <p:sp>
        <p:nvSpPr>
          <p:cNvPr id="4" name="p0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两套下标基准与哨兵位的三个作用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zh-CN" altLang="en-US" sz="1800" dirty="0">
                <a:solidFill>
                  <a:srgbClr val="000000"/>
                </a:solidFill>
              </a:rPr>
              <a:t>查找</a:t>
            </a:r>
            <a:r>
              <a:rPr lang="en-US" sz="1800" dirty="0">
                <a:solidFill>
                  <a:srgbClr val="000000"/>
                </a:solidFill>
              </a:rPr>
              <a:t>章节把 data[0] 留作哨兵，数据存在 data[1..length]，本节第一次在算法中实际用到哨兵下标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哨兵的三个作用：①直接插入里存待插元素，腾出一个变量位；②免掉循环的越界判断（j 减到 0 时 data[j]&gt;data[0] 必然为假）；③快排里存枢轴，避免反复读写 low 位置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哨兵只在需要它的算法里用；冒泡不需要哨兵，它从 0 开始是另一种写法，</a:t>
            </a:r>
            <a:r>
              <a:rPr lang="zh-CN" altLang="en-US" sz="1800" dirty="0">
                <a:solidFill>
                  <a:srgbClr val="000000"/>
                </a:solidFill>
              </a:rPr>
              <a:t>在</a:t>
            </a:r>
            <a:r>
              <a:rPr lang="en-US" sz="1800" dirty="0">
                <a:solidFill>
                  <a:srgbClr val="000000"/>
                </a:solidFill>
              </a:rPr>
              <a:t>第8页</a:t>
            </a:r>
            <a:r>
              <a:rPr lang="zh-CN" altLang="en-US" sz="1800" dirty="0">
                <a:solidFill>
                  <a:srgbClr val="000000"/>
                </a:solidFill>
              </a:rPr>
              <a:t>会</a:t>
            </a:r>
            <a:r>
              <a:rPr lang="en-US" sz="1800" dirty="0">
                <a:solidFill>
                  <a:srgbClr val="000000"/>
                </a:solidFill>
              </a:rPr>
              <a:t>专门说明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644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两套下标基准：线性表与查找章节 data[0] 起存、位序 1 起；排序章节 data[0] 是哨兵、数据 1 起。做题先看清题目用哪套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p0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直接插入</a:t>
            </a:r>
            <a:endParaRPr lang="en-US" sz="1400" dirty="0"/>
          </a:p>
        </p:txBody>
      </p:sp>
      <p:sp>
        <p:nvSpPr>
          <p:cNvPr id="4" name="p0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直接插入：j 减到 0 为什么一定跳出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42316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203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InsertSort(SqList &amp;L){                   // 数据存 L.data[1..length]
    for(int i = 2; i &lt;= L.length; i++){
        L.data[0] = L.data[i];                // 哨兵存待插入元素
        int j = i - 1;
        while(L.data[j] &gt; L.data[0]){         // j=0 时必然跳出
            L.data[j + 1] = L.data[j];  j--;
        }
        L.data[j + 1] = L.data[0];
    }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外层 i 从 2 开始：data[1] 一个元素天然有序，从第 2 个起逐个插入前面的有序区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1045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关键设问：j 减到 0 时循环为什么一定跳出？data[0] 存的就是待插元素自己，data[0]&gt;data[0] 为假——这就是哨兵免掉越界判断的原理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94192" y="4476750"/>
            <a:ext cx="2974543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 O(n²)，最好情况（已有序）O(n)：每趟只比较一次、不移动；稳定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8" grpId="0"/>
      <p:bldP spid="9" grpId="0"/>
      <p:bldP spid="7" grpId="1"/>
      <p:bldP spid="8" grpId="1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p0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直接插入 · 过程页</a:t>
            </a:r>
            <a:endParaRPr lang="en-US" sz="1400" dirty="0"/>
          </a:p>
        </p:txBody>
      </p:sp>
      <p:sp>
        <p:nvSpPr>
          <p:cNvPr id="4" name="p0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五个数的直接插入逐趟（拿纸跟画）</a:t>
            </a:r>
            <a:endParaRPr lang="en-US" sz="2800" dirty="0"/>
          </a:p>
        </p:txBody>
      </p:sp>
      <p:pic>
        <p:nvPicPr>
          <p:cNvPr id="5" name="p04:initial" descr="D:\Program Project\SpecialtyCourses\课件\C2\C2-B-pro\C2-B-09\assets\C2-B-09-p04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04:s1" descr="D:\Program Project\SpecialtyCourses\课件\C2\C2-B-pro\C2-B-09\assets\C2-B-09-p04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04:s2" descr="D:\Program Project\SpecialtyCourses\课件\C2\C2-B-pro\C2-B-09\assets\C2-B-09-p04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04:s3" descr="D:\Program Project\SpecialtyCourses\课件\C2\C2-B-pro\C2-B-09\assets\C2-B-09-p04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9" name="p04:s4" descr="D:\Program Project\SpecialtyCourses\课件\C2\C2-B-pro\C2-B-09\assets\C2-B-09-p04-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p0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折半插入</a:t>
            </a:r>
            <a:endParaRPr lang="en-US" sz="1400" dirty="0"/>
          </a:p>
        </p:txBody>
      </p:sp>
      <p:sp>
        <p:nvSpPr>
          <p:cNvPr id="4" name="p0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折半插入：比较与移动要分开算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395855"/>
            <a:ext cx="7278370" cy="3023235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710"/>
            <a:ext cx="6949440" cy="28314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BinarySort(SqList &amp;L){
    for(int i = 2; i &lt;= L.length; i++){
        if(L.data[i] &gt;= L.data[i-1]) continue;      // 已就位，跳过
        L.data[0] = L.data[i]; 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int low = 1, high = i - 1;
        while(low &lt;= high){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int mid = (low+high)/2;
            if(L.data[0] &lt; L.data[mid]) high = mid - 1;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else low = mid + 1; }
        for(int j = i; j &gt; low; j--) L.data[j] = L.data[j-1];
        L.data[low] = L.data[0];
    }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改的只是'找插入位置'这一步：前面有序区用折半定位，每趟比较次数降到 O(logn)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1045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关键认识：比较次数降到 O(nlogn)，但移动次数仍是 O(n²)（找到位置后照样统一后移），总体时间复杂度不变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94192" y="4476750"/>
            <a:ext cx="2974543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'比较与移动分开算'是选择题常考点：折半插入没有降低时间复杂度，只减少了比较次数；开头 continue 是已就位优化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8" grpId="0"/>
      <p:bldP spid="9" grpId="0"/>
      <p:bldP spid="7" grpId="1"/>
      <p:bldP spid="8" grpId="1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p0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二路插入</a:t>
            </a:r>
            <a:endParaRPr lang="en-US" sz="1400" dirty="0"/>
          </a:p>
        </p:txBody>
      </p:sp>
      <p:sp>
        <p:nvSpPr>
          <p:cNvPr id="4" name="p0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二路插入：first 与 final 在循环表上夹出空位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395728"/>
          <a:ext cx="10545776" cy="1682496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first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final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做什么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空表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首个元素先放入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插入值较小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向前移动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first 前移，左侧腾出位置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插入值较大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向后移动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final 后移，右侧腾出位置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3208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目标是减少移动；辅助数组带来 O(n) 空间，802 以手算为主。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p0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希尔排序</a:t>
            </a:r>
            <a:endParaRPr lang="en-US" sz="1400" dirty="0"/>
          </a:p>
        </p:txBody>
      </p:sp>
      <p:sp>
        <p:nvSpPr>
          <p:cNvPr id="4" name="p0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希尔排序：按增量分组，各组分别做插入排序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22960" y="2395728"/>
          <a:ext cx="10545775" cy="1755648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增量 d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分组方式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这一趟的动作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d=3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下标同余于3的元素一组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每组内部插入排序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d=2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间距缩短，组内成员更多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继续让元素靠近最终位置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d=1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所有元素归为一组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最后一趟就是直接插入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79976"/>
            <a:ext cx="10545775" cy="3208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增量序列不同，趟次与复杂度也不同；希尔排序不稳定。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p0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冒泡排序</a:t>
            </a:r>
            <a:endParaRPr lang="en-US" sz="1400" dirty="0"/>
          </a:p>
        </p:txBody>
      </p:sp>
      <p:sp>
        <p:nvSpPr>
          <p:cNvPr id="4" name="p0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冒泡：提前退出优化与下标说明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395855"/>
            <a:ext cx="7278370" cy="2933065"/>
          </a:xfrm>
          <a:prstGeom prst="roundRect">
            <a:avLst>
              <a:gd name="adj" fmla="val 1608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710"/>
            <a:ext cx="6949440" cy="270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BubbleSort(SqList &amp;L){              // 材料按 0 起写：数据存 data[0..length-1]
    for(int i = 0; i &lt; L.length - 1; i++){
        bool swapped = false;
        for(int j = 0; j &lt; L.length - 1 - i; j++)
            if(L.data[j] &gt; L.data[j+1]){
                int tmp = L.data[j];
                L.data[j] = L.data[j+1];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L.data[j+1] = tmp;
                swapped = true;
            }
        if(!swapped) break;              // 本趟没交换说明已有序
    }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1045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每趟把最大的往后冒：相邻比较、逆序就交换，一趟下来最大的沉到末尾；swapped 标志让最好情况（已有序）降到 O(n)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514344"/>
            <a:ext cx="2883103" cy="12931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下标说明：这段材料按 0 起写、数据存 data[0..length-1]，与本章其他用哨兵的排序（1 起）起点不同，是伪代码的写法差异，不影响算法——做题看清题目给的起点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94192" y="4972050"/>
            <a:ext cx="2974543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时间最坏与平均 O(n²)、最好 O(n)；空间 O(1)；稳定（相等不交换，相对次序不变）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8" grpId="0"/>
      <p:bldP spid="9" grpId="0"/>
      <p:bldP spid="7" grpId="1"/>
      <p:bldP spid="8" grpId="1"/>
      <p:bldP spid="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p0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快速排序 · Partition</a:t>
            </a:r>
            <a:endParaRPr lang="en-US" sz="1400" dirty="0"/>
          </a:p>
        </p:txBody>
      </p:sp>
      <p:sp>
        <p:nvSpPr>
          <p:cNvPr id="4" name="p0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快排 Partition：哨兵存枢轴，挖坑填数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42316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203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Partition(SqList &amp;L, int low, int high){
    L.data[0] = L.data[low];                  // 哨兵存枢轴，low 位置成坑
    while(low &lt; high){
        while(L.data[high] &gt;= L.data[0] &amp;&amp; low &lt; high) high--;
        L.data[low] = L.data[high];           // 填左坑，high 变新坑
        while(L.data[low] &lt;= L.data[0] &amp;&amp; low &lt; high) low++;
        L.data[high] = L.data[low];           // 填右坑，low 变新坑
    }
    L.data[low] = L.data[0];  return low;     // 枢轴归位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1045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挖坑填数：枢轴挖出来存进哨兵，从右找第一个比枢轴小的填进坑，再从左找第一个比枢轴大的填过去，相遇时枢轴放进最后的坑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514344"/>
            <a:ext cx="2883103" cy="1045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内外两层循环条件都要带 low&lt;high，否则越界；QuickSort 递归是 (low,p-1) 与 (p+1,high)，枢轴已归位不能再包含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94192" y="4724400"/>
            <a:ext cx="2974543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 O(nlogn)，最坏（已有序）O(n²)，空间 O(logn) 递归栈；不稳定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8" grpId="0"/>
      <p:bldP spid="9" grpId="0"/>
      <p:bldP spid="7" grpId="1"/>
      <p:bldP spid="8" grpId="1"/>
      <p:bldP spid="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p1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Partition · 过程页</a:t>
            </a:r>
            <a:endParaRPr lang="en-US" sz="1400" dirty="0"/>
          </a:p>
        </p:txBody>
      </p:sp>
      <p:sp>
        <p:nvSpPr>
          <p:cNvPr id="4" name="p1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Partition：按挖坑顺序逐次移动枢轴</a:t>
            </a:r>
            <a:endParaRPr lang="en-US" sz="2800" dirty="0"/>
          </a:p>
        </p:txBody>
      </p:sp>
      <p:pic>
        <p:nvPicPr>
          <p:cNvPr id="5" name="p10:initial" descr="D:\Program Project\SpecialtyCourses\课件\C2\C2-B-pro\C2-B-09\assets\C2-B-09-p10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10:s1" descr="D:\Program Project\SpecialtyCourses\课件\C2\C2-B-pro\C2-B-09\assets\C2-B-09-p10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10:s2" descr="D:\Program Project\SpecialtyCourses\课件\C2\C2-B-pro\C2-B-09\assets\C2-B-09-p10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10:s3" descr="D:\Program Project\SpecialtyCourses\课件\C2\C2-B-pro\C2-B-09\assets\C2-B-09-p10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9" name="p10:s4" descr="D:\Program Project\SpecialtyCourses\课件\C2\C2-B-pro\C2-B-09\assets\C2-B-09-p10-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p11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平均值划分 · 勘误A2</a:t>
            </a:r>
            <a:endParaRPr lang="en-US" sz="1400" dirty="0"/>
          </a:p>
        </p:txBody>
      </p:sp>
      <p:sp>
        <p:nvSpPr>
          <p:cNvPr id="4" name="p11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平均值划分：保证每次递归都缩小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395855"/>
            <a:ext cx="7278370" cy="3629660"/>
          </a:xfrm>
          <a:prstGeom prst="roundRect">
            <a:avLst>
              <a:gd name="adj" fmla="val 1608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710"/>
            <a:ext cx="6949440" cy="3375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QuickSortAvg(int R[], int low, int high){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if(low &gt;= high) return;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sum=0;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for(int i=low;i&lt;=high;i++) sum += R[i];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avg = sum / (high - low + 1), i = low, j = high;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while(i &lt;= j){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while(i&lt;=j &amp;&amp; R[i]&lt;=avg) i++;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while(i&lt;=j &amp;&amp; R[j]&gt;avg) j--;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if(i&lt;j){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int t=R[i]; R[i]=R[j]; R[j]=t;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i++; j--;</a:t>
            </a:r>
            <a:endParaRPr lang="en-US" sz="11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if(low&lt;=j &amp;&amp; j&lt;high) QuickSortAvg(R,low,j); // j&lt;high 保证左区间缩小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if(low&lt;i &amp;&amp; i&lt;=high) QuickSortAvg(R,i,high); // low&lt;i 保证右区间缩小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R={5,5,5}、avg=5：i 越过 high，j 停在 high。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019044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不加保护时，左区间 [0,2] 原样递归，调用不结束。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3642360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j&lt;high、low&lt;i 只放行真正缩小的子区间。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8" grpId="0"/>
      <p:bldP spid="9" grpId="0"/>
      <p:bldP spid="7" grpId="1"/>
      <p:bldP spid="8" grpId="1"/>
      <p:bldP spid="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p1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p1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折半查找框架与条件调整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3657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模板9 二分框架改判定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有序或特殊序列的查找与划分变式（2021 双调序列、平均值划分同族）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low/high（或 i/j）夹逼，中间位置按题目条件决定往哪半走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O(logn) 或 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465576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这几种写法都通过调整区间或双指针逐步缩小待处理范围；C3 会结合新题说明何时可以使用、边界如何更新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p1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p1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插入与交换：六个算法的复杂度与稳定性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822960" y="2395728"/>
          <a:ext cx="10545775" cy="256032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平均/最坏时间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稳定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直接插入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O(n²) / O(n²)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折半插入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O(n²) / O(n²)，比较次数更少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二路插入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O(n²) / O(n²)，移动较少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希尔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依赖增量序列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冒泡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O(n²) / O(n²)，有序时可到 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快速排序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O(nlogn) / O(n²)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84648"/>
            <a:ext cx="10545775" cy="301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折半插入减少比较，不会消除元素移动；复杂度细节按题目给定实现判断。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p1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p1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算法复习与边界练习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跟练题</a:t>
            </a:r>
            <a:r>
              <a:rPr lang="en-US" sz="1800" dirty="0">
                <a:solidFill>
                  <a:srgbClr val="000000"/>
                </a:solidFill>
              </a:rPr>
              <a:t>：默写直接插入与 Partition；给序列 49、38、65、97、76、13、27 写出直接插入每一趟的结果与快排第一趟划分的结果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题集手算复习</a:t>
            </a:r>
            <a:r>
              <a:rPr lang="en-US" sz="1800" dirty="0">
                <a:solidFill>
                  <a:srgbClr val="000000"/>
                </a:solidFill>
              </a:rPr>
              <a:t>：10答2（Partition）、10选21 与 10选42（快排第二趟）、10选15 与 10选25（希尔一趟），练习课堂算法的过程追踪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边界练习</a:t>
            </a:r>
            <a:r>
              <a:rPr lang="en-US" sz="1800" dirty="0">
                <a:solidFill>
                  <a:srgbClr val="000000"/>
                </a:solidFill>
              </a:rPr>
              <a:t>：把平均值划分代码用于 R={5,5,5}，说明为什么需要进度保护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默写要求：合上资料能写出直接插入与 Partition；参考答案在本PPT最后两页，课后自行对照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p1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p1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直接插入每趟：38 49 65 97 76 13 27 → 38 49 65 97 76 13 27（65、97就位）→ 38 49 65 76 97 13 27 → 13 38 49 65 76 97 27 → 13 27 38 49 65 76 97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快排第一趟（枢轴49）：27 38 13 49 76 97 65，枢轴归位第4个，左边全小右边全大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直接插入与 Partition 代码见本节代码合集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42816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直接插入最好情况（已有序）每趟只比较1次；Partition 的坑位移动次序：1→7→3→6→4，枢轴最后填进 data[4]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p1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手算与边界练习</a:t>
            </a:r>
            <a:endParaRPr lang="en-US" sz="1400" dirty="0"/>
          </a:p>
        </p:txBody>
      </p:sp>
      <p:sp>
        <p:nvSpPr>
          <p:cNvPr id="4" name="p1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题集手算与边界练习参考要点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10答2 Partition 过程：枢轴存哨兵，两边交替填坑，相遇时枢轴归位；每趟标出 low、high 与坑的位置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10选21、10选42 快排第二趟判别：第一趟枢轴归位后，左右两段各自再走一趟 Partition，对照选项模拟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10选15、10选25 希尔一趟：按增量 d 分组，各组内做直接插入，写出该趟结束时的序列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自编题 R={5,5,5}：avg=5，i 推到 high+1、j 停在 high，不加 j&lt;high 保护则递归区间没有缩小，调用无法结束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希尔与快排的趟次判别都是手算常考点；进度保护的道理适用于一切递归——区间必须真的变小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5151</Words>
  <Application>WPS 演示</Application>
  <PresentationFormat>On-screen Show (16:9)</PresentationFormat>
  <Paragraphs>315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排序算法一：插入与交换</dc:title>
  <dc:creator>牙膏学长</dc:creator>
  <dc:subject>PptxGenJS Presentation</dc:subject>
  <cp:lastModifiedBy>倾殇醉</cp:lastModifiedBy>
  <cp:revision>18</cp:revision>
  <dcterms:created xsi:type="dcterms:W3CDTF">2026-10-04T13:28:00Z</dcterms:created>
  <dcterms:modified xsi:type="dcterms:W3CDTF">2026-10-07T11:41:50Z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8614496489C54BB6843752A5FA2985C2_12</vt:lpwstr>
  </property>
  <property fmtid="{D5CDD505-2E9C-101B-9397-08002B2CF9AE}" pid="3" name="KSOProductBuildVer">
    <vt:lpwstr>2052-12.1.0.28505</vt:lpwstr>
  </property>
</Properties>
</file>