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1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重邮802 数据结构代码课程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数据结构强化阶段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第5节 树算法二：层序与路径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阶段：强化 ｜ 主讲：牙膏学长 ｜ 预计45分钟 ｜ 资料答疑：伴梦研途QQ群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2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/ 17</a:t>
            </a:r>
            <a:endParaRPr lang="en-US" sz="1000" dirty="0"/>
          </a:p>
        </p:txBody>
      </p:sp>
      <p:sp>
        <p:nvSpPr>
          <p:cNvPr id="3" name="p02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引题</a:t>
            </a:r>
            <a:endParaRPr lang="en-US" sz="1400" dirty="0"/>
          </a:p>
        </p:txBody>
      </p:sp>
      <p:sp>
        <p:nvSpPr>
          <p:cNvPr id="4" name="p02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层序遍历能干什么，last 为什么需要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层序遍历按层访问：队列一圈一圈往外扩，数据结构基础阶段第7节已经写过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它直接能答的问题：树有几层、结点总数是多少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它答不了的问题：每一层有多少个结点、哪一层最宽——队列本身不知道一层到哪里结束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3808476"/>
            <a:ext cx="10454335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FF0000"/>
                </a:solidFill>
              </a:rPr>
              <a:t>加一个变量 last：记下当前层最右结点在队列里的下标</a:t>
            </a:r>
            <a:r>
              <a:rPr lang="en-US" sz="1800" dirty="0">
                <a:solidFill>
                  <a:srgbClr val="000000"/>
                </a:solidFill>
              </a:rPr>
              <a:t>；出队越过 last，说明本层全部出完，此时队尾 rear 就是下一层最右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622292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记住这个机制：所有按层统计的题，都是它的变体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3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/ 17</a:t>
            </a:r>
            <a:endParaRPr lang="en-US" sz="1000" dirty="0"/>
          </a:p>
        </p:txBody>
      </p:sp>
      <p:sp>
        <p:nvSpPr>
          <p:cNvPr id="3" name="p03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求宽度 · 模板6</a:t>
            </a:r>
            <a:endParaRPr lang="en-US" sz="1400" dirty="0"/>
          </a:p>
        </p:txBody>
      </p:sp>
      <p:sp>
        <p:nvSpPr>
          <p:cNvPr id="4" name="p03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求树的宽度：四个变量分工，last 在层结束那一刻换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151380"/>
            <a:ext cx="7278370" cy="3771265"/>
          </a:xfrm>
          <a:prstGeom prst="roundRect">
            <a:avLst>
              <a:gd name="adj" fmla="val 1497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425" y="2261235"/>
            <a:ext cx="6949440" cy="36683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Width(BiTree T){
    if(T == NULL) return 0;
    int front = 0, rear = -1, last = 0;
    int </a:t>
            </a: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temp = 0, maxwidth = 0;</a:t>
            </a:r>
            <a:endParaRPr lang="en-US" sz="1100" dirty="0">
              <a:solidFill>
                <a:srgbClr val="1F2329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BiTree Q[MaxSize]; BiTree p;  Q[++rear] = T;</a:t>
            </a:r>
            <a:endParaRPr lang="en-US" sz="1100" dirty="0">
              <a:solidFill>
                <a:srgbClr val="1F2329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while(front &lt;= last){                 // 终止条件用 last
        p = Q[front++]; temp++;
        if(p-&gt;lchild != NULL) Q[++rear] = p-&gt;lchild;
        if(p-&gt;rchild != NULL) Q[++rear] = p-&gt;rchild;
        if(front &gt; last){ </a:t>
            </a:r>
            <a:endParaRPr lang="en-US" sz="1100" dirty="0">
              <a:solidFill>
                <a:srgbClr val="1F2329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457200" lvl="1" indent="45720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last = rear;    // 本层结束：last 换成队尾
      if(temp &gt; maxwidth) maxwidth = temp;
      temp = 0;</a:t>
            </a:r>
            <a:endParaRPr lang="en-US" sz="1100" dirty="0">
              <a:solidFill>
                <a:srgbClr val="1F2329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lv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} }
    return maxwidth;
}
</a:t>
            </a:r>
            <a:endParaRPr lang="en-US" sz="1100" dirty="0">
              <a:solidFill>
                <a:srgbClr val="1F2329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467344" y="2395728"/>
            <a:ext cx="2883103" cy="5501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层序遍历按层计数，last 标记当前层最后一个队列位置。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67344" y="3019044"/>
            <a:ext cx="2883103" cy="7978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front、rear 管队列，temp 计当前层；front 越过 last 时结算并更新 last。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67344" y="3890010"/>
            <a:ext cx="2883103" cy="5501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每个结点入队、出队各一次，时间 O(n)，队列空间 O(n)。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/>
      <p:bldP spid="8" grpId="0"/>
      <p:bldP spid="9" grpId="0"/>
      <p:bldP spid="7" grpId="1"/>
      <p:bldP spid="8" grpId="1"/>
      <p:bldP spid="9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4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/ 17</a:t>
            </a:r>
            <a:endParaRPr lang="en-US" sz="1000" dirty="0"/>
          </a:p>
        </p:txBody>
      </p:sp>
      <p:sp>
        <p:nvSpPr>
          <p:cNvPr id="3" name="p04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求宽度 · 推演</a:t>
            </a:r>
            <a:endParaRPr lang="en-US" sz="1400" dirty="0"/>
          </a:p>
        </p:txBody>
      </p:sp>
      <p:sp>
        <p:nvSpPr>
          <p:cNvPr id="4" name="p04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三层树的宽度计算：跟住 last 与 rear 的变化（拿纸跟着画）</a:t>
            </a:r>
            <a:endParaRPr lang="en-US" sz="2800" dirty="0"/>
          </a:p>
        </p:txBody>
      </p:sp>
      <p:pic>
        <p:nvPicPr>
          <p:cNvPr id="5" name="p04:initial" descr="D:\Program Project\SpecialtyCourses\课件\C2\C2-B-pro\C2-B-05\assets\C2-B-05-p04-ini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  <p:pic>
        <p:nvPicPr>
          <p:cNvPr id="6" name="p04:s1" descr="D:\Program Project\SpecialtyCourses\课件\C2\C2-B-pro\C2-B-05\assets\C2-B-05-p04-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  <p:pic>
        <p:nvPicPr>
          <p:cNvPr id="7" name="p04:s2" descr="D:\Program Project\SpecialtyCourses\课件\C2\C2-B-pro\C2-B-05\assets\C2-B-05-p04-s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  <p:pic>
        <p:nvPicPr>
          <p:cNvPr id="8" name="p04:s3" descr="D:\Program Project\SpecialtyCourses\课件\C2\C2-B-pro\C2-B-05\assets\C2-B-05-p04-s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5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 / 17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真题·2024</a:t>
            </a:r>
            <a:endParaRPr lang="en-US" sz="1300" dirty="0"/>
          </a:p>
        </p:txBody>
      </p:sp>
      <p:sp>
        <p:nvSpPr>
          <p:cNvPr id="5" name="p05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繁荣度 · 模板6</a:t>
            </a:r>
            <a:endParaRPr lang="en-US" sz="1400" dirty="0"/>
          </a:p>
        </p:txBody>
      </p:sp>
      <p:sp>
        <p:nvSpPr>
          <p:cNvPr id="6" name="p05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繁荣度：求宽度的代码改三处，层号从 1 起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41375" y="2395855"/>
            <a:ext cx="7278370" cy="3446145"/>
          </a:xfrm>
          <a:prstGeom prst="roundRect">
            <a:avLst>
              <a:gd name="adj" fmla="val 1608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505710"/>
            <a:ext cx="6949440" cy="31832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prosperity(BiTree T){
    if(T == NULL) return 0;
    int front = 0, rear = -1, last = 0;</a:t>
            </a:r>
            <a:endParaRPr lang="en-US" sz="1100" dirty="0">
              <a:solidFill>
                <a:srgbClr val="1F2329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int height = 1, width = 0, totalProsper = 0;
    BiTree Q[MaxSize]; BiTree p;  Q[++rear] = T;
    while(front &lt;= last){                        // 外层统一用 last
        p = Q[front++]; width++;
        if(p-&gt;lchild != NULL) Q[++rear] = p-&gt;lchild;
        if(p-&gt;rchild != NULL) Q[++rear] = p-&gt;rchild;
        if(front &gt; last){</a:t>
            </a:r>
            <a:endParaRPr lang="en-US" sz="1100" dirty="0">
              <a:solidFill>
                <a:srgbClr val="1F2329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totalProsper += height * width;  // 层号乘本层结点数
            last = rear; height++; width = 0;</a:t>
            </a:r>
            <a:endParaRPr lang="en-US" sz="1100" dirty="0">
              <a:solidFill>
                <a:srgbClr val="1F2329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}}
    return totalProsper;
}
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67344" y="2395728"/>
            <a:ext cx="2883103" cy="5501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繁荣度是各层“层号 × 结点数”的总和。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67344" y="3019044"/>
            <a:ext cx="2883103" cy="5501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沿用宽度算法，只需记录层号并在层结束时累加。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467344" y="3642360"/>
            <a:ext cx="2883103" cy="5501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层号从 1 开始，按题目给出的定义取值。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9" grpId="0"/>
      <p:bldP spid="10" grpId="0"/>
      <p:bldP spid="11" grpId="0"/>
      <p:bldP spid="9" grpId="1"/>
      <p:bldP spid="10" grpId="1"/>
      <p:bldP spid="11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6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 / 17</a:t>
            </a:r>
            <a:endParaRPr lang="en-US" sz="1000" dirty="0"/>
          </a:p>
        </p:txBody>
      </p:sp>
      <p:sp>
        <p:nvSpPr>
          <p:cNvPr id="3" name="p06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递归携带信息</a:t>
            </a:r>
            <a:endParaRPr lang="en-US" sz="1400" dirty="0"/>
          </a:p>
        </p:txBody>
      </p:sp>
      <p:sp>
        <p:nvSpPr>
          <p:cNvPr id="4" name="p06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递归中携带额外信息：从判平衡到最长路径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上一节的判平衡：返回值不够用时，让返回值兼报状态——平衡报高度，不平衡报 -1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再进一步：信息放不进返回值，就带一个跨层共享的变量进来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本节两个例子：最长路径带 path、maxPath 两个数组和 maxLen；判 BST 带 prev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3808476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区分方式：每层需要独立副本时用值传递；递归各层要共享并修改数据时用引用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279392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先想一步：pathLen 与 maxLen，哪个该用引用？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7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 / 17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真题·2025</a:t>
            </a:r>
            <a:endParaRPr lang="en-US" sz="1300" dirty="0"/>
          </a:p>
        </p:txBody>
      </p:sp>
      <p:sp>
        <p:nvSpPr>
          <p:cNvPr id="5" name="p07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最长路径 · 双数组</a:t>
            </a:r>
            <a:endParaRPr lang="en-US" sz="1400" dirty="0"/>
          </a:p>
        </p:txBody>
      </p:sp>
      <p:sp>
        <p:nvSpPr>
          <p:cNvPr id="6" name="p07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最长路径：path 记当前，maxPath 记最长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41248" y="2395728"/>
            <a:ext cx="7278624" cy="2843784"/>
          </a:xfrm>
          <a:prstGeom prst="roundRect">
            <a:avLst>
              <a:gd name="adj" fmla="val 1608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505456"/>
            <a:ext cx="6949440" cy="2624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longestPath(BiTree node, int path[], int pathLen, int maxPath[], int &amp;maxLen){
    if(node == NULL) return;
    path[pathLen++] = node-&gt;data;                      // 当前结点入路径
    if(node-&gt;lchild == NULL &amp;&amp; node-&gt;rchild == NULL){  // 到叶子了
        if(pathLen &gt; maxLen){
            maxLen = pathLen;
            for(int i = 0; i &lt; maxLen; i++) maxPath[i] = path[i];  // 拷当前路径
        }
    }else{
        longestPath(node-&gt;lchild, path, pathLen, maxPath, maxLen);
        longestPath(node-&gt;rchild, path, pathLen, maxPath, maxLen); }
}
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67344" y="2395728"/>
            <a:ext cx="2883103" cy="5501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path 记录当前根到叶的路径，maxPath 保存目前最长路径。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67344" y="3019044"/>
            <a:ext cx="2883103" cy="7978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pathLen 按值传递，递归返回后自然恢复；最长长度和答案数组需要跨层更新。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467344" y="3890010"/>
            <a:ext cx="2883103" cy="5501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在叶子处比较长度并复制路径；时间 O(n)，两个数组空间 O(n)。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8" grpId="1"/>
      <p:bldP spid="9" grpId="1"/>
      <p:bldP spid="10" grpId="1"/>
      <p:bldP spid="11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8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 / 17</a:t>
            </a:r>
            <a:endParaRPr lang="en-US" sz="1000" dirty="0"/>
          </a:p>
        </p:txBody>
      </p:sp>
      <p:sp>
        <p:nvSpPr>
          <p:cNvPr id="3" name="p08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最长路径 · 推演</a:t>
            </a:r>
            <a:endParaRPr lang="en-US" sz="1400" dirty="0"/>
          </a:p>
        </p:txBody>
      </p:sp>
      <p:sp>
        <p:nvSpPr>
          <p:cNvPr id="4" name="p08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最长路径的递归过程：两个数组的内容变化（拿纸跟着画）</a:t>
            </a:r>
            <a:endParaRPr lang="en-US" sz="2800" dirty="0"/>
          </a:p>
        </p:txBody>
      </p:sp>
      <p:pic>
        <p:nvPicPr>
          <p:cNvPr id="5" name="p08:initial" descr="D:\Program Project\SpecialtyCourses\课件\C2\C2-B-pro\C2-B-05\assets\C2-B-05-p08-ini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  <p:pic>
        <p:nvPicPr>
          <p:cNvPr id="6" name="p08:s1" descr="D:\Program Project\SpecialtyCourses\课件\C2\C2-B-pro\C2-B-05\assets\C2-B-05-p08-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  <p:pic>
        <p:nvPicPr>
          <p:cNvPr id="7" name="p08:s2" descr="D:\Program Project\SpecialtyCourses\课件\C2\C2-B-pro\C2-B-05\assets\C2-B-05-p08-s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  <p:pic>
        <p:nvPicPr>
          <p:cNvPr id="8" name="p08:s3" descr="D:\Program Project\SpecialtyCourses\课件\C2\C2-B-pro\C2-B-05\assets\C2-B-05-p08-s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  <p:pic>
        <p:nvPicPr>
          <p:cNvPr id="9" name="p08:s4" descr="D:\Program Project\SpecialtyCourses\课件\C2\C2-B-pro\C2-B-05\assets\C2-B-05-p08-s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9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 / 17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真题·2024</a:t>
            </a:r>
            <a:endParaRPr lang="en-US" sz="1300" dirty="0"/>
          </a:p>
        </p:txBody>
      </p:sp>
      <p:sp>
        <p:nvSpPr>
          <p:cNvPr id="5" name="p09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判 BST · 思路</a:t>
            </a:r>
            <a:endParaRPr lang="en-US" sz="1400" dirty="0"/>
          </a:p>
        </p:txBody>
      </p:sp>
      <p:sp>
        <p:nvSpPr>
          <p:cNvPr id="6" name="p09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判 BST：中序加 prev，prev 必须引用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BST 的性质：中序遍历序列严格递增；判 BST 就是查中序序列是不是严格递增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做法：中序遍历时用 prev 记住上一个访问的值，当前值不大于 prev 就不是 BST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为什么用中序不用先序：只有中序序列对 BST 是有序的，先序无序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3808476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prev 必须引用：它跨递归层共享，上一层写完，下一层要读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96112" y="4279392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先想一步：prev 的初值写 -1 行不行？树里出现负数会怎样？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0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 / 17</a:t>
            </a:r>
            <a:endParaRPr lang="en-US" sz="1000" dirty="0"/>
          </a:p>
        </p:txBody>
      </p:sp>
      <p:sp>
        <p:nvSpPr>
          <p:cNvPr id="3" name="p10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判 BST · 代码</a:t>
            </a:r>
            <a:endParaRPr lang="en-US" sz="1400" dirty="0"/>
          </a:p>
        </p:txBody>
      </p:sp>
      <p:sp>
        <p:nvSpPr>
          <p:cNvPr id="4" name="p10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判断二叉搜索树</a:t>
            </a: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：中序递增；用标记避免初值边界漏洞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1375" y="2395855"/>
            <a:ext cx="6272530" cy="2703195"/>
          </a:xfrm>
          <a:prstGeom prst="roundRect">
            <a:avLst>
              <a:gd name="adj" fmla="val 2283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05710"/>
            <a:ext cx="5943600" cy="2423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bool checkBST(BiTNode *p, int &amp;prev, bool &amp;hasPrev){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if(p == NULL) return true;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if(!checkBST(p-&gt;lchild, prev, hasPrev)) return false;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if(hasPrev &amp;&amp; p-&gt;data &lt;= prev) return false;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prev=p-&gt;data;</a:t>
            </a:r>
            <a:endParaRPr lang="en-US" sz="1100" dirty="0">
              <a:solidFill>
                <a:srgbClr val="1F2329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hasPrev=true;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checkBST(p-&gt;rchild, prev, hasPrev);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bool JudgeBST(BiTree T){</a:t>
            </a:r>
            <a:endParaRPr lang="en-US" sz="1100" dirty="0">
              <a:solidFill>
                <a:srgbClr val="1F2329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int prev; bool hasPrev=false;</a:t>
            </a:r>
            <a:endParaRPr lang="en-US" sz="1100" dirty="0">
              <a:solidFill>
                <a:srgbClr val="1F2329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checkBST(T,prev,hasPrev);</a:t>
            </a:r>
            <a:endParaRPr lang="en-US" sz="1100" dirty="0">
              <a:solidFill>
                <a:srgbClr val="1F2329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61504" y="2395728"/>
            <a:ext cx="3888943" cy="2834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200" dirty="0">
                <a:solidFill>
                  <a:srgbClr val="000000"/>
                </a:solidFill>
              </a:rPr>
              <a:t>先定义 checkBST，再由 JudgeBST 调用。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61504" y="2752344"/>
            <a:ext cx="3888943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200" dirty="0">
                <a:solidFill>
                  <a:srgbClr val="000000"/>
                </a:solidFill>
              </a:rPr>
              <a:t>hasPrev=false 表示还没有前驱；首次访问只记录值，不与固定哨兵比较。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61504" y="3337560"/>
            <a:ext cx="3888943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200" dirty="0">
                <a:solidFill>
                  <a:srgbClr val="000000"/>
                </a:solidFill>
              </a:rPr>
              <a:t>后续结点必须大于 prev，重复值也判非 BST；完整覆盖 int 范围，包括 INT_MIN。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6" grpId="1"/>
      <p:bldP spid="7" grpId="1"/>
      <p:bldP spid="8" grpId="1"/>
      <p:bldP spid="9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1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 / 17</a:t>
            </a:r>
            <a:endParaRPr lang="en-US" sz="1000" dirty="0"/>
          </a:p>
        </p:txBody>
      </p:sp>
      <p:sp>
        <p:nvSpPr>
          <p:cNvPr id="3" name="p11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递归建树 · 模板12</a:t>
            </a:r>
            <a:endParaRPr lang="en-US" sz="1400" dirty="0"/>
          </a:p>
        </p:txBody>
      </p:sp>
      <p:sp>
        <p:nvSpPr>
          <p:cNvPr id="4" name="p11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由先序与中序建树：只给骨架与边界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1248" y="2395728"/>
            <a:ext cx="7278624" cy="2633472"/>
          </a:xfrm>
          <a:prstGeom prst="roundRect">
            <a:avLst>
              <a:gd name="adj" fmla="val 1736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05456"/>
            <a:ext cx="6949440" cy="24140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BiTree Build(BiTree &amp;T, int A[], int B[], int preL, int preR, int inL, int inR){
    if(preL &gt; preR) return NULL;
    T = (BiTNode*)malloc(sizeof(BiTNode));
    T-&gt;data = A[preL];                     // 先序第一个元素是根
    int k = inL;
    while(B[k] != A[preL]) k++;            // 在中序中定位根
    int leftLen = k - inL;                 // 左子树结点个数
    Build(T-&gt;lchild, A, B, preL+1, preL+leftLen, inL, k-1);
    Build(T-&gt;rchild, A, B, preL+leftLen+1, preR, k+1, inR);
    return T;
}
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67344" y="2395728"/>
            <a:ext cx="2883103" cy="7978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根的位置由先序首元素确定；在中序中找到根后，左子树长度决定两段区间。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67344" y="3266694"/>
            <a:ext cx="2883103" cy="7978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复习四个边界：先序左右子树起点、中序左右子树终点；完整递归已在 C2-A 第7节讲过。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6" grpId="1"/>
      <p:bldP spid="7" grpId="1"/>
      <p:bldP spid="8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2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 / 17</a:t>
            </a:r>
            <a:endParaRPr lang="en-US" sz="1000" dirty="0"/>
          </a:p>
        </p:txBody>
      </p:sp>
      <p:sp>
        <p:nvSpPr>
          <p:cNvPr id="3" name="p12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哈夫曼构造</a:t>
            </a:r>
            <a:endParaRPr lang="en-US" sz="1400" dirty="0"/>
          </a:p>
        </p:txBody>
      </p:sp>
      <p:sp>
        <p:nvSpPr>
          <p:cNvPr id="4" name="p12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Huffman 树：反复合并当前权值最小的两棵树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1375" y="2395855"/>
            <a:ext cx="7278370" cy="3244850"/>
          </a:xfrm>
          <a:prstGeom prst="roundRect">
            <a:avLst>
              <a:gd name="adj" fmla="val 1736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05710"/>
            <a:ext cx="6949440" cy="30422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typedef struct{
    int weight;
    int parent, lchild, rchild;          // 存下标，0 表示没有
}HTNode;                                 // 数组共 2n-1 个结点
for(int i = n+1; i &lt;= 2*n-1; i++){       // 合并 n-1 次
    SelectTwoMin(HT, i-1, s1, s2);       // 在 parent==0 中选两个最小
    HT[s1].parent = HT[s2].parent = i;
    HT[i].lchild = s1; </a:t>
            </a:r>
            <a:endParaRPr lang="en-US" sz="1100" dirty="0">
              <a:solidFill>
                <a:srgbClr val="1F2329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HT[i].rchild = s2;
    HT[i].weight = HT[s1].weight + HT[s2].weight;
}
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67344" y="2395728"/>
            <a:ext cx="2883103" cy="7978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思想：森林里每次取两棵权值最小的树合并，新树权值是两棵之和，重复 n 减 1 次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67344" y="3266694"/>
            <a:ext cx="2883103" cy="7978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为什么共 2n-1 个结点：n 个叶子，每次合并少一棵树，合并 n-1 次多出 n-1 个内部结点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67344" y="4137660"/>
            <a:ext cx="2883103" cy="7978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parent 等于 0 表示还没被合并；每轮扫一遍选两个最小，构造是 O(n²)，优先队列可降到 O(n log n)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67344" y="5008626"/>
            <a:ext cx="2883103" cy="7978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802 以手算为主：考的是手算构造与编码，左右分支标 0 和 1；代码不要求写，这里只记思想与存储结构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8" grpId="0"/>
      <p:bldP spid="7" grpId="0"/>
      <p:bldP spid="9" grpId="0"/>
      <p:bldP spid="10" grpId="0"/>
      <p:bldP spid="8" grpId="1"/>
      <p:bldP spid="7" grpId="1"/>
      <p:bldP spid="9" grpId="1"/>
      <p:bldP spid="10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3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 / 17</a:t>
            </a:r>
            <a:endParaRPr lang="en-US" sz="1000" dirty="0"/>
          </a:p>
        </p:txBody>
      </p:sp>
      <p:sp>
        <p:nvSpPr>
          <p:cNvPr id="3" name="p13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模板卡</a:t>
            </a:r>
            <a:endParaRPr lang="en-US" sz="1400" dirty="0"/>
          </a:p>
        </p:txBody>
      </p:sp>
      <p:sp>
        <p:nvSpPr>
          <p:cNvPr id="4" name="p13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本节四</a:t>
            </a:r>
            <a:r>
              <a:rPr lang="zh-CN" alt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套</a:t>
            </a: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模板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822960" y="2395728"/>
          <a:ext cx="10545776" cy="2103120"/>
        </p:xfrm>
        <a:graphic>
          <a:graphicData uri="http://schemas.openxmlformats.org/drawingml/2006/table">
            <a:tbl>
              <a:tblPr/>
              <a:tblGrid>
                <a:gridCol w="2636444"/>
                <a:gridCol w="2636444"/>
                <a:gridCol w="2636444"/>
                <a:gridCol w="2636444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模板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适用场景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骨架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复杂度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模板6 层序加 last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求宽度、繁荣度等一切按层统计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数组加 front、rear、last；front 越过 last 时换层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O(n)，队列 O(n)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模板15 中序加 prev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判 BST、查中序是否有序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中序递归，prev 引用共享；当前值不大于 prev 返回 0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O(n)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模板12 递归建树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由遍历序列重建二叉树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定根、中序找 k、按 leftLen 划两段递归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O(n²)，找根扫中序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模板5 递归统计框架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树的高度、结点数、叶子数等统计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终止基准值、递归左右、合并返回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O(n)，栈 O(h)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4300" y="5207635"/>
            <a:ext cx="12077065" cy="6445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考过哪里：</a:t>
            </a:r>
            <a:endParaRPr lang="en-US" sz="1500" dirty="0">
              <a:solidFill>
                <a:srgbClr val="8A90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ctr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模板6</a:t>
            </a:r>
            <a:r>
              <a:rPr lang="zh-CN" alt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对应</a:t>
            </a: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2024年繁荣度；模板15</a:t>
            </a:r>
            <a:r>
              <a:rPr lang="zh-CN" alt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对应</a:t>
            </a:r>
            <a:r>
              <a:rPr lang="en-US" altLang="zh-CN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024 年判 BST；模板12</a:t>
            </a:r>
            <a:r>
              <a:rPr lang="zh-CN" alt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对应</a:t>
            </a: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 年第 2 题；模板5</a:t>
            </a:r>
            <a:r>
              <a:rPr lang="zh-CN" alt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对应</a:t>
            </a: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2025 年最长路径复用其递归骨架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4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 / 17</a:t>
            </a:r>
            <a:endParaRPr lang="en-US" sz="1000" dirty="0"/>
          </a:p>
        </p:txBody>
      </p:sp>
      <p:sp>
        <p:nvSpPr>
          <p:cNvPr id="3" name="p14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小结</a:t>
            </a:r>
            <a:endParaRPr lang="en-US" sz="1400" dirty="0"/>
          </a:p>
        </p:txBody>
      </p:sp>
      <p:sp>
        <p:nvSpPr>
          <p:cNvPr id="4" name="p14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五个算法一张表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822960" y="2395728"/>
          <a:ext cx="10545775" cy="2944368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算法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关键技巧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最容易错的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求宽度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层序加 last，front 越过 last 换层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在入队时更新 last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繁荣度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宽度骨架改三处，累加 层号乘宽度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height 从 0 起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最长路径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path 与 maxPath 双数组，pathLen 值传递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在内部结点就比较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判 BST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中序加 prev，prev 引用共享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prev 初值写 -1、声明放调用后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建树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先序首元素定根，leftLen 划区间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preL 加 leftLen 加 1 算错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哈夫曼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每次取两个最小权合并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把编码题当代码题背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5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 / 17</a:t>
            </a:r>
            <a:endParaRPr lang="en-US" sz="1000" dirty="0"/>
          </a:p>
        </p:txBody>
      </p:sp>
      <p:sp>
        <p:nvSpPr>
          <p:cNvPr id="3" name="p15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课后任务</a:t>
            </a:r>
            <a:endParaRPr lang="en-US" sz="1400" dirty="0"/>
          </a:p>
        </p:txBody>
      </p:sp>
      <p:sp>
        <p:nvSpPr>
          <p:cNvPr id="4" name="p15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两道题集练习与考点回顾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b="1" dirty="0">
                <a:solidFill>
                  <a:srgbClr val="000000"/>
                </a:solidFill>
              </a:rPr>
              <a:t>跟练题</a:t>
            </a:r>
            <a:r>
              <a:rPr lang="en-US" sz="1800" dirty="0">
                <a:solidFill>
                  <a:srgbClr val="000000"/>
                </a:solidFill>
              </a:rPr>
              <a:t>：默写求宽度与判 BST；给一棵树手算繁荣度，层号从 1 起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b="1" dirty="0">
                <a:solidFill>
                  <a:srgbClr val="000000"/>
                </a:solidFill>
              </a:rPr>
              <a:t>题集练习</a:t>
            </a:r>
            <a:r>
              <a:rPr lang="en-US" sz="1800" dirty="0">
                <a:solidFill>
                  <a:srgbClr val="000000"/>
                </a:solidFill>
              </a:rPr>
              <a:t>：6算20（繁茂度，按题目定义计算）、6答28（中序加后序建树）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哈夫曼只练手算题：题集 6选33、6选40、6答26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899916"/>
            <a:ext cx="10545775" cy="3589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参考答案在最后两页，课后自行对照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6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16 / 17</a:t>
            </a:r>
            <a:endParaRPr lang="en-US" sz="1000" dirty="0"/>
          </a:p>
        </p:txBody>
      </p:sp>
      <p:sp>
        <p:nvSpPr>
          <p:cNvPr id="3" name="p16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参考答案 · 跟练题</a:t>
            </a:r>
            <a:endParaRPr lang="en-US" sz="1400" dirty="0"/>
          </a:p>
        </p:txBody>
      </p:sp>
      <p:sp>
        <p:nvSpPr>
          <p:cNvPr id="4" name="p16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跟练题参考答案：求宽度与判 BST（自行对照）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1248" y="2395728"/>
            <a:ext cx="5221224" cy="3054096"/>
          </a:xfrm>
          <a:prstGeom prst="roundRect">
            <a:avLst>
              <a:gd name="adj" fmla="val 1497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05456"/>
            <a:ext cx="4892040" cy="2834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求树宽度：层序用 last 结算每一层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Width(BiTree T){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if(!T) return 0;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BiTree Q[N]; int f=0,r=0,last=0,c=0,best=0;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Q[r++]=T;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while(f&lt;r){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BiTree p=Q[f++]; ++c;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if(p-&gt;lchild) Q[r++]=p-&gt;lchild;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if(p-&gt;rchild) Q[r++]=p-&gt;rchild;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if(f&gt;last){ best=max(best,c); c=0; last=r-1; }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}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return best;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55080" y="2395728"/>
            <a:ext cx="4995367" cy="2212848"/>
          </a:xfrm>
          <a:prstGeom prst="roundRect">
            <a:avLst>
              <a:gd name="adj" fmla="val 2066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19672" y="2505456"/>
            <a:ext cx="4666183" cy="19933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判 BST：中序必须严格递增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bool checkBST(BiTNode *p, int &amp;prev, bool &amp;hasPrev){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if(!p) return true;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if(!checkBST(p-&gt;lchild,prev,hasPrev)) return false;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if(hasPrev &amp;&amp; p-&gt;data&lt;=prev) return false;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prev=p-&gt;data; hasPrev=true;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return checkBST(p-&gt;rchild,prev,hasPrev);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bool JudgeBST(BiTree T){ int prev; bool seen=false; return checkBST(T,prev,seen); }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7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17 / 17</a:t>
            </a:r>
            <a:endParaRPr lang="en-US" sz="1000" dirty="0"/>
          </a:p>
        </p:txBody>
      </p:sp>
      <p:sp>
        <p:nvSpPr>
          <p:cNvPr id="3" name="p17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参考答案 · 题集练习</a:t>
            </a:r>
            <a:endParaRPr lang="en-US" sz="1400" dirty="0"/>
          </a:p>
        </p:txBody>
      </p:sp>
      <p:sp>
        <p:nvSpPr>
          <p:cNvPr id="4" name="p17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题集练习参考要点（自行对照）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6算20 繁茂度：题目定义为各层结点数的最大值乘树高；层序统计每层宽度，维护 maxWidth，最后返回 maxWidth * height。它与课堂的繁荣度累加式不同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6答28 中序加后序建树：根是后序尾元素；在中序中定位根并按左子树长度划分区间，递归左右子树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6222</Words>
  <Application>WPS 演示</Application>
  <PresentationFormat>On-screen Show (16:9)</PresentationFormat>
  <Paragraphs>330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微软雅黑</vt:lpstr>
      <vt:lpstr>Consolas</vt:lpstr>
      <vt:lpstr>Consolas</vt:lpstr>
      <vt:lpstr>Consolas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树算法二：层序与路径</dc:title>
  <dc:creator>牙膏学长</dc:creator>
  <dc:subject>PptxGenJS Presentation</dc:subject>
  <cp:lastModifiedBy>倾殇醉</cp:lastModifiedBy>
  <cp:revision>25</cp:revision>
  <dcterms:created xsi:type="dcterms:W3CDTF">2026-10-04T13:27:00Z</dcterms:created>
  <dcterms:modified xsi:type="dcterms:W3CDTF">2026-10-06T13:52:10Z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67B6D891069F4C2A950158D0D554A496_12</vt:lpwstr>
  </property>
  <property fmtid="{D5CDD505-2E9C-101B-9397-08002B2CF9AE}" pid="3" name="KSOProductBuildVer">
    <vt:lpwstr>2052-12.1.0.28505</vt:lpwstr>
  </property>
</Properties>
</file>