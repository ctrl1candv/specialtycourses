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第2节 线性表算法二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本节主要练习链表结点的重新连接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上一节练了链表指针的基本操作；本节把这些操作放进完整题目中，练习归并、重排和环中删除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归并：把两条递增链表合并为一条递减链表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重排：找中点、逆置后半段，再交替连接前后两段</a:t>
            </a:r>
            <a:r>
              <a:rPr lang="zh-CN" altLang="en-US" sz="1800" dirty="0">
                <a:solidFill>
                  <a:srgbClr val="000000"/>
                </a:solidFill>
              </a:rPr>
              <a:t>，从</a:t>
            </a:r>
            <a:r>
              <a:rPr lang="en-US" altLang="zh-CN" sz="1800" dirty="0">
                <a:solidFill>
                  <a:srgbClr val="000000"/>
                </a:solidFill>
              </a:rPr>
              <a:t>(a1,a2...an)</a:t>
            </a:r>
            <a:r>
              <a:rPr lang="zh-CN" altLang="en-US" sz="1800" dirty="0">
                <a:solidFill>
                  <a:srgbClr val="000000"/>
                </a:solidFill>
              </a:rPr>
              <a:t>变为</a:t>
            </a:r>
            <a:r>
              <a:rPr lang="en-US" altLang="zh-CN" sz="1800" dirty="0">
                <a:solidFill>
                  <a:srgbClr val="000000"/>
                </a:solidFill>
              </a:rPr>
              <a:t>(a1,an,a2,an-1...)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约瑟夫环：把链表首尾相接，按报数顺序删除结点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多项式奇偶分解：按指数奇偶拆分结点，不新建数据结点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75030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推演时可以在纸上标记结点和 next 指向，检查是否断链或漏结点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归并 · 模板1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归并两个递增表为递减表：双指针比较，摘小者头插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833" y="2395728"/>
            <a:ext cx="72786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mergeDesc(LinkList &amp;A, LinkList &amp;B){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*pa=A-&gt;next, *pb=B-&gt;next, *t;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A-&gt;next=NULL;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while(pa &amp;&amp; pb){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if(pa-&gt;data &lt; pb-&gt;data){ t=pa; pa=pa-&gt;next;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else { t=pb; pb=pb-&gt;next;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t-&gt;next=A-&gt;next; A-&gt;next=t;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while(pa){ t=pa; pa=pa-&gt;next; t-&gt;next=A-&gt;next; A-&gt;next=t;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while(pb){ t=pb; pb=pb-&gt;next; t-&gt;next=A-&gt;next; A-&gt;next=t;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free(B);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每轮摘下较小结点并头插；头插本身就会形成递减表。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两表任一为空就停止比较，剩余结点继续头插；时间 O(n)，额外空间 O(1)。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6" grpId="1"/>
      <p:bldP spid="7" grpId="1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归并对比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递增版与递减版只差一处：尾插换成头插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6" cy="109728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版本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插入方式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要不要rear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归并结果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递增版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尾插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要维护 rear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从小到大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递减版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 rear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从大到小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72160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两版都按双指针比较并处理剩余结点；递增用尾插，递减用头插。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19252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先归并再整体逆置也正确，但多走一趟；直接头插少一次遍历。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归并推演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1、3、5 与 2、4、6 归并成 6、5、4、3、2、1（逐步演示）</a:t>
            </a:r>
            <a:endParaRPr lang="en-US" sz="2800" dirty="0"/>
          </a:p>
        </p:txBody>
      </p:sp>
      <p:pic>
        <p:nvPicPr>
          <p:cNvPr id="5" name="p05:initial" descr="D:\Program Project\SpecialtyCourses\课件\C2\C2-B-pro\C2-B-02\assets\C2-B-02-p05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5:s1" descr="D:\Program Project\SpecialtyCourses\课件\C2\C2-B-pro\C2-B-02\assets\C2-B-02-p05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5:s2" descr="D:\Program Project\SpecialtyCourses\课件\C2\C2-B-pro\C2-B-02\assets\C2-B-02-p05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5:s3" descr="D:\Program Project\SpecialtyCourses\课件\C2\C2-B-pro\C2-B-02\assets\C2-B-02-p05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5:s4" descr="D:\Program Project\SpecialtyCourses\课件\C2\C2-B-pro\C2-B-02\assets\C2-B-02-p05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10" name="p05:s5" descr="D:\Program Project\SpecialtyCourses\课件\C2\C2-B-pro\C2-B-02\assets\C2-B-02-p05-s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11" name="p05:s6" descr="D:\Program Project\SpecialtyCourses\课件\C2\C2-B-pro\C2-B-02\assets\C2-B-02-p05-s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真题·408</a:t>
            </a:r>
            <a:endParaRPr lang="en-US" sz="1300" dirty="0"/>
          </a:p>
        </p:txBody>
      </p:sp>
      <p:sp>
        <p:nvSpPr>
          <p:cNvPr id="5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重排 · 第一步</a:t>
            </a:r>
            <a:endParaRPr lang="en-US" sz="1400" dirty="0"/>
          </a:p>
        </p:txBody>
      </p:sp>
      <p:sp>
        <p:nvSpPr>
          <p:cNvPr id="6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快慢指针找中点：slow 停在前半段末尾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6455664" cy="2212848"/>
          </a:xfrm>
          <a:prstGeom prst="roundRect">
            <a:avLst>
              <a:gd name="adj" fmla="val 206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456"/>
            <a:ext cx="6126480" cy="1993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LNode *findMiddle(LNode *head){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if(head == NULL || head-&gt;next == NULL) return NULL;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*slow = head-&gt;next, *fast = head-&gt;next;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while(fast-&gt;next != NULL &amp;&amp; fast-&gt;next-&gt;next != NULL){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slow = slow-&gt;next;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fast = fast-&gt;next-&gt;next;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slow;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44384" y="2395728"/>
            <a:ext cx="370606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fast 每次走两步，slow 每次走一步；循环条件保证 fast 的两步都在表内。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44384" y="3057144"/>
            <a:ext cx="370606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偶数结点时 slow 停在前半段末尾；奇数结点时停在中点。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44384" y="3718560"/>
            <a:ext cx="370606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slow-&gt;next 是后半段起点，后续在这里断开、逆置，再与前半段交替连接。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8" grpId="1"/>
      <p:bldP spid="9" grpId="1"/>
      <p:bldP spid="10" grpId="1"/>
      <p:bldP spid="1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408真题</a:t>
            </a:r>
            <a:endParaRPr lang="en-US" sz="1300" dirty="0"/>
          </a:p>
        </p:txBody>
      </p:sp>
      <p:sp>
        <p:nvSpPr>
          <p:cNvPr id="5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重排 · 第二三步</a:t>
            </a:r>
            <a:endParaRPr lang="en-US" sz="1400" dirty="0"/>
          </a:p>
        </p:txBody>
      </p:sp>
      <p:sp>
        <p:nvSpPr>
          <p:cNvPr id="6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头插逆置后半段，再交替插入：an 排到 a2 前面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72786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456"/>
            <a:ext cx="69494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reorder(LinkList L){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*slow=L-&gt;next, *fast=slow-&gt;next;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while(fast &amp;&amp; fast-&gt;next){ slow=slow-&gt;next; fast=fast-&gt;next-&gt;next;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*first=L-&gt;next, *second=slow-&gt;next; slow-&gt;next=NULL;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*rev=NULL, *t;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while(second){ t=second-&gt;next; second-&gt;next=rev; rev=second; second=t;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*p=first, *q=rev;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while(q){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t=q-&gt;next; q-&gt;next=p-&gt;next; p-&gt;next=q;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p=q-&gt;next; q=t;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这是 408 统考 2019 的重排真题；课上拆解找中点、逆置后半段和交替插入三步。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26669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改链时先保存两侧后继，再插入；时间 O(n)，额外空间 O(1)。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2" grpId="1"/>
      <p:bldP spid="8" grpId="1"/>
      <p:bldP spid="9" grpId="1"/>
      <p:bldP spid="1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重排推演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六个结点 a1 到 a6 的三步重排（逐步演示）</a:t>
            </a:r>
            <a:endParaRPr lang="en-US" sz="2800" dirty="0"/>
          </a:p>
        </p:txBody>
      </p:sp>
      <p:pic>
        <p:nvPicPr>
          <p:cNvPr id="5" name="p08:initial" descr="D:\Program Project\SpecialtyCourses\课件\C2\C2-B-pro\C2-B-02\assets\C2-B-02-p08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8:s1" descr="D:\Program Project\SpecialtyCourses\课件\C2\C2-B-pro\C2-B-02\assets\C2-B-02-p08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8:s2" descr="D:\Program Project\SpecialtyCourses\课件\C2\C2-B-pro\C2-B-02\assets\C2-B-02-p08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8:s3" descr="D:\Program Project\SpecialtyCourses\课件\C2\C2-B-pro\C2-B-02\assets\C2-B-02-p08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8:s4" descr="D:\Program Project\SpecialtyCourses\课件\C2\C2-B-pro\C2-B-02\assets\C2-B-02-p08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真题·2026</a:t>
            </a:r>
            <a:endParaRPr lang="en-US" sz="1300" dirty="0"/>
          </a:p>
        </p:txBody>
      </p:sp>
      <p:sp>
        <p:nvSpPr>
          <p:cNvPr id="5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约瑟夫环 · 模板11</a:t>
            </a:r>
            <a:endParaRPr lang="en-US" sz="1400" dirty="0"/>
          </a:p>
        </p:txBody>
      </p:sp>
      <p:sp>
        <p:nvSpPr>
          <p:cNvPr id="6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循环单链表模拟报数：不带头结点，直接拿 1 号当起点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72786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456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Josephus(int n, int s, int m){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if(n&lt;=0 || m&lt;=0 || s&lt;1 || s&gt;n) return -1;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*head=(LNode*)malloc(sizeof(LNode)), *r=head; head-&gt;data=1;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i=2;i&lt;=n;i++){ LNode *t=(LNode*)malloc(sizeof(LNode)); t-&gt;data=i; r-&gt;next=t; r=t;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r-&gt;next=head;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*p=head, *pre=r;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while(p-&gt;data!=s){ pre=p; p=p-&gt;next;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while(p-&gt;next!=p){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for(int i=1;i&lt;m;i++){ pre=p; p=p-&gt;next;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pre-&gt;next=p-&gt;next; free(p); p=pre-&gt;next;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survivor=p-&gt;data; free(p); return survivor;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不带头结点，p 指当前报数者，pre 指它的前驱；第 s 人定位后，每轮前进 m-1 次。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摘除后从 pre-&gt;next 继续；p-&gt;next==p 表示只剩一人。时间 O(nm)，空间 O(n)。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8" grpId="1"/>
      <p:bldP spid="9" grpId="1"/>
      <p:bldP spid="1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约瑟夫环推演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等于 5、s 等于 1、m 等于 3 的报数过程（逐步演示）</a:t>
            </a:r>
            <a:endParaRPr lang="en-US" sz="2800" dirty="0"/>
          </a:p>
        </p:txBody>
      </p:sp>
      <p:pic>
        <p:nvPicPr>
          <p:cNvPr id="5" name="p10:initial" descr="D:\Program Project\SpecialtyCourses\课件\C2\C2-B-pro\C2-B-02\assets\C2-B-02-p10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10:s1" descr="D:\Program Project\SpecialtyCourses\课件\C2\C2-B-pro\C2-B-02\assets\C2-B-02-p10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10:s2" descr="D:\Program Project\SpecialtyCourses\课件\C2\C2-B-pro\C2-B-02\assets\C2-B-02-p10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10:s3" descr="D:\Program Project\SpecialtyCourses\课件\C2\C2-B-pro\C2-B-02\assets\C2-B-02-p10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10:s4" descr="D:\Program Project\SpecialtyCourses\课件\C2\C2-B-pro\C2-B-02\assets\C2-B-02-p10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真题·2022</a:t>
            </a:r>
            <a:endParaRPr lang="en-US" sz="1300" dirty="0"/>
          </a:p>
        </p:txBody>
      </p:sp>
      <p:sp>
        <p:nvSpPr>
          <p:cNvPr id="5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多项式分解 · 模板1</a:t>
            </a:r>
            <a:endParaRPr lang="en-US" sz="1400" dirty="0"/>
          </a:p>
        </p:txBody>
      </p:sp>
      <p:sp>
        <p:nvSpPr>
          <p:cNvPr id="6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稀疏多项式按奇偶次项分解：只新建两个头结点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72786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456"/>
            <a:ext cx="69494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SplitPoly(PolyNode *L, PolyNode *&amp;odd, PolyNode *&amp;even){
    odd  = (PolyNode*)malloc(sizeof(PolyNode));  odd-&gt;next  = odd;   // 新头结点，自成环
    even = (PolyNode*)malloc(sizeof(PolyNode));  even-&gt;next = even;
    PolyNode *p = L-&gt;next, *temp;
    while(p != L){                               // 循环链表终止：回到 L
        temp = p-&gt;next;                          // 先存后继，改指针后还能找下一个
        if(p-&gt;exp % 2 == 0){ p-&gt;next = even-&gt;next; even-&gt;next = p; }  // 偶次项
        else{ p-&gt;next = odd-&gt;next; odd-&gt;next = p; }                     // 奇次项
        p = temp;
    }
    free(L);                                     // 原头结点已无用
}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两条链分别保留偶次项和奇次项；每个结点按指数奇偶头插到对应链表。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复用原数据结点，只新建两个头结点；若题目要求保持原序，应改用尾插。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指针次序专题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双链表插删与交换相邻：先接外部，再改自身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5" cy="131673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赋值条数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次序要点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双链表插入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先设置新结点的 prior 和 next，再更新前后结点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双链表删除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先连接前驱和后继，再释放被删结点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交换相邻两结点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先保存两侧邻接结点，最后更新两结点之间的指针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807" y="441223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覆盖 next 或 prior 前，先确认后续语句还可以访问需要连接的结点。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807" y="488315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插删的基础写法见 C2-A；本节只复习交换时旧指针的使用次序。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本节四张模板卡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2395728"/>
          <a:ext cx="10545776" cy="210312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 头插法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逆置、建表、归并成递减、拆表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摘下、存后继、两句头插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模板2 快慢指针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倒数第k、找中点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快的走两步慢的走一步，快越界慢过半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模板3 断链拼接三步走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重排类多动作组合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找中点、逆置后半、交替插入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模板11 循环链表模拟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报数出列、轮转问题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建环、定位s维护pre、报数摘结点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O(nm) 与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294503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题源注记：本题取自 408 统考 2019，作为找中点、逆置后半段、交替插入的综合例题；不计入 802 真题覆盖。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四个算法一张表，两道题集练习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2395728"/>
          <a:ext cx="6583680" cy="15544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归并成递减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双指针比较、摘小者头插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用尾插做递减版；忘收尾循环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找中点、逆置后半、交替插入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交替时忘先存两个 next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约瑟夫环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建环、定位s、报数摘结点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定位时没维护 pre；判剩一个写错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多项式分解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摘结点按奇偶头插进两条新链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新malloc数据结点；忘先存后继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35824" y="2395728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b="1" dirty="0">
                <a:solidFill>
                  <a:srgbClr val="000000"/>
                </a:solidFill>
              </a:rPr>
              <a:t>跟练题</a:t>
            </a:r>
            <a:r>
              <a:rPr lang="en-US" sz="1300" dirty="0">
                <a:solidFill>
                  <a:srgbClr val="000000"/>
                </a:solidFill>
              </a:rPr>
              <a:t>：默写归并两个递增表为递减表、约瑟夫环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35824" y="3019044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b="1" dirty="0">
                <a:solidFill>
                  <a:srgbClr val="000000"/>
                </a:solidFill>
              </a:rPr>
              <a:t>题集练习</a:t>
            </a:r>
            <a:r>
              <a:rPr lang="en-US" sz="1300" dirty="0">
                <a:solidFill>
                  <a:srgbClr val="000000"/>
                </a:solidFill>
              </a:rPr>
              <a:t>：2算37（双向循环链表奇偶重排）、2算27（求交集并利用 A 的空间）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62672" y="3733800"/>
            <a:ext cx="3706063" cy="301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 PPT 最后三页，课后自行对照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跟练一参考答案：归并两个递增表为递减表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mergeDesc(LinkList &amp;A, LinkList &amp;B){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*pa=A-&gt;next, *pb=B-&gt;next, *t;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A-&gt;next=NULL;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while(pa &amp;&amp; pb){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if(pa-&gt;data &lt; pb-&gt;data){ t=pa; pa=pa-&gt;next;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else { t=pb; pb=pb-&gt;next;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t-&gt;next=A-&gt;next; A-&gt;next=t;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while(pa){ t=pa; pa=pa-&gt;next; t-&gt;next=A-&gt;next; A-&gt;next=t;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while(pb){ t=pb; pb=pb-&gt;next; t-&gt;next=A-&gt;next; A-&gt;next=t;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free(B);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关键：头插自然反序；判空用 ||；两个收尾循环；free(lb)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时间 O(n)，空间 O(1)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跟练二参考答案：约瑟夫环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Josephus(int n, int s, int m){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if(n&lt;=0 || m&lt;=0 || s&lt;1 || s&gt;n) return -1;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*head=(LNode*)malloc(sizeof(LNode)), *r=head; head-&gt;data=1;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i=2;i&lt;=n;i++){ LNode *t=(LNode*)malloc(sizeof(LNode)); t-&gt;data=i; r-&gt;next=t; r=t;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r-&gt;next=head;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LNode *p=head, *pre=r;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while(p-&gt;data!=s){ pre=p; p=p-&gt;next;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while(p-&gt;next!=p){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for(int i=1;i&lt;m;i++){ pre=p; p=p-&gt;next;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pre-&gt;next=p-&gt;next; free(p); p=pre-&gt;next;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survivor=p-&gt;data; free(p); return survivor;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关键：不带头结点；定位第 s 个时维护 pre；剩一个的判定是 p 的 next 等于 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时间 O(nm)，空间 O(n)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题集练习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题集练习参考答案（自行对照）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2算37（2020真题）：带头结点双向循环链表按奇偶位置拆成两条链，先存后继再改指针，次序见第12页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2算27：双指针比较求交集，相等的结点摘下，利用 A 的头结点和结点空间接成结果表，不新malloc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5372</Words>
  <Application>WPS 演示</Application>
  <PresentationFormat>On-screen Show (16:9)</PresentationFormat>
  <Paragraphs>373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线性表算法二</dc:title>
  <dc:creator>牙膏学长</dc:creator>
  <dc:subject>PptxGenJS Presentation</dc:subject>
  <cp:lastModifiedBy>倾殇醉</cp:lastModifiedBy>
  <cp:revision>8</cp:revision>
  <dcterms:created xsi:type="dcterms:W3CDTF">2026-10-04T13:27:00Z</dcterms:created>
  <dcterms:modified xsi:type="dcterms:W3CDTF">2026-10-04T13:52:10Z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D46096555FCB4543AD5115463BC11FB5_12</vt:lpwstr>
  </property>
  <property fmtid="{D5CDD505-2E9C-101B-9397-08002B2CF9AE}" pid="3" name="KSOProductBuildVer">
    <vt:lpwstr>2052-12.1.0.28505</vt:lpwstr>
  </property>
</Properties>
</file>