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第8节 查找算法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查找的代码题少，为什么还要讲代码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17 道算法大题中查找题较少（2021 双调序列）；综合应用题还会涉及折半判定树、BST、AVL 和散列 ASL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手算题要能还原代码过程：判定树展示每次折半比较，BST/AVL画出插入与调整后的树形；ASL 完整计算留给专业课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所以本节的定位：代码讲到能读懂能改写，手算只讲'它在代码里长什么样'，ASL 的完整计算训练留给专业课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这一节六个查找方法：顺序、折半、BST、AVL、散列、分块；前两个是线性表查找，后四个是树形与散列查找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顺序查找 · 哨兵法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哨兵法：把两个判断合并成一个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6272784" cy="1581912"/>
          </a:xfrm>
          <a:prstGeom prst="roundRect">
            <a:avLst>
              <a:gd name="adj" fmla="val 2890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5943600" cy="1362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SeqSearch(int A[], int n, int key){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A[0]=key;                     // A[0] 作哨兵，数据在 A[1..n]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i=n;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while(A[i]!=key) i--;         // 哨兵保证最终命中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i;                     // 0 表示未命中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61504" y="2395728"/>
            <a:ext cx="388894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A[0] 放 key，数据在 A[1..n]；哨兵让向前扫描一定停止。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61504" y="3019044"/>
            <a:ext cx="388894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循环只检查 A[i]!=key；返回0表示未命中，否则返回位置。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61504" y="3642360"/>
            <a:ext cx="388894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只省去边界判断，时间仍为 O(n)；顺序查找不要求数据有序。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9" grpId="0"/>
      <p:bldP spid="7" grpId="0"/>
      <p:bldP spid="8" grpId="1"/>
      <p:bldP spid="9" grpId="1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折半查找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折半查找：三个边界都要讲清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212848"/>
          </a:xfrm>
          <a:prstGeom prst="roundRect">
            <a:avLst>
              <a:gd name="adj" fmla="val 206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1993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BinSearch(int A[], int low, int high, int key){
    while(low &lt;= high){
        int mid = (low + high) / 2;
        if(key == A[mid]) return mid + 1;      // 返回位序
        else if(key &lt; A[mid]) high = mid - 1;
        else low = mid + 1;
    }
    return 0;                                  // 查找失败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67344" y="3189859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边界二：high=mid-1 与 low=mid+1 不能写成 mid，否则区间不缩小、死循环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40674" y="3897630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边界三：返回 mid+1 是位序，与基础阶段第2节 LocateElem 返回 i+1 是同一个约定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3965" y="5080000"/>
            <a:ext cx="6076950" cy="4375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 O(logn)；前提是线性表有序且顺序存储——链表不能折半，因为取中间元素要 O(n)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8467979" y="244017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边界一：low&lt;=high 带等号，因为 low==high 时区间里还剩一个元素要查</a:t>
            </a:r>
            <a:endParaRPr lang="en-US" sz="1300" dirty="0"/>
          </a:p>
        </p:txBody>
      </p:sp>
      <p:sp>
        <p:nvSpPr>
          <p:cNvPr id="15" name="Text 6"/>
          <p:cNvSpPr/>
          <p:nvPr/>
        </p:nvSpPr>
        <p:spPr>
          <a:xfrm>
            <a:off x="8468614" y="3154299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边界二：high=mid-1 与 low=mid+1 不能写成 mid，否则区间不缩小、死循环</a:t>
            </a:r>
            <a:endParaRPr lang="en-US" sz="1300" dirty="0"/>
          </a:p>
        </p:txBody>
      </p:sp>
      <p:sp>
        <p:nvSpPr>
          <p:cNvPr id="16" name="Text 7"/>
          <p:cNvSpPr/>
          <p:nvPr/>
        </p:nvSpPr>
        <p:spPr>
          <a:xfrm>
            <a:off x="8441944" y="3862070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边界三：返回 mid+1 是位序，与基础阶段第2节 LocateElem 返回 i+1 是同一个约定</a:t>
            </a:r>
            <a:endParaRPr lang="en-US" sz="1300" dirty="0"/>
          </a:p>
        </p:txBody>
      </p:sp>
      <p:sp>
        <p:nvSpPr>
          <p:cNvPr id="17" name="Text 5"/>
          <p:cNvSpPr/>
          <p:nvPr/>
        </p:nvSpPr>
        <p:spPr>
          <a:xfrm>
            <a:off x="8469249" y="240461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边界一：low&lt;=high 带等号，因为 low==high 时区间里还剩一个元素要查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2" grpId="1"/>
      <p:bldP spid="10" grpId="0"/>
      <p:bldP spid="10" grpId="1"/>
      <p:bldP spid="15" grpId="0"/>
      <p:bldP spid="16" grpId="0"/>
      <p:bldP spid="17" grpId="0"/>
      <p:bldP spid="15" grpId="1"/>
      <p:bldP spid="16" grpId="1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折半查找 · 判定树</a:t>
            </a:r>
            <a:endParaRPr lang="en-US" sz="1400" dirty="0"/>
          </a:p>
        </p:txBody>
      </p:sp>
      <p:sp>
        <p:nvSpPr>
          <p:cNvPr id="4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判定树：折半查找过程的图形化</a:t>
            </a:r>
            <a:endParaRPr lang="en-US" sz="2800" dirty="0"/>
          </a:p>
        </p:txBody>
      </p:sp>
      <p:pic>
        <p:nvPicPr>
          <p:cNvPr id="5" name="p05:decision-tree" descr="D:\Program Project\SpecialtyCourses\课件\C2\C2-B-pro\C2-B-08\assets\C2-B-08-p05-fixed-decision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BST · 查找与插入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二叉搜索树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的查找与插入：参数为什么是指针的引用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264408"/>
          </a:xfrm>
          <a:prstGeom prst="roundRect">
            <a:avLst>
              <a:gd name="adj" fmla="val 1401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3044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BSTNode *BSTSearch(BSTNode *T, int key){
    while(T != NULL &amp;&amp; key != T-&gt;key){
        if(key &lt; T-&gt;key) T = T-&gt;lchild; else T = T-&gt;rchild;
    }
    return T;                              // NULL 表示没找到
}
int BSTInsert(BSTNode *&amp;T, int key){
    if(T == NULL){                         // 找到空位，新建结点
        T = (BSTNode*)malloc(sizeof(BSTNode));
        T-&gt;key = key; T-&gt;lchild = T-&gt;rchild = NULL;  return 1;
    }
    if(key == T-&gt;key) return 0;            // 已存在，不插
    return key&lt;T-&gt;key ? BSTInsert(T-&gt;lchild,key) : BSTInsert(T-&gt;rchild,key);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BST 性质：左子树全部小于根、右子树全部大于根，中序遍历是有序序列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1293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插入参数是 BSTNode *&amp;T（指针的引用）：要改的是父结点的 lchild 或 rchild 字段，不是 T 自己的副本；不带 &amp; 新建的结点接不到树上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4192" y="4724400"/>
            <a:ext cx="2974543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查找时间 O(树高)，最坏 O(n)（单支树）；插入位置一定是叶子，找空位的过程就是查找过程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BST · 删除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二叉搜索树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的删除：三种情况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BSTDelete(BSTree &amp;T, int key){
    if(T==NULL) return 0;
    if(key&lt;T-&gt;key) return BSTDelete(T-&gt;lchild, key);
    if(key&gt;T-&gt;key) return BSTDelete(T-&gt;rchild, key);
    if(T-&gt;lchild==NULL){ BSTNode *s=T; T=T-&gt;rchild; free(s); return 1; }
    if(T-&gt;rchild==NULL){ BSTNode *s=T; T=T-&gt;lchild; free(s); return 1; }
    BSTNode *pre=T-&gt;lchild;                    // 双孩子：找中序前驱
    while(pre-&gt;rchild) pre=pre-&gt;rchild;
    T-&gt;key=pre-&gt;key;  return BSTDelete(T-&gt;lchild, pre-&gt;key);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725" y="2211705"/>
            <a:ext cx="2882900" cy="320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① 叶子：直接删，不影响其他结点；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514344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③ 双孩子：不能直接删（两棵子树会断），用中序前驱（左子树最大值）替换值，再递归删那个前驱——前驱一定没有右孩子，回到情况①或②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52625" y="5139055"/>
            <a:ext cx="8984615" cy="3371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为什么用中序前驱能保持 BST 性质：前驱是中序序列里刚好小于它的值，替换后左子树全部小于它、右子树全部大于它</a:t>
            </a:r>
            <a:endParaRPr lang="en-US" sz="1200" dirty="0"/>
          </a:p>
        </p:txBody>
      </p:sp>
      <p:sp>
        <p:nvSpPr>
          <p:cNvPr id="13" name="Text 5"/>
          <p:cNvSpPr/>
          <p:nvPr/>
        </p:nvSpPr>
        <p:spPr>
          <a:xfrm>
            <a:off x="8505825" y="2755265"/>
            <a:ext cx="2882900" cy="679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 </a:t>
            </a:r>
            <a:r>
              <a:rPr lang="zh-CN" altLang="en-US" sz="1300" dirty="0"/>
              <a:t>② 单孩子：把孩子接到父结点上（参数是引用，</a:t>
            </a:r>
            <a:r>
              <a:rPr lang="en-US" altLang="zh-CN" sz="1300" dirty="0"/>
              <a:t>T=T-&gt;rchild </a:t>
            </a:r>
            <a:r>
              <a:rPr lang="zh-CN" altLang="en-US" sz="1300" dirty="0"/>
              <a:t>就直接改了父结点的字段）</a:t>
            </a:r>
            <a:endParaRPr lang="zh-CN" alt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zh-CN" alt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3" grpId="1"/>
      <p:bldP spid="9" grpId="0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BST 删除 · 过程页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删除双孩子结点：中序前驱替换四步（拿纸跟画）</a:t>
            </a:r>
            <a:endParaRPr lang="en-US" sz="2800" dirty="0"/>
          </a:p>
        </p:txBody>
      </p:sp>
      <p:pic>
        <p:nvPicPr>
          <p:cNvPr id="5" name="p08:initial" descr="D:\Program Project\SpecialtyCourses\课件\C2\C2-B-pro\C2-B-08\assets\C2-B-08-p08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8:s1" descr="D:\Program Project\SpecialtyCourses\课件\C2\C2-B-pro\C2-B-08\assets\C2-B-08-p08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8:s2" descr="D:\Program Project\SpecialtyCourses\课件\C2\C2-B-pro\C2-B-08\assets\C2-B-08-p08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8:s3" descr="D:\Program Project\SpecialtyCourses\课件\C2\C2-B-pro\C2-B-08\assets\C2-B-08-p08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AVL · 四种旋转</a:t>
            </a:r>
            <a:endParaRPr lang="en-US" sz="1400" dirty="0"/>
          </a:p>
        </p:txBody>
      </p:sp>
      <p:sp>
        <p:nvSpPr>
          <p:cNvPr id="4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AVL 插入：找最小失衡子树，定旋转类型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5449824" cy="13716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5120640" cy="1152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RotateR(AVLTree &amp;T){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AVLTree B=T-&gt;lchild;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T-&gt;lchild=B-&gt;rchild;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B-&gt;rchild=T; T=B;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565392" y="2395728"/>
          <a:ext cx="4937760" cy="192024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164592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新结点位置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旋转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左孩子的左子树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右单旋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右孩子的右子树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RR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左单旋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左孩子的右子树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LR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先左后右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右孩子的左子树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先右后左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65392" y="4544568"/>
            <a:ext cx="4803343" cy="282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先找离新结点最近的失衡祖先。802重点是画出插入后的树并判旋转类型。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散列表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1565275" y="777240"/>
            <a:ext cx="273431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散列冲突</a:t>
            </a:r>
            <a:endParaRPr lang="en-US" sz="28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095" y="1175385"/>
            <a:ext cx="5365115" cy="43541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r="877" b="57201"/>
          <a:stretch>
            <a:fillRect/>
          </a:stretch>
        </p:blipFill>
        <p:spPr>
          <a:xfrm>
            <a:off x="133985" y="1710690"/>
            <a:ext cx="6718935" cy="20586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70495" r="2227"/>
          <a:stretch>
            <a:fillRect/>
          </a:stretch>
        </p:blipFill>
        <p:spPr>
          <a:xfrm>
            <a:off x="182880" y="3834130"/>
            <a:ext cx="6311265" cy="13506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分块查找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分块查找：索引表加块内顺序查找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索引表存每块的最大值与起始位置，先在索引表里找块（可以折半），再在块内顺序查找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块间有序、块内无序，是顺序查找与折半查找的折中：不要求整体有序，又比纯顺序快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ASL 是两次查找之和：索引表查找加块内查找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代码不写，只给思想；分块查找是填空题的考点（题集勾画 9答28 同类）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模板卡：模板9 二分框架改判定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657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模板9 二分框架改判定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有序或特殊序列的查找变式（2021 双调序列最大值）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low/high 夹逼，mid 处按题目条件决定往哪半走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O(logn)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46557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折半查找是标准形态；遇到有序数据上的新判定条件时，要根据题意调整比较和区间更新。C3 会用具体题目练习这类判断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本节小结与课后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六个查找方法：顺序（哨兵法省判断）、折半（三个边界、判定树读 ASL）、BST（查插删，删除分三种情况）、AVL（四种旋转保平衡）、散列（两种冲突处理）、分块（索引表加块内顺序）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</a:t>
            </a:r>
            <a:r>
              <a:rPr lang="en-US" sz="1800" dirty="0">
                <a:solidFill>
                  <a:srgbClr val="000000"/>
                </a:solidFill>
              </a:rPr>
              <a:t>：默写哨兵版顺序查找、折半查找、BST 的查找与插入；按序列 45、24、53、12、37、93 画出 BST，并标出查找各结点所需的比较次数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题集复习</a:t>
            </a:r>
            <a:r>
              <a:rPr lang="en-US" sz="1800" dirty="0">
                <a:solidFill>
                  <a:srgbClr val="000000"/>
                </a:solidFill>
              </a:rPr>
              <a:t>：9算1（哨兵顺序查找）、9答2（折半过程）、9选14 与 9选20（AVL 插入与旋转）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参考答案在本PPT最后三页，课后自行对照。下一节进入排序：插入与交换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跟练一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SeqSearch(int A[], int n, int key){
    A[0]=key;  int i=n;
    while(A[i]!=key) i--;  return i;
}
int BinSearch(int A[], int low, int high, int key){
    while(low&lt;=high){ int mid=(low+high)/2;
        if(key==A[mid]) return mid+1;
        else if(key&lt;A[mid]) high=mid-1;  else low=mid+1; }
    return 0;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94192" y="2395728"/>
            <a:ext cx="2974543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BST 的查找与插入见本节代码合集；哨兵版返回 0 表示失败，折半返回 mid+1 是位序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跟练二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序列 45、24、53、12、37、93 的 BST 形状</a:t>
            </a:r>
            <a:endParaRPr lang="en-US" sz="2800" dirty="0"/>
          </a:p>
        </p:txBody>
      </p:sp>
      <p:pic>
        <p:nvPicPr>
          <p:cNvPr id="5" name="Image 0" descr="D:\Program Project\SpecialtyCourses\assets\diagrams\b8-bst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2395728"/>
            <a:ext cx="489204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38544" y="2395728"/>
            <a:ext cx="4711903" cy="302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按 45、24、53、12、37、93 的顺序插入，得到左图。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38544" y="2771394"/>
            <a:ext cx="4711903" cy="302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查找比较次数等于从根到目标结点经过的结点数。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65392" y="3238500"/>
            <a:ext cx="4803343" cy="282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此页对照树形和单次查找路径，不计算平均查找长度。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题集复习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题集复习参考要点（自行对照）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9算1 哨兵顺序查找：把 key 放 A[0]，从后往前扫，返回 0 即失败；这是本节方法的复现练习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9答2 折半查找过程：每次取 mid=(low+high)/2 比较，画出 low、high、mid 的逐轮变化，比较次数就是判定树上的层数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9选14、9选20 AVL 插入与旋转：插入后从新结点往上找最小失衡子树，按新结点位置定 LL/RR/LR/RL，LL 右单旋、RR 左单旋、LR 先左后右、RL 先右后左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9答3（判定树加 ASL）选做；9答26、9答28（散列建表与冲突对比）的 ASL 计算在专业课练，本课只要求会写构造代码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4511</Words>
  <Application>WPS 演示</Application>
  <PresentationFormat>On-screen Show (16:9)</PresentationFormat>
  <Paragraphs>246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查找算法</dc:title>
  <dc:creator>牙膏学长</dc:creator>
  <dc:subject>PptxGenJS Presentation</dc:subject>
  <cp:lastModifiedBy>倾殇醉</cp:lastModifiedBy>
  <cp:revision>14</cp:revision>
  <dcterms:created xsi:type="dcterms:W3CDTF">2026-10-04T13:28:00Z</dcterms:created>
  <dcterms:modified xsi:type="dcterms:W3CDTF">2026-10-07T08:22:33Z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4CD338D33676456797A07EF486ED1DA5_12</vt:lpwstr>
  </property>
  <property fmtid="{D5CDD505-2E9C-101B-9397-08002B2CF9AE}" pid="3" name="KSOProductBuildVer">
    <vt:lpwstr>2052-12.1.0.28505</vt:lpwstr>
  </property>
</Properties>
</file>